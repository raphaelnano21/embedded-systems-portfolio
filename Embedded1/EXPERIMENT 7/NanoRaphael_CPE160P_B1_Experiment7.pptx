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26" r:id="rId4"/>
  </p:sldMasterIdLst>
  <p:notesMasterIdLst>
    <p:notesMasterId r:id="rId13"/>
  </p:notesMasterIdLst>
  <p:handoutMasterIdLst>
    <p:handoutMasterId r:id="rId14"/>
  </p:handoutMasterIdLst>
  <p:sldIdLst>
    <p:sldId id="881" r:id="rId5"/>
    <p:sldId id="943" r:id="rId6"/>
    <p:sldId id="944" r:id="rId7"/>
    <p:sldId id="945" r:id="rId8"/>
    <p:sldId id="954" r:id="rId9"/>
    <p:sldId id="946" r:id="rId10"/>
    <p:sldId id="955" r:id="rId11"/>
    <p:sldId id="949"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ionis A. Padilla" initials="DAP" lastIdx="1" clrIdx="0">
    <p:extLst>
      <p:ext uri="{19B8F6BF-5375-455C-9EA6-DF929625EA0E}">
        <p15:presenceInfo xmlns:p15="http://schemas.microsoft.com/office/powerpoint/2012/main" userId="S::dapadilla@mapua.edu.ph::22fd53f7-3725-4d55-add0-dfc6f0ea2c9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50021"/>
    <a:srgbClr val="E1261C"/>
    <a:srgbClr val="F9F9F9"/>
    <a:srgbClr val="CCAFA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61" autoAdjust="0"/>
    <p:restoredTop sz="95388" autoAdjust="0"/>
  </p:normalViewPr>
  <p:slideViewPr>
    <p:cSldViewPr snapToGrid="0">
      <p:cViewPr varScale="1">
        <p:scale>
          <a:sx n="89" d="100"/>
          <a:sy n="89" d="100"/>
        </p:scale>
        <p:origin x="715" y="72"/>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24" d="100"/>
          <a:sy n="124" d="100"/>
        </p:scale>
        <p:origin x="4098"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commentAuthors" Target="commentAuthors.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6AF2D7B-A1C4-422F-8BEC-B2ADA9B3845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05A4CB62-60B8-42ED-B41D-1204D6EC34B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84004C-1C80-46E0-9113-8DACE1C8170C}" type="datetimeFigureOut">
              <a:rPr lang="en-US" smtClean="0"/>
              <a:t>9/27/2023</a:t>
            </a:fld>
            <a:endParaRPr lang="en-US"/>
          </a:p>
        </p:txBody>
      </p:sp>
      <p:sp>
        <p:nvSpPr>
          <p:cNvPr id="4" name="Footer Placeholder 3">
            <a:extLst>
              <a:ext uri="{FF2B5EF4-FFF2-40B4-BE49-F238E27FC236}">
                <a16:creationId xmlns:a16="http://schemas.microsoft.com/office/drawing/2014/main" id="{CA98C740-DCA6-4653-8D38-299256130F1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177E7C8-7A32-480E-8E8D-D8E4B9A0356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E514B00-5376-4F9D-B569-068DF0409359}" type="slidenum">
              <a:rPr lang="en-US" smtClean="0"/>
              <a:t>‹#›</a:t>
            </a:fld>
            <a:endParaRPr lang="en-US"/>
          </a:p>
        </p:txBody>
      </p:sp>
    </p:spTree>
    <p:extLst>
      <p:ext uri="{BB962C8B-B14F-4D97-AF65-F5344CB8AC3E}">
        <p14:creationId xmlns:p14="http://schemas.microsoft.com/office/powerpoint/2010/main" val="322235787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7AE3EBA-9407-2244-8D2E-48917138C0BF}" type="datetimeFigureOut">
              <a:rPr lang="en-US" smtClean="0"/>
              <a:t>9/27/2023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B4D408-4DFC-BF47-8641-93FB6C18070A}" type="slidenum">
              <a:rPr lang="en-US" smtClean="0"/>
              <a:t>‹#›</a:t>
            </a:fld>
            <a:endParaRPr lang="en-US"/>
          </a:p>
        </p:txBody>
      </p:sp>
    </p:spTree>
    <p:extLst>
      <p:ext uri="{BB962C8B-B14F-4D97-AF65-F5344CB8AC3E}">
        <p14:creationId xmlns:p14="http://schemas.microsoft.com/office/powerpoint/2010/main" val="4826522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EB4D408-4DFC-BF47-8641-93FB6C18070A}" type="slidenum">
              <a:rPr lang="en-US" smtClean="0"/>
              <a:t>1</a:t>
            </a:fld>
            <a:endParaRPr lang="en-US"/>
          </a:p>
        </p:txBody>
      </p:sp>
    </p:spTree>
    <p:extLst>
      <p:ext uri="{BB962C8B-B14F-4D97-AF65-F5344CB8AC3E}">
        <p14:creationId xmlns:p14="http://schemas.microsoft.com/office/powerpoint/2010/main" val="155772442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8500487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88435" y="282298"/>
            <a:ext cx="9383339" cy="512401"/>
          </a:xfrm>
        </p:spPr>
        <p:txBody>
          <a:bodyPr>
            <a:noAutofit/>
          </a:bodyPr>
          <a:lstStyle>
            <a:lvl1pPr>
              <a:defRPr sz="3200" b="1">
                <a:solidFill>
                  <a:srgbClr val="FFFF00"/>
                </a:solidFill>
                <a:latin typeface="Segoe UI" panose="020B0502040204020203" pitchFamily="34" charset="0"/>
                <a:cs typeface="Segoe UI" panose="020B0502040204020203" pitchFamily="34" charset="0"/>
              </a:defRPr>
            </a:lvl1pPr>
          </a:lstStyle>
          <a:p>
            <a:r>
              <a:rPr lang="en-US" dirty="0"/>
              <a:t>Click to edit Master title style</a:t>
            </a:r>
            <a:endParaRPr lang="en-PH" dirty="0"/>
          </a:p>
        </p:txBody>
      </p:sp>
      <p:sp>
        <p:nvSpPr>
          <p:cNvPr id="3" name="Content Placeholder 2"/>
          <p:cNvSpPr>
            <a:spLocks noGrp="1"/>
          </p:cNvSpPr>
          <p:nvPr>
            <p:ph idx="1"/>
          </p:nvPr>
        </p:nvSpPr>
        <p:spPr>
          <a:xfrm>
            <a:off x="298154" y="1156700"/>
            <a:ext cx="10564182" cy="455676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92166501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H"/>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62147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53025732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PH"/>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8" name="Footer Placeholder 7"/>
          <p:cNvSpPr>
            <a:spLocks noGrp="1"/>
          </p:cNvSpPr>
          <p:nvPr>
            <p:ph type="ftr" sz="quarter" idx="11"/>
          </p:nvPr>
        </p:nvSpPr>
        <p:spPr/>
        <p:txBody>
          <a:bodyPr/>
          <a:lstStyle/>
          <a:p>
            <a:endParaRPr lang="en-PH">
              <a:solidFill>
                <a:prstClr val="black">
                  <a:tint val="75000"/>
                </a:prstClr>
              </a:solidFill>
            </a:endParaRPr>
          </a:p>
        </p:txBody>
      </p:sp>
      <p:sp>
        <p:nvSpPr>
          <p:cNvPr id="9" name="Slide Number Placeholder 8"/>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205078549"/>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Date Placeholder 2"/>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4" name="Footer Placeholder 3"/>
          <p:cNvSpPr>
            <a:spLocks noGrp="1"/>
          </p:cNvSpPr>
          <p:nvPr>
            <p:ph type="ftr" sz="quarter" idx="11"/>
          </p:nvPr>
        </p:nvSpPr>
        <p:spPr/>
        <p:txBody>
          <a:bodyPr/>
          <a:lstStyle/>
          <a:p>
            <a:endParaRPr lang="en-PH">
              <a:solidFill>
                <a:prstClr val="black">
                  <a:tint val="75000"/>
                </a:prstClr>
              </a:solidFill>
            </a:endParaRPr>
          </a:p>
        </p:txBody>
      </p:sp>
      <p:sp>
        <p:nvSpPr>
          <p:cNvPr id="5" name="Slide Number Placeholder 4"/>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06887562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256304547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H"/>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H"/>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6" name="Footer Placeholder 5"/>
          <p:cNvSpPr>
            <a:spLocks noGrp="1"/>
          </p:cNvSpPr>
          <p:nvPr>
            <p:ph type="ftr" sz="quarter" idx="11"/>
          </p:nvPr>
        </p:nvSpPr>
        <p:spPr/>
        <p:txBody>
          <a:bodyPr/>
          <a:lstStyle/>
          <a:p>
            <a:endParaRPr lang="en-PH">
              <a:solidFill>
                <a:prstClr val="black">
                  <a:tint val="75000"/>
                </a:prstClr>
              </a:solidFill>
            </a:endParaRPr>
          </a:p>
        </p:txBody>
      </p:sp>
      <p:sp>
        <p:nvSpPr>
          <p:cNvPr id="7" name="Slide Number Placeholder 6"/>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984543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PH"/>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1651308477"/>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PH"/>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10"/>
          </p:nvPr>
        </p:nvSpPr>
        <p:spPr/>
        <p:txBody>
          <a:body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5" name="Footer Placeholder 4"/>
          <p:cNvSpPr>
            <a:spLocks noGrp="1"/>
          </p:cNvSpPr>
          <p:nvPr>
            <p:ph type="ftr" sz="quarter" idx="11"/>
          </p:nvPr>
        </p:nvSpPr>
        <p:spPr/>
        <p:txBody>
          <a:bodyPr/>
          <a:lstStyle/>
          <a:p>
            <a:endParaRPr lang="en-PH">
              <a:solidFill>
                <a:prstClr val="black">
                  <a:tint val="75000"/>
                </a:prstClr>
              </a:solidFill>
            </a:endParaRPr>
          </a:p>
        </p:txBody>
      </p:sp>
      <p:sp>
        <p:nvSpPr>
          <p:cNvPr id="6" name="Slide Number Placeholder 5"/>
          <p:cNvSpPr>
            <a:spLocks noGrp="1"/>
          </p:cNvSpPr>
          <p:nvPr>
            <p:ph type="sldNum" sz="quarter" idx="12"/>
          </p:nvPr>
        </p:nvSpPr>
        <p:spPr/>
        <p:txBody>
          <a:body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404205280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DB8A35F-61D6-417E-8CA4-3FFFB03A1EF2}" type="datetimeFigureOut">
              <a:rPr lang="en-PH" smtClean="0">
                <a:solidFill>
                  <a:prstClr val="black">
                    <a:tint val="75000"/>
                  </a:prstClr>
                </a:solidFill>
              </a:rPr>
              <a:pPr/>
              <a:t>27/09/2023</a:t>
            </a:fld>
            <a:endParaRPr lang="en-PH">
              <a:solidFill>
                <a:prstClr val="black">
                  <a:tint val="75000"/>
                </a:prstClr>
              </a:solidFill>
            </a:endParaRP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PH">
              <a:solidFill>
                <a:prstClr val="black">
                  <a:tint val="75000"/>
                </a:prstClr>
              </a:solidFill>
            </a:endParaRP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56A1CFE-FAD5-4B16-8253-97D01193D803}" type="slidenum">
              <a:rPr lang="en-PH" smtClean="0">
                <a:solidFill>
                  <a:prstClr val="black">
                    <a:tint val="75000"/>
                  </a:prstClr>
                </a:solidFill>
              </a:rPr>
              <a:pPr/>
              <a:t>‹#›</a:t>
            </a:fld>
            <a:endParaRPr lang="en-PH">
              <a:solidFill>
                <a:prstClr val="black">
                  <a:tint val="75000"/>
                </a:prstClr>
              </a:solidFill>
            </a:endParaRPr>
          </a:p>
        </p:txBody>
      </p:sp>
    </p:spTree>
    <p:extLst>
      <p:ext uri="{BB962C8B-B14F-4D97-AF65-F5344CB8AC3E}">
        <p14:creationId xmlns:p14="http://schemas.microsoft.com/office/powerpoint/2010/main" val="3624386725"/>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4" r:id="rId7"/>
    <p:sldLayoutId id="2147483835" r:id="rId8"/>
    <p:sldLayoutId id="2147483836" r:id="rId9"/>
    <p:sldLayoutId id="2147483837" r:id="rId10"/>
  </p:sldLayoutIdLst>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3">
            <a:alphaModFix/>
          </a:blip>
          <a:stretch>
            <a:fillRect/>
          </a:stretch>
        </a:blipFill>
        <a:effectLst/>
      </p:bgPr>
    </p:bg>
    <p:spTree>
      <p:nvGrpSpPr>
        <p:cNvPr id="1" name="Shape 11"/>
        <p:cNvGrpSpPr/>
        <p:nvPr/>
      </p:nvGrpSpPr>
      <p:grpSpPr>
        <a:xfrm>
          <a:off x="0" y="0"/>
          <a:ext cx="0" cy="0"/>
          <a:chOff x="0" y="0"/>
          <a:chExt cx="0" cy="0"/>
        </a:xfrm>
      </p:grpSpPr>
      <p:sp>
        <p:nvSpPr>
          <p:cNvPr id="12" name="Shape 12"/>
          <p:cNvSpPr txBox="1">
            <a:spLocks noGrp="1"/>
          </p:cNvSpPr>
          <p:nvPr>
            <p:ph type="ctrTitle"/>
          </p:nvPr>
        </p:nvSpPr>
        <p:spPr>
          <a:xfrm>
            <a:off x="284766" y="846685"/>
            <a:ext cx="6530102" cy="711200"/>
          </a:xfrm>
          <a:prstGeom prst="rect">
            <a:avLst/>
          </a:prstGeom>
          <a:noFill/>
          <a:ln>
            <a:noFill/>
          </a:ln>
        </p:spPr>
        <p:txBody>
          <a:bodyPr wrap="square" lIns="91425" tIns="45700" rIns="91425" bIns="45700" anchor="b" anchorCtr="0">
            <a:noAutofit/>
          </a:bodyPr>
          <a:lstStyle/>
          <a:p>
            <a:pPr lvl="0" indent="-203200" algn="l">
              <a:spcBef>
                <a:spcPts val="0"/>
              </a:spcBef>
              <a:buClr>
                <a:srgbClr val="FFFF00"/>
              </a:buClr>
              <a:buSzPct val="100000"/>
            </a:pPr>
            <a:r>
              <a:rPr lang="en-US" sz="4000" b="1" dirty="0">
                <a:solidFill>
                  <a:srgbClr val="FFFF00"/>
                </a:solidFill>
                <a:latin typeface="Segoe UI" panose="020B0502040204020203" pitchFamily="34" charset="0"/>
                <a:ea typeface="Arial"/>
                <a:cs typeface="Segoe UI" panose="020B0502040204020203" pitchFamily="34" charset="0"/>
                <a:sym typeface="Arial"/>
              </a:rPr>
              <a:t>Watering Plant System</a:t>
            </a:r>
            <a:endParaRPr lang="en-PH" sz="4000" b="1" dirty="0">
              <a:solidFill>
                <a:srgbClr val="FFFF00"/>
              </a:solidFill>
              <a:latin typeface="Segoe UI" panose="020B0502040204020203" pitchFamily="34" charset="0"/>
              <a:ea typeface="Arial"/>
              <a:cs typeface="Segoe UI" panose="020B0502040204020203" pitchFamily="34" charset="0"/>
              <a:sym typeface="Arial"/>
            </a:endParaRPr>
          </a:p>
        </p:txBody>
      </p:sp>
      <p:sp>
        <p:nvSpPr>
          <p:cNvPr id="13" name="Shape 13"/>
          <p:cNvSpPr txBox="1">
            <a:spLocks noGrp="1"/>
          </p:cNvSpPr>
          <p:nvPr>
            <p:ph type="subTitle" idx="1"/>
          </p:nvPr>
        </p:nvSpPr>
        <p:spPr>
          <a:xfrm>
            <a:off x="284766" y="1557885"/>
            <a:ext cx="6034670" cy="1095521"/>
          </a:xfrm>
          <a:prstGeom prst="rect">
            <a:avLst/>
          </a:prstGeom>
          <a:noFill/>
          <a:ln>
            <a:noFill/>
          </a:ln>
        </p:spPr>
        <p:txBody>
          <a:bodyPr wrap="square" lIns="91425" tIns="45700" rIns="91425" bIns="45700" anchor="t" anchorCtr="0">
            <a:noAutofit/>
          </a:bodyPr>
          <a:lstStyle/>
          <a:p>
            <a:pPr lvl="0" indent="-127000" algn="l">
              <a:spcBef>
                <a:spcPts val="0"/>
              </a:spcBef>
              <a:buClr>
                <a:schemeClr val="lt1"/>
              </a:buClr>
              <a:buSzPct val="100000"/>
            </a:pPr>
            <a:r>
              <a:rPr lang="en-GB" sz="3200" b="1" dirty="0">
                <a:solidFill>
                  <a:schemeClr val="lt1"/>
                </a:solidFill>
                <a:latin typeface="Segoe UI" panose="020B0502040204020203" pitchFamily="34" charset="0"/>
                <a:ea typeface="Arial"/>
                <a:cs typeface="Segoe UI" panose="020B0502040204020203" pitchFamily="34" charset="0"/>
                <a:sym typeface="Arial"/>
              </a:rPr>
              <a:t>Experiment 7</a:t>
            </a:r>
          </a:p>
        </p:txBody>
      </p:sp>
      <p:sp>
        <p:nvSpPr>
          <p:cNvPr id="8" name="Text Placeholder 2">
            <a:extLst>
              <a:ext uri="{FF2B5EF4-FFF2-40B4-BE49-F238E27FC236}">
                <a16:creationId xmlns:a16="http://schemas.microsoft.com/office/drawing/2014/main" id="{BB0E7A66-65F8-4D09-A464-3721AFFC3633}"/>
              </a:ext>
            </a:extLst>
          </p:cNvPr>
          <p:cNvSpPr txBox="1">
            <a:spLocks/>
          </p:cNvSpPr>
          <p:nvPr/>
        </p:nvSpPr>
        <p:spPr>
          <a:xfrm>
            <a:off x="147702" y="5904349"/>
            <a:ext cx="6949070" cy="770513"/>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Computer Engineering Department</a:t>
            </a:r>
          </a:p>
          <a:p>
            <a:pPr algn="l">
              <a:lnSpc>
                <a:spcPct val="110000"/>
              </a:lnSpc>
              <a:spcBef>
                <a:spcPts val="200"/>
              </a:spcBef>
              <a:spcAft>
                <a:spcPts val="200"/>
              </a:spcAft>
            </a:pPr>
            <a:r>
              <a:rPr lang="en-PH" sz="1800" b="1" dirty="0">
                <a:solidFill>
                  <a:schemeClr val="bg1"/>
                </a:solidFill>
                <a:latin typeface="Segoe UI" panose="020B0502040204020203" pitchFamily="34" charset="0"/>
                <a:cs typeface="Segoe UI" panose="020B0502040204020203" pitchFamily="34" charset="0"/>
              </a:rPr>
              <a:t>School of Electrical, Electronics, and Computer Engineering</a:t>
            </a:r>
          </a:p>
        </p:txBody>
      </p:sp>
      <p:pic>
        <p:nvPicPr>
          <p:cNvPr id="3" name="Picture 2" descr="A picture containing object, measure, clock, cup&#10;&#10;Description automatically generated">
            <a:extLst>
              <a:ext uri="{FF2B5EF4-FFF2-40B4-BE49-F238E27FC236}">
                <a16:creationId xmlns:a16="http://schemas.microsoft.com/office/drawing/2014/main" id="{93681FFB-7892-473D-BA03-7308FEE223ED}"/>
              </a:ext>
            </a:extLst>
          </p:cNvPr>
          <p:cNvPicPr>
            <a:picLocks noChangeAspect="1"/>
          </p:cNvPicPr>
          <p:nvPr/>
        </p:nvPicPr>
        <p:blipFill>
          <a:blip r:embed="rId4"/>
          <a:stretch>
            <a:fillRect/>
          </a:stretch>
        </p:blipFill>
        <p:spPr>
          <a:xfrm>
            <a:off x="10017600" y="2834255"/>
            <a:ext cx="1531272" cy="1531272"/>
          </a:xfrm>
          <a:prstGeom prst="rect">
            <a:avLst/>
          </a:prstGeom>
        </p:spPr>
      </p:pic>
      <p:sp>
        <p:nvSpPr>
          <p:cNvPr id="6" name="Text Placeholder 2">
            <a:extLst>
              <a:ext uri="{FF2B5EF4-FFF2-40B4-BE49-F238E27FC236}">
                <a16:creationId xmlns:a16="http://schemas.microsoft.com/office/drawing/2014/main" id="{DE44DF05-07A0-4892-8981-CB6440644483}"/>
              </a:ext>
            </a:extLst>
          </p:cNvPr>
          <p:cNvSpPr txBox="1">
            <a:spLocks/>
          </p:cNvSpPr>
          <p:nvPr/>
        </p:nvSpPr>
        <p:spPr>
          <a:xfrm>
            <a:off x="284766" y="3741893"/>
            <a:ext cx="4191731" cy="1382244"/>
          </a:xfrm>
          <a:prstGeom prst="rect">
            <a:avLst/>
          </a:prstGeom>
          <a:noFill/>
          <a:ln>
            <a:noFill/>
          </a:ln>
          <a:effectLst>
            <a:reflection blurRad="88900" endPos="0" dist="50800" dir="5400000" sy="-100000" algn="bl" rotWithShape="0"/>
          </a:effectLst>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baseline="0">
                <a:solidFill>
                  <a:schemeClr val="bg2"/>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2400" kern="1200">
                <a:solidFill>
                  <a:schemeClr val="bg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Raphael S. Nano</a:t>
            </a:r>
          </a:p>
          <a:p>
            <a:pPr algn="l">
              <a:lnSpc>
                <a:spcPct val="110000"/>
              </a:lnSpc>
              <a:spcBef>
                <a:spcPts val="200"/>
              </a:spcBef>
              <a:spcAft>
                <a:spcPts val="200"/>
              </a:spcAft>
            </a:pPr>
            <a:r>
              <a:rPr lang="en-PH" sz="2000" b="1" dirty="0">
                <a:solidFill>
                  <a:schemeClr val="bg1"/>
                </a:solidFill>
                <a:latin typeface="Segoe UI" panose="020B0502040204020203" pitchFamily="34" charset="0"/>
                <a:cs typeface="Segoe UI" panose="020B0502040204020203" pitchFamily="34" charset="0"/>
              </a:rPr>
              <a:t>CPE160P / B1</a:t>
            </a:r>
          </a:p>
        </p:txBody>
      </p:sp>
    </p:spTree>
    <p:extLst>
      <p:ext uri="{BB962C8B-B14F-4D97-AF65-F5344CB8AC3E}">
        <p14:creationId xmlns:p14="http://schemas.microsoft.com/office/powerpoint/2010/main" val="1898775135"/>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0BE44-DEA0-C8F1-B220-4F56E5330E48}"/>
              </a:ext>
            </a:extLst>
          </p:cNvPr>
          <p:cNvSpPr>
            <a:spLocks noGrp="1"/>
          </p:cNvSpPr>
          <p:nvPr>
            <p:ph type="title"/>
          </p:nvPr>
        </p:nvSpPr>
        <p:spPr>
          <a:xfrm>
            <a:off x="288435" y="282298"/>
            <a:ext cx="10123648" cy="512401"/>
          </a:xfrm>
        </p:spPr>
        <p:txBody>
          <a:bodyPr/>
          <a:lstStyle/>
          <a:p>
            <a:r>
              <a:rPr lang="en-US" dirty="0"/>
              <a:t>Introduction: Soil Quality and Plant Maintenance</a:t>
            </a:r>
            <a:endParaRPr lang="en-PH" dirty="0"/>
          </a:p>
        </p:txBody>
      </p:sp>
      <p:sp>
        <p:nvSpPr>
          <p:cNvPr id="3" name="Content Placeholder 2">
            <a:extLst>
              <a:ext uri="{FF2B5EF4-FFF2-40B4-BE49-F238E27FC236}">
                <a16:creationId xmlns:a16="http://schemas.microsoft.com/office/drawing/2014/main" id="{A1D19F78-2EA6-6CC1-752D-C8DA5962ED05}"/>
              </a:ext>
            </a:extLst>
          </p:cNvPr>
          <p:cNvSpPr>
            <a:spLocks noGrp="1"/>
          </p:cNvSpPr>
          <p:nvPr>
            <p:ph idx="1"/>
          </p:nvPr>
        </p:nvSpPr>
        <p:spPr/>
        <p:txBody>
          <a:bodyPr>
            <a:normAutofit/>
          </a:bodyPr>
          <a:lstStyle/>
          <a:p>
            <a:pPr algn="just">
              <a:buFont typeface="Wingdings" panose="05000000000000000000" pitchFamily="2" charset="2"/>
              <a:buChar char="Ø"/>
            </a:pPr>
            <a:r>
              <a:rPr lang="en-US" dirty="0"/>
              <a:t> Factors that improve soil quality include sunlight, minerals, and moisture.</a:t>
            </a:r>
          </a:p>
          <a:p>
            <a:pPr algn="just">
              <a:buFont typeface="Wingdings" panose="05000000000000000000" pitchFamily="2" charset="2"/>
              <a:buChar char="Ø"/>
            </a:pPr>
            <a:r>
              <a:rPr lang="en-US" dirty="0"/>
              <a:t> Depending on the plant, the moisture content of the soil may be varied.</a:t>
            </a:r>
          </a:p>
          <a:p>
            <a:pPr algn="just">
              <a:buFont typeface="Wingdings" panose="05000000000000000000" pitchFamily="2" charset="2"/>
              <a:buChar char="Ø"/>
            </a:pPr>
            <a:r>
              <a:rPr lang="en-US" dirty="0"/>
              <a:t> Some may need a lot of water, while others survive in little to no water.</a:t>
            </a:r>
            <a:endParaRPr lang="en-PH" dirty="0"/>
          </a:p>
        </p:txBody>
      </p:sp>
    </p:spTree>
    <p:extLst>
      <p:ext uri="{BB962C8B-B14F-4D97-AF65-F5344CB8AC3E}">
        <p14:creationId xmlns:p14="http://schemas.microsoft.com/office/powerpoint/2010/main" val="143893579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A6651-8300-9B1E-D82E-D9BDEDD2C7B5}"/>
              </a:ext>
            </a:extLst>
          </p:cNvPr>
          <p:cNvSpPr>
            <a:spLocks noGrp="1"/>
          </p:cNvSpPr>
          <p:nvPr>
            <p:ph type="title"/>
          </p:nvPr>
        </p:nvSpPr>
        <p:spPr/>
        <p:txBody>
          <a:bodyPr/>
          <a:lstStyle/>
          <a:p>
            <a:r>
              <a:rPr lang="en-US" dirty="0"/>
              <a:t>Objectives</a:t>
            </a:r>
            <a:endParaRPr lang="en-PH" dirty="0"/>
          </a:p>
        </p:txBody>
      </p:sp>
      <p:sp>
        <p:nvSpPr>
          <p:cNvPr id="3" name="Content Placeholder 2">
            <a:extLst>
              <a:ext uri="{FF2B5EF4-FFF2-40B4-BE49-F238E27FC236}">
                <a16:creationId xmlns:a16="http://schemas.microsoft.com/office/drawing/2014/main" id="{024FD49A-96B4-5E3D-262C-6DE9E8C540E0}"/>
              </a:ext>
            </a:extLst>
          </p:cNvPr>
          <p:cNvSpPr>
            <a:spLocks noGrp="1"/>
          </p:cNvSpPr>
          <p:nvPr>
            <p:ph idx="1"/>
          </p:nvPr>
        </p:nvSpPr>
        <p:spPr>
          <a:xfrm>
            <a:off x="298153" y="1156700"/>
            <a:ext cx="11528661" cy="4556765"/>
          </a:xfrm>
        </p:spPr>
        <p:txBody>
          <a:bodyPr>
            <a:normAutofit/>
          </a:bodyPr>
          <a:lstStyle/>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demonstrate how an automatic watering plant system works.</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apply embedded systems in maintaining the moisture in the soil of the plant.</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demonstrate how the servo motor or stepper motor will function to water the plant.</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apply what you have learned in Microprocessor and Logic Circuits and Switching Theory.</a:t>
            </a:r>
          </a:p>
          <a:p>
            <a:pPr marL="342900" indent="-342900" algn="just">
              <a:spcAft>
                <a:spcPts val="1200"/>
              </a:spcAft>
              <a:buAutoNum type="arabicPeriod"/>
            </a:pPr>
            <a:r>
              <a:rPr lang="en-US" sz="2400" dirty="0">
                <a:solidFill>
                  <a:srgbClr val="262626"/>
                </a:solidFill>
                <a:effectLst/>
                <a:latin typeface="Open Sans" panose="020B0606030504020204" pitchFamily="34" charset="0"/>
                <a:ea typeface="Times New Roman" panose="02020603050405020304" pitchFamily="18" charset="0"/>
              </a:rPr>
              <a:t>To be able to apply embedded system in a simple handshaking using Arduino Kit.</a:t>
            </a:r>
            <a:endParaRPr lang="en-PH" sz="3600" dirty="0"/>
          </a:p>
        </p:txBody>
      </p:sp>
    </p:spTree>
    <p:extLst>
      <p:ext uri="{BB962C8B-B14F-4D97-AF65-F5344CB8AC3E}">
        <p14:creationId xmlns:p14="http://schemas.microsoft.com/office/powerpoint/2010/main" val="331830828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181D8-5970-A98E-D2DD-7FB6C53A66D8}"/>
              </a:ext>
            </a:extLst>
          </p:cNvPr>
          <p:cNvSpPr>
            <a:spLocks noGrp="1"/>
          </p:cNvSpPr>
          <p:nvPr>
            <p:ph type="title"/>
          </p:nvPr>
        </p:nvSpPr>
        <p:spPr/>
        <p:txBody>
          <a:bodyPr/>
          <a:lstStyle/>
          <a:p>
            <a:r>
              <a:rPr lang="en-US" dirty="0"/>
              <a:t>Materials</a:t>
            </a:r>
            <a:endParaRPr lang="en-PH" dirty="0"/>
          </a:p>
        </p:txBody>
      </p:sp>
      <p:sp>
        <p:nvSpPr>
          <p:cNvPr id="3" name="Content Placeholder 2">
            <a:extLst>
              <a:ext uri="{FF2B5EF4-FFF2-40B4-BE49-F238E27FC236}">
                <a16:creationId xmlns:a16="http://schemas.microsoft.com/office/drawing/2014/main" id="{20EB3153-534E-FE9A-3AE5-29ADD83AF1F8}"/>
              </a:ext>
            </a:extLst>
          </p:cNvPr>
          <p:cNvSpPr>
            <a:spLocks noGrp="1"/>
          </p:cNvSpPr>
          <p:nvPr>
            <p:ph idx="1"/>
          </p:nvPr>
        </p:nvSpPr>
        <p:spPr/>
        <p:txBody>
          <a:bodyPr/>
          <a:lstStyle/>
          <a:p>
            <a:pPr>
              <a:buFont typeface="Wingdings" panose="05000000000000000000" pitchFamily="2" charset="2"/>
              <a:buChar char="Ø"/>
            </a:pPr>
            <a:endParaRPr lang="en-PH" sz="2400" dirty="0">
              <a:solidFill>
                <a:srgbClr val="262626"/>
              </a:solidFill>
              <a:effectLst/>
              <a:latin typeface="Open Sans" panose="020B0606030504020204" pitchFamily="34"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Arduino Kit</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Arduino Uno</a:t>
            </a:r>
          </a:p>
          <a:p>
            <a:pPr>
              <a:buFont typeface="Wingdings" panose="05000000000000000000" pitchFamily="2" charset="2"/>
              <a:buChar char="Ø"/>
            </a:pPr>
            <a:r>
              <a:rPr lang="en-PH" sz="2400" dirty="0">
                <a:solidFill>
                  <a:srgbClr val="262626"/>
                </a:solidFill>
                <a:latin typeface="Open Sans" panose="020B0606030504020204" pitchFamily="34" charset="0"/>
                <a:ea typeface="Times New Roman" panose="02020603050405020304" pitchFamily="18" charset="0"/>
              </a:rPr>
              <a:t> SG90 Servo Motor</a:t>
            </a: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QAPASS LCD</a:t>
            </a:r>
          </a:p>
          <a:p>
            <a:pPr>
              <a:buFont typeface="Wingdings" panose="05000000000000000000" pitchFamily="2" charset="2"/>
              <a:buChar char="Ø"/>
            </a:pPr>
            <a:r>
              <a:rPr lang="en-PH" sz="2400" dirty="0">
                <a:solidFill>
                  <a:srgbClr val="262626"/>
                </a:solidFill>
                <a:latin typeface="Open Sans" panose="020B0606030504020204" pitchFamily="34" charset="0"/>
                <a:ea typeface="Times New Roman" panose="02020603050405020304" pitchFamily="18" charset="0"/>
              </a:rPr>
              <a:t> YL-100 Moisture Sensor</a:t>
            </a:r>
          </a:p>
          <a:p>
            <a:pPr>
              <a:buFont typeface="Wingdings" panose="05000000000000000000" pitchFamily="2" charset="2"/>
              <a:buChar char="Ø"/>
            </a:pPr>
            <a:r>
              <a:rPr lang="en-PH" sz="2400" dirty="0">
                <a:solidFill>
                  <a:srgbClr val="262626"/>
                </a:solidFill>
                <a:effectLst/>
                <a:latin typeface="Open Sans" panose="020B0606030504020204" pitchFamily="34" charset="0"/>
                <a:ea typeface="Times New Roman" panose="02020603050405020304" pitchFamily="18" charset="0"/>
              </a:rPr>
              <a:t> </a:t>
            </a:r>
            <a:r>
              <a:rPr lang="en-PH" sz="2400" dirty="0">
                <a:solidFill>
                  <a:srgbClr val="262626"/>
                </a:solidFill>
                <a:latin typeface="Open Sans" panose="020B0606030504020204" pitchFamily="34" charset="0"/>
                <a:ea typeface="Times New Roman" panose="02020603050405020304" pitchFamily="18" charset="0"/>
              </a:rPr>
              <a:t>4 succulent plants</a:t>
            </a:r>
            <a:endParaRPr lang="en-PH" sz="2400" dirty="0">
              <a:effectLst/>
              <a:latin typeface="Times New Roman" panose="02020603050405020304" pitchFamily="18" charset="0"/>
              <a:ea typeface="Times New Roman" panose="02020603050405020304" pitchFamily="18" charset="0"/>
            </a:endParaRPr>
          </a:p>
          <a:p>
            <a:pPr>
              <a:buFont typeface="Wingdings" panose="05000000000000000000" pitchFamily="2" charset="2"/>
              <a:buChar char="Ø"/>
            </a:pPr>
            <a:endParaRPr lang="en-PH" dirty="0"/>
          </a:p>
        </p:txBody>
      </p:sp>
      <p:pic>
        <p:nvPicPr>
          <p:cNvPr id="7" name="Picture 6">
            <a:extLst>
              <a:ext uri="{FF2B5EF4-FFF2-40B4-BE49-F238E27FC236}">
                <a16:creationId xmlns:a16="http://schemas.microsoft.com/office/drawing/2014/main" id="{E2527A8D-B1FF-B992-E973-1664F01BA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74041" y="2355011"/>
            <a:ext cx="4370717" cy="3278038"/>
          </a:xfrm>
          <a:prstGeom prst="rect">
            <a:avLst/>
          </a:prstGeom>
        </p:spPr>
      </p:pic>
      <p:pic>
        <p:nvPicPr>
          <p:cNvPr id="4" name="Picture 3">
            <a:extLst>
              <a:ext uri="{FF2B5EF4-FFF2-40B4-BE49-F238E27FC236}">
                <a16:creationId xmlns:a16="http://schemas.microsoft.com/office/drawing/2014/main" id="{BA77D5D9-ADF9-A266-4D83-813416C7EEAC}"/>
              </a:ext>
            </a:extLst>
          </p:cNvPr>
          <p:cNvPicPr>
            <a:picLocks noChangeAspect="1"/>
          </p:cNvPicPr>
          <p:nvPr/>
        </p:nvPicPr>
        <p:blipFill>
          <a:blip r:embed="rId3">
            <a:extLst>
              <a:ext uri="{28A0092B-C50C-407E-A947-70E740481C1C}">
                <a14:useLocalDpi xmlns:a14="http://schemas.microsoft.com/office/drawing/2010/main" val="0"/>
              </a:ext>
            </a:extLst>
          </a:blip>
          <a:srcRect l="15727" r="15727"/>
          <a:stretch/>
        </p:blipFill>
        <p:spPr>
          <a:xfrm rot="16200000">
            <a:off x="6220405" y="1020130"/>
            <a:ext cx="2645352" cy="2894162"/>
          </a:xfrm>
          <a:prstGeom prst="rect">
            <a:avLst/>
          </a:prstGeom>
        </p:spPr>
      </p:pic>
    </p:spTree>
    <p:extLst>
      <p:ext uri="{BB962C8B-B14F-4D97-AF65-F5344CB8AC3E}">
        <p14:creationId xmlns:p14="http://schemas.microsoft.com/office/powerpoint/2010/main" val="994008893"/>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Watering Plant System</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1186177"/>
            <a:ext cx="6904903" cy="4369233"/>
          </a:xfrm>
        </p:spPr>
        <p:txBody>
          <a:bodyPr>
            <a:normAutofit/>
          </a:bodyPr>
          <a:lstStyle/>
          <a:p>
            <a:pPr algn="just">
              <a:spcAft>
                <a:spcPts val="600"/>
              </a:spcAft>
              <a:buFont typeface="Wingdings" panose="05000000000000000000" pitchFamily="2" charset="2"/>
              <a:buChar char="Ø"/>
            </a:pPr>
            <a:r>
              <a:rPr lang="en-US" sz="2400" dirty="0"/>
              <a:t> Crucial Factors: the detection of the moisture percentage of the soil and the movement of servo motor to open and close the replicated hose.</a:t>
            </a:r>
          </a:p>
          <a:p>
            <a:pPr algn="just">
              <a:spcAft>
                <a:spcPts val="600"/>
              </a:spcAft>
              <a:buFont typeface="Wingdings" panose="05000000000000000000" pitchFamily="2" charset="2"/>
              <a:buChar char="Ø"/>
            </a:pPr>
            <a:r>
              <a:rPr lang="en-US" sz="2400" dirty="0"/>
              <a:t> For moisture sensor, </a:t>
            </a:r>
            <a:r>
              <a:rPr lang="en-US" sz="2400" dirty="0" err="1"/>
              <a:t>readMoist</a:t>
            </a:r>
            <a:r>
              <a:rPr lang="en-US" sz="2400" dirty="0"/>
              <a:t>() function was created</a:t>
            </a:r>
          </a:p>
          <a:p>
            <a:pPr algn="just">
              <a:spcAft>
                <a:spcPts val="600"/>
              </a:spcAft>
              <a:buFont typeface="Wingdings" panose="05000000000000000000" pitchFamily="2" charset="2"/>
              <a:buChar char="Ø"/>
            </a:pPr>
            <a:r>
              <a:rPr lang="en-US" sz="2400" dirty="0"/>
              <a:t> </a:t>
            </a:r>
            <a:r>
              <a:rPr lang="fr-FR" sz="2400" dirty="0" err="1"/>
              <a:t>Moisture</a:t>
            </a:r>
            <a:r>
              <a:rPr lang="fr-FR" sz="2400" dirty="0"/>
              <a:t> Percentage = (100 - ((</a:t>
            </a:r>
            <a:r>
              <a:rPr lang="fr-FR" sz="2400" dirty="0" err="1"/>
              <a:t>sensor</a:t>
            </a:r>
            <a:r>
              <a:rPr lang="fr-FR" sz="2400" dirty="0"/>
              <a:t> value/ 1023) * 100))</a:t>
            </a:r>
          </a:p>
          <a:p>
            <a:pPr algn="just">
              <a:spcAft>
                <a:spcPts val="600"/>
              </a:spcAft>
              <a:buFont typeface="Wingdings" panose="05000000000000000000" pitchFamily="2" charset="2"/>
              <a:buChar char="Ø"/>
            </a:pPr>
            <a:r>
              <a:rPr lang="en-US" sz="2400" dirty="0"/>
              <a:t> Dry: 20 to 40, Below Normal: 40 to 50, Normal: 50 to 60, Submerged or Drowning: 60 to 70</a:t>
            </a:r>
            <a:endParaRPr lang="en-PH" sz="2400" dirty="0"/>
          </a:p>
        </p:txBody>
      </p:sp>
      <p:pic>
        <p:nvPicPr>
          <p:cNvPr id="5" name="Picture 4">
            <a:extLst>
              <a:ext uri="{FF2B5EF4-FFF2-40B4-BE49-F238E27FC236}">
                <a16:creationId xmlns:a16="http://schemas.microsoft.com/office/drawing/2014/main" id="{7C8E0F38-FEC8-4480-C163-4C8241813E8B}"/>
              </a:ext>
            </a:extLst>
          </p:cNvPr>
          <p:cNvPicPr>
            <a:picLocks noChangeAspect="1"/>
          </p:cNvPicPr>
          <p:nvPr/>
        </p:nvPicPr>
        <p:blipFill rotWithShape="1">
          <a:blip r:embed="rId2">
            <a:extLst>
              <a:ext uri="{28A0092B-C50C-407E-A947-70E740481C1C}">
                <a14:useLocalDpi xmlns:a14="http://schemas.microsoft.com/office/drawing/2010/main" val="0"/>
              </a:ext>
            </a:extLst>
          </a:blip>
          <a:srcRect l="17258" t="11871" r="31086" b="11525"/>
          <a:stretch/>
        </p:blipFill>
        <p:spPr>
          <a:xfrm rot="5400000">
            <a:off x="8605266" y="273595"/>
            <a:ext cx="1682151" cy="3326072"/>
          </a:xfrm>
          <a:prstGeom prst="rect">
            <a:avLst/>
          </a:prstGeom>
        </p:spPr>
      </p:pic>
      <p:pic>
        <p:nvPicPr>
          <p:cNvPr id="8" name="Picture 7">
            <a:extLst>
              <a:ext uri="{FF2B5EF4-FFF2-40B4-BE49-F238E27FC236}">
                <a16:creationId xmlns:a16="http://schemas.microsoft.com/office/drawing/2014/main" id="{625688F4-C05F-2702-60D0-B8E402DE9577}"/>
              </a:ext>
            </a:extLst>
          </p:cNvPr>
          <p:cNvPicPr>
            <a:picLocks noChangeAspect="1"/>
          </p:cNvPicPr>
          <p:nvPr/>
        </p:nvPicPr>
        <p:blipFill rotWithShape="1">
          <a:blip r:embed="rId3">
            <a:extLst>
              <a:ext uri="{28A0092B-C50C-407E-A947-70E740481C1C}">
                <a14:useLocalDpi xmlns:a14="http://schemas.microsoft.com/office/drawing/2010/main" val="0"/>
              </a:ext>
            </a:extLst>
          </a:blip>
          <a:srcRect t="16876"/>
          <a:stretch/>
        </p:blipFill>
        <p:spPr>
          <a:xfrm rot="16200000">
            <a:off x="7945848" y="2774438"/>
            <a:ext cx="3001314" cy="3326400"/>
          </a:xfrm>
          <a:prstGeom prst="rect">
            <a:avLst/>
          </a:prstGeom>
        </p:spPr>
      </p:pic>
    </p:spTree>
    <p:extLst>
      <p:ext uri="{BB962C8B-B14F-4D97-AF65-F5344CB8AC3E}">
        <p14:creationId xmlns:p14="http://schemas.microsoft.com/office/powerpoint/2010/main" val="421939102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grpId="0"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Watering Plant System</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2163096"/>
            <a:ext cx="6904903" cy="2531808"/>
          </a:xfrm>
        </p:spPr>
        <p:txBody>
          <a:bodyPr>
            <a:normAutofit/>
          </a:bodyPr>
          <a:lstStyle/>
          <a:p>
            <a:pPr algn="just">
              <a:spcAft>
                <a:spcPts val="600"/>
              </a:spcAft>
              <a:buFont typeface="Wingdings" panose="05000000000000000000" pitchFamily="2" charset="2"/>
              <a:buChar char="Ø"/>
            </a:pPr>
            <a:r>
              <a:rPr lang="en-US" sz="2400" dirty="0"/>
              <a:t> For servo motor, </a:t>
            </a:r>
            <a:r>
              <a:rPr lang="en-US" sz="2400" dirty="0" err="1"/>
              <a:t>closeHose</a:t>
            </a:r>
            <a:r>
              <a:rPr lang="en-US" sz="2400" dirty="0"/>
              <a:t>() and </a:t>
            </a:r>
            <a:r>
              <a:rPr lang="en-US" sz="2400" dirty="0" err="1"/>
              <a:t>openHose</a:t>
            </a:r>
            <a:r>
              <a:rPr lang="en-US" sz="2400" dirty="0"/>
              <a:t>() functions were created</a:t>
            </a:r>
          </a:p>
          <a:p>
            <a:pPr algn="just">
              <a:spcAft>
                <a:spcPts val="600"/>
              </a:spcAft>
              <a:buFont typeface="Wingdings" panose="05000000000000000000" pitchFamily="2" charset="2"/>
              <a:buChar char="Ø"/>
            </a:pPr>
            <a:r>
              <a:rPr lang="en-US" sz="2400" dirty="0"/>
              <a:t> The </a:t>
            </a:r>
            <a:r>
              <a:rPr lang="en-US" sz="2400" dirty="0" err="1"/>
              <a:t>closeHose</a:t>
            </a:r>
            <a:r>
              <a:rPr lang="en-US" sz="2400" dirty="0"/>
              <a:t>() rotates the motor to 160 degrees, folding the straw upwards to stop water flow</a:t>
            </a:r>
          </a:p>
          <a:p>
            <a:pPr algn="just">
              <a:spcAft>
                <a:spcPts val="600"/>
              </a:spcAft>
              <a:buFont typeface="Wingdings" panose="05000000000000000000" pitchFamily="2" charset="2"/>
              <a:buChar char="Ø"/>
            </a:pPr>
            <a:r>
              <a:rPr lang="en-US" sz="2400" dirty="0"/>
              <a:t> The </a:t>
            </a:r>
            <a:r>
              <a:rPr lang="en-US" sz="2400" dirty="0" err="1"/>
              <a:t>openHose</a:t>
            </a:r>
            <a:r>
              <a:rPr lang="en-US" sz="2400" dirty="0"/>
              <a:t>() rotates the motor to 0 degrees, unfolding the straw to allow water flow</a:t>
            </a:r>
            <a:endParaRPr lang="en-PH" sz="2400" dirty="0"/>
          </a:p>
        </p:txBody>
      </p:sp>
      <p:pic>
        <p:nvPicPr>
          <p:cNvPr id="5" name="Picture 4">
            <a:extLst>
              <a:ext uri="{FF2B5EF4-FFF2-40B4-BE49-F238E27FC236}">
                <a16:creationId xmlns:a16="http://schemas.microsoft.com/office/drawing/2014/main" id="{7C8E0F38-FEC8-4480-C163-4C8241813E8B}"/>
              </a:ext>
            </a:extLst>
          </p:cNvPr>
          <p:cNvPicPr>
            <a:picLocks noChangeAspect="1"/>
          </p:cNvPicPr>
          <p:nvPr/>
        </p:nvPicPr>
        <p:blipFill rotWithShape="1">
          <a:blip r:embed="rId2">
            <a:extLst>
              <a:ext uri="{28A0092B-C50C-407E-A947-70E740481C1C}">
                <a14:useLocalDpi xmlns:a14="http://schemas.microsoft.com/office/drawing/2010/main" val="0"/>
              </a:ext>
            </a:extLst>
          </a:blip>
          <a:srcRect l="17258" t="11871" r="31086" b="11525"/>
          <a:stretch/>
        </p:blipFill>
        <p:spPr>
          <a:xfrm rot="5400000">
            <a:off x="8605266" y="273595"/>
            <a:ext cx="1682151" cy="3326072"/>
          </a:xfrm>
          <a:prstGeom prst="rect">
            <a:avLst/>
          </a:prstGeom>
        </p:spPr>
      </p:pic>
      <p:pic>
        <p:nvPicPr>
          <p:cNvPr id="8" name="Picture 7">
            <a:extLst>
              <a:ext uri="{FF2B5EF4-FFF2-40B4-BE49-F238E27FC236}">
                <a16:creationId xmlns:a16="http://schemas.microsoft.com/office/drawing/2014/main" id="{625688F4-C05F-2702-60D0-B8E402DE9577}"/>
              </a:ext>
            </a:extLst>
          </p:cNvPr>
          <p:cNvPicPr>
            <a:picLocks noChangeAspect="1"/>
          </p:cNvPicPr>
          <p:nvPr/>
        </p:nvPicPr>
        <p:blipFill rotWithShape="1">
          <a:blip r:embed="rId3">
            <a:extLst>
              <a:ext uri="{28A0092B-C50C-407E-A947-70E740481C1C}">
                <a14:useLocalDpi xmlns:a14="http://schemas.microsoft.com/office/drawing/2010/main" val="0"/>
              </a:ext>
            </a:extLst>
          </a:blip>
          <a:srcRect t="16876"/>
          <a:stretch/>
        </p:blipFill>
        <p:spPr>
          <a:xfrm rot="16200000">
            <a:off x="7945848" y="2774438"/>
            <a:ext cx="3001314" cy="3326400"/>
          </a:xfrm>
          <a:prstGeom prst="rect">
            <a:avLst/>
          </a:prstGeom>
        </p:spPr>
      </p:pic>
    </p:spTree>
    <p:extLst>
      <p:ext uri="{BB962C8B-B14F-4D97-AF65-F5344CB8AC3E}">
        <p14:creationId xmlns:p14="http://schemas.microsoft.com/office/powerpoint/2010/main" val="68805936"/>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065873-699C-F40C-2689-5D3AF5211A24}"/>
              </a:ext>
            </a:extLst>
          </p:cNvPr>
          <p:cNvSpPr>
            <a:spLocks noGrp="1"/>
          </p:cNvSpPr>
          <p:nvPr>
            <p:ph type="title"/>
          </p:nvPr>
        </p:nvSpPr>
        <p:spPr/>
        <p:txBody>
          <a:bodyPr/>
          <a:lstStyle/>
          <a:p>
            <a:r>
              <a:rPr lang="en-US" dirty="0"/>
              <a:t>Discussion: Watering Plant System</a:t>
            </a:r>
            <a:endParaRPr lang="en-PH" dirty="0"/>
          </a:p>
        </p:txBody>
      </p:sp>
      <p:sp>
        <p:nvSpPr>
          <p:cNvPr id="3" name="Content Placeholder 2">
            <a:extLst>
              <a:ext uri="{FF2B5EF4-FFF2-40B4-BE49-F238E27FC236}">
                <a16:creationId xmlns:a16="http://schemas.microsoft.com/office/drawing/2014/main" id="{5E063ACE-958C-A417-12FB-E89D27E6F798}"/>
              </a:ext>
            </a:extLst>
          </p:cNvPr>
          <p:cNvSpPr>
            <a:spLocks noGrp="1"/>
          </p:cNvSpPr>
          <p:nvPr>
            <p:ph idx="1"/>
          </p:nvPr>
        </p:nvSpPr>
        <p:spPr>
          <a:xfrm>
            <a:off x="288435" y="2307588"/>
            <a:ext cx="6904903" cy="2242823"/>
          </a:xfrm>
        </p:spPr>
        <p:txBody>
          <a:bodyPr>
            <a:normAutofit/>
          </a:bodyPr>
          <a:lstStyle/>
          <a:p>
            <a:pPr algn="just">
              <a:spcAft>
                <a:spcPts val="600"/>
              </a:spcAft>
              <a:buFont typeface="Wingdings" panose="05000000000000000000" pitchFamily="2" charset="2"/>
              <a:buChar char="Ø"/>
            </a:pPr>
            <a:r>
              <a:rPr lang="en-US" sz="2400" dirty="0"/>
              <a:t> For LCD, LiquidCrystal_I2C library was used</a:t>
            </a:r>
          </a:p>
          <a:p>
            <a:pPr algn="just">
              <a:spcAft>
                <a:spcPts val="600"/>
              </a:spcAft>
              <a:buFont typeface="Wingdings" panose="05000000000000000000" pitchFamily="2" charset="2"/>
              <a:buChar char="Ø"/>
            </a:pPr>
            <a:r>
              <a:rPr lang="en-US" sz="2400" dirty="0"/>
              <a:t> Lines in the output were also manipulated with rows and columns </a:t>
            </a:r>
          </a:p>
          <a:p>
            <a:pPr algn="just">
              <a:spcAft>
                <a:spcPts val="600"/>
              </a:spcAft>
              <a:buFont typeface="Wingdings" panose="05000000000000000000" pitchFamily="2" charset="2"/>
              <a:buChar char="Ø"/>
            </a:pPr>
            <a:r>
              <a:rPr lang="en-US" sz="2400" dirty="0"/>
              <a:t> Ranges and their corresponding percentages were displayed</a:t>
            </a:r>
            <a:endParaRPr lang="en-PH" sz="2400" dirty="0"/>
          </a:p>
        </p:txBody>
      </p:sp>
      <p:pic>
        <p:nvPicPr>
          <p:cNvPr id="5" name="Picture 4">
            <a:extLst>
              <a:ext uri="{FF2B5EF4-FFF2-40B4-BE49-F238E27FC236}">
                <a16:creationId xmlns:a16="http://schemas.microsoft.com/office/drawing/2014/main" id="{7C8E0F38-FEC8-4480-C163-4C8241813E8B}"/>
              </a:ext>
            </a:extLst>
          </p:cNvPr>
          <p:cNvPicPr>
            <a:picLocks noChangeAspect="1"/>
          </p:cNvPicPr>
          <p:nvPr/>
        </p:nvPicPr>
        <p:blipFill rotWithShape="1">
          <a:blip r:embed="rId2">
            <a:extLst>
              <a:ext uri="{28A0092B-C50C-407E-A947-70E740481C1C}">
                <a14:useLocalDpi xmlns:a14="http://schemas.microsoft.com/office/drawing/2010/main" val="0"/>
              </a:ext>
            </a:extLst>
          </a:blip>
          <a:srcRect l="17258" t="11871" r="31086" b="11525"/>
          <a:stretch/>
        </p:blipFill>
        <p:spPr>
          <a:xfrm rot="5400000">
            <a:off x="8605266" y="273595"/>
            <a:ext cx="1682151" cy="3326072"/>
          </a:xfrm>
          <a:prstGeom prst="rect">
            <a:avLst/>
          </a:prstGeom>
        </p:spPr>
      </p:pic>
      <p:pic>
        <p:nvPicPr>
          <p:cNvPr id="8" name="Picture 7">
            <a:extLst>
              <a:ext uri="{FF2B5EF4-FFF2-40B4-BE49-F238E27FC236}">
                <a16:creationId xmlns:a16="http://schemas.microsoft.com/office/drawing/2014/main" id="{625688F4-C05F-2702-60D0-B8E402DE9577}"/>
              </a:ext>
            </a:extLst>
          </p:cNvPr>
          <p:cNvPicPr>
            <a:picLocks noChangeAspect="1"/>
          </p:cNvPicPr>
          <p:nvPr/>
        </p:nvPicPr>
        <p:blipFill rotWithShape="1">
          <a:blip r:embed="rId3">
            <a:extLst>
              <a:ext uri="{28A0092B-C50C-407E-A947-70E740481C1C}">
                <a14:useLocalDpi xmlns:a14="http://schemas.microsoft.com/office/drawing/2010/main" val="0"/>
              </a:ext>
            </a:extLst>
          </a:blip>
          <a:srcRect t="16876"/>
          <a:stretch/>
        </p:blipFill>
        <p:spPr>
          <a:xfrm rot="16200000">
            <a:off x="7945848" y="2774438"/>
            <a:ext cx="3001314" cy="3326400"/>
          </a:xfrm>
          <a:prstGeom prst="rect">
            <a:avLst/>
          </a:prstGeom>
        </p:spPr>
      </p:pic>
    </p:spTree>
    <p:extLst>
      <p:ext uri="{BB962C8B-B14F-4D97-AF65-F5344CB8AC3E}">
        <p14:creationId xmlns:p14="http://schemas.microsoft.com/office/powerpoint/2010/main" val="1667399588"/>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620D87-3C2B-E0E7-BF4C-034764EEB910}"/>
              </a:ext>
            </a:extLst>
          </p:cNvPr>
          <p:cNvSpPr>
            <a:spLocks noGrp="1"/>
          </p:cNvSpPr>
          <p:nvPr>
            <p:ph type="title"/>
          </p:nvPr>
        </p:nvSpPr>
        <p:spPr/>
        <p:txBody>
          <a:bodyPr/>
          <a:lstStyle/>
          <a:p>
            <a:r>
              <a:rPr lang="en-US" dirty="0"/>
              <a:t>Conclusion</a:t>
            </a:r>
            <a:endParaRPr lang="en-PH" dirty="0"/>
          </a:p>
        </p:txBody>
      </p:sp>
      <p:sp>
        <p:nvSpPr>
          <p:cNvPr id="3" name="Content Placeholder 2">
            <a:extLst>
              <a:ext uri="{FF2B5EF4-FFF2-40B4-BE49-F238E27FC236}">
                <a16:creationId xmlns:a16="http://schemas.microsoft.com/office/drawing/2014/main" id="{C7CCB3A3-7EAD-78B9-B327-F3EEF871EAA5}"/>
              </a:ext>
            </a:extLst>
          </p:cNvPr>
          <p:cNvSpPr>
            <a:spLocks noGrp="1"/>
          </p:cNvSpPr>
          <p:nvPr>
            <p:ph idx="1"/>
          </p:nvPr>
        </p:nvSpPr>
        <p:spPr>
          <a:xfrm>
            <a:off x="298154" y="1156700"/>
            <a:ext cx="10364095" cy="5062945"/>
          </a:xfrm>
        </p:spPr>
        <p:txBody>
          <a:bodyPr>
            <a:normAutofit/>
          </a:bodyPr>
          <a:lstStyle/>
          <a:p>
            <a:pPr algn="just">
              <a:buFont typeface="Wingdings" panose="05000000000000000000" pitchFamily="2" charset="2"/>
              <a:buChar char="Ø"/>
            </a:pPr>
            <a:r>
              <a:rPr lang="en-US" dirty="0"/>
              <a:t> The watering plant system works by detecting the moisture percentage of the soil, unfolding the straw to allow water flow if the soil moisture detected is Dry or Below Normal, and folding the straw if the soil moisture detected is Normal or Submerged</a:t>
            </a:r>
          </a:p>
          <a:p>
            <a:pPr algn="just">
              <a:buFont typeface="Wingdings" panose="05000000000000000000" pitchFamily="2" charset="2"/>
              <a:buChar char="Ø"/>
            </a:pPr>
            <a:r>
              <a:rPr lang="en-US" dirty="0"/>
              <a:t> Through series connections, pin layouts, and sensor and motor triggering, the usage of microprocessors, logic circuits, and switching theory were illustrated.</a:t>
            </a:r>
          </a:p>
          <a:p>
            <a:pPr algn="just">
              <a:buFont typeface="Wingdings" panose="05000000000000000000" pitchFamily="2" charset="2"/>
              <a:buChar char="Ø"/>
            </a:pPr>
            <a:r>
              <a:rPr lang="en-US" dirty="0"/>
              <a:t> The watering plant system was successfully developed and exhibited in a basic handshaking as an outcome of employing many variables, modules, and calling such functions to construct an embedded system.</a:t>
            </a:r>
            <a:endParaRPr lang="en-PH" dirty="0"/>
          </a:p>
        </p:txBody>
      </p:sp>
    </p:spTree>
    <p:extLst>
      <p:ext uri="{BB962C8B-B14F-4D97-AF65-F5344CB8AC3E}">
        <p14:creationId xmlns:p14="http://schemas.microsoft.com/office/powerpoint/2010/main" val="1564585344"/>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2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045B03F0E29F341B8FA8A02C69678F2" ma:contentTypeVersion="16" ma:contentTypeDescription="Create a new document." ma:contentTypeScope="" ma:versionID="573093756d776e3dbf04c8eb240bd85a">
  <xsd:schema xmlns:xsd="http://www.w3.org/2001/XMLSchema" xmlns:xs="http://www.w3.org/2001/XMLSchema" xmlns:p="http://schemas.microsoft.com/office/2006/metadata/properties" xmlns:ns2="1ea434b8-4dc5-44f7-bb31-0866ee440822" xmlns:ns3="d90711d2-37bb-4b26-8b23-51c02972fe26" targetNamespace="http://schemas.microsoft.com/office/2006/metadata/properties" ma:root="true" ma:fieldsID="00a48d9f954b4b23e62df43abd264511" ns2:_="" ns3:_="">
    <xsd:import namespace="1ea434b8-4dc5-44f7-bb31-0866ee440822"/>
    <xsd:import namespace="d90711d2-37bb-4b26-8b23-51c02972fe26"/>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element ref="ns2:MediaLengthInSeconds" minOccurs="0"/>
                <xsd:element ref="ns2:MediaServiceLocation" minOccurs="0"/>
                <xsd:element ref="ns3:SharedWithUsers" minOccurs="0"/>
                <xsd:element ref="ns3:SharedWithDetail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ea434b8-4dc5-44f7-bb31-0866ee44082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Location" ma:index="18"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908379bb-b442-46b3-b8c0-8817e2eba016"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d90711d2-37bb-4b26-8b23-51c02972fe26" elementFormDefault="qualified">
    <xsd:import namespace="http://schemas.microsoft.com/office/2006/documentManagement/types"/>
    <xsd:import namespace="http://schemas.microsoft.com/office/infopath/2007/PartnerControls"/>
    <xsd:element name="SharedWithUsers" ma:index="1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0"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bf5686e5-f3f9-4684-9809-4e223b1b0fd7}" ma:internalName="TaxCatchAll" ma:showField="CatchAllData" ma:web="d90711d2-37bb-4b26-8b23-51c02972fe2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haredWithUsers xmlns="d90711d2-37bb-4b26-8b23-51c02972fe26">
      <UserInfo>
        <DisplayName/>
        <AccountId xsi:nil="true"/>
        <AccountType/>
      </UserInfo>
    </SharedWithUsers>
    <lcf76f155ced4ddcb4097134ff3c332f xmlns="1ea434b8-4dc5-44f7-bb31-0866ee440822">
      <Terms xmlns="http://schemas.microsoft.com/office/infopath/2007/PartnerControls"/>
    </lcf76f155ced4ddcb4097134ff3c332f>
    <TaxCatchAll xmlns="d90711d2-37bb-4b26-8b23-51c02972fe26"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C7BBEC2-693C-4BAB-A217-B3E9F46427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ea434b8-4dc5-44f7-bb31-0866ee440822"/>
    <ds:schemaRef ds:uri="d90711d2-37bb-4b26-8b23-51c02972fe2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EFBD36D-DAE8-46CB-B778-7C1B43AD43BF}">
  <ds:schemaRefs>
    <ds:schemaRef ds:uri="http://purl.org/dc/terms/"/>
    <ds:schemaRef ds:uri="http://schemas.microsoft.com/office/2006/documentManagement/types"/>
    <ds:schemaRef ds:uri="92cb724c-d654-454f-915d-237124a8a1a9"/>
    <ds:schemaRef ds:uri="http://purl.org/dc/dcmitype/"/>
    <ds:schemaRef ds:uri="http://purl.org/dc/elements/1.1/"/>
    <ds:schemaRef ds:uri="http://www.w3.org/XML/1998/namespace"/>
    <ds:schemaRef ds:uri="http://schemas.microsoft.com/office/infopath/2007/PartnerControls"/>
    <ds:schemaRef ds:uri="http://schemas.openxmlformats.org/package/2006/metadata/core-properties"/>
    <ds:schemaRef ds:uri="4b30f15d-6c4d-47ed-bde6-797b56236eb0"/>
    <ds:schemaRef ds:uri="http://schemas.microsoft.com/office/2006/metadata/properties"/>
    <ds:schemaRef ds:uri="d90711d2-37bb-4b26-8b23-51c02972fe26"/>
    <ds:schemaRef ds:uri="1ea434b8-4dc5-44f7-bb31-0866ee440822"/>
  </ds:schemaRefs>
</ds:datastoreItem>
</file>

<file path=customXml/itemProps3.xml><?xml version="1.0" encoding="utf-8"?>
<ds:datastoreItem xmlns:ds="http://schemas.openxmlformats.org/officeDocument/2006/customXml" ds:itemID="{DA769C6F-6ADF-412F-8F70-2DD1A151B0C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3448</TotalTime>
  <Words>470</Words>
  <Application>Microsoft Office PowerPoint</Application>
  <PresentationFormat>Widescreen</PresentationFormat>
  <Paragraphs>42</Paragraphs>
  <Slides>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8</vt:i4>
      </vt:variant>
    </vt:vector>
  </HeadingPairs>
  <TitlesOfParts>
    <vt:vector size="16" baseType="lpstr">
      <vt:lpstr>Arial</vt:lpstr>
      <vt:lpstr>Calibri</vt:lpstr>
      <vt:lpstr>Calibri Light</vt:lpstr>
      <vt:lpstr>Open Sans</vt:lpstr>
      <vt:lpstr>Segoe UI</vt:lpstr>
      <vt:lpstr>Times New Roman</vt:lpstr>
      <vt:lpstr>Wingdings</vt:lpstr>
      <vt:lpstr>2_Office Theme</vt:lpstr>
      <vt:lpstr>Watering Plant System</vt:lpstr>
      <vt:lpstr>Introduction: Soil Quality and Plant Maintenance</vt:lpstr>
      <vt:lpstr>Objectives</vt:lpstr>
      <vt:lpstr>Materials</vt:lpstr>
      <vt:lpstr>Discussion: Watering Plant System</vt:lpstr>
      <vt:lpstr>Discussion: Watering Plant System</vt:lpstr>
      <vt:lpstr>Discussion: Watering Plant System</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orientation will start in</dc:title>
  <dc:subject/>
  <dc:creator>Jessica Pauline L. Faigones</dc:creator>
  <cp:keywords/>
  <dc:description/>
  <cp:lastModifiedBy>Raphael Nano</cp:lastModifiedBy>
  <cp:revision>295</cp:revision>
  <dcterms:created xsi:type="dcterms:W3CDTF">2020-06-10T07:30:38Z</dcterms:created>
  <dcterms:modified xsi:type="dcterms:W3CDTF">2023-09-27T12:24:04Z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r8>182800</vt:r8>
  </property>
  <property fmtid="{D5CDD505-2E9C-101B-9397-08002B2CF9AE}" pid="3" name="ContentTypeId">
    <vt:lpwstr>0x0101000045B03F0E29F341B8FA8A02C69678F2</vt:lpwstr>
  </property>
  <property fmtid="{D5CDD505-2E9C-101B-9397-08002B2CF9AE}" pid="4" name="ComplianceAssetId">
    <vt:lpwstr/>
  </property>
</Properties>
</file>