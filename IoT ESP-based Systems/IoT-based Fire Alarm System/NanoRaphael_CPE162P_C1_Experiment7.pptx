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7"/>
  </p:notesMasterIdLst>
  <p:handoutMasterIdLst>
    <p:handoutMasterId r:id="rId18"/>
  </p:handoutMasterIdLst>
  <p:sldIdLst>
    <p:sldId id="881" r:id="rId5"/>
    <p:sldId id="943" r:id="rId6"/>
    <p:sldId id="944" r:id="rId7"/>
    <p:sldId id="945" r:id="rId8"/>
    <p:sldId id="956" r:id="rId9"/>
    <p:sldId id="954" r:id="rId10"/>
    <p:sldId id="960" r:id="rId11"/>
    <p:sldId id="967" r:id="rId12"/>
    <p:sldId id="968" r:id="rId13"/>
    <p:sldId id="964" r:id="rId14"/>
    <p:sldId id="949" r:id="rId15"/>
    <p:sldId id="9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onis A. Padilla" initials="DAP" lastIdx="1" clrIdx="0">
    <p:extLst>
      <p:ext uri="{19B8F6BF-5375-455C-9EA6-DF929625EA0E}">
        <p15:presenceInfo xmlns:p15="http://schemas.microsoft.com/office/powerpoint/2012/main" userId="S::dapadilla@mapua.edu.ph::22fd53f7-3725-4d55-add0-dfc6f0ea2c9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50021"/>
    <a:srgbClr val="E1261C"/>
    <a:srgbClr val="F9F9F9"/>
    <a:srgbClr val="CCAF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90898" autoAdjust="0"/>
  </p:normalViewPr>
  <p:slideViewPr>
    <p:cSldViewPr snapToGrid="0">
      <p:cViewPr varScale="1">
        <p:scale>
          <a:sx n="81" d="100"/>
          <a:sy n="81" d="100"/>
        </p:scale>
        <p:origin x="835" y="53"/>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24" d="100"/>
          <a:sy n="124" d="100"/>
        </p:scale>
        <p:origin x="40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AF2D7B-A1C4-422F-8BEC-B2ADA9B38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4CB62-60B8-42ED-B41D-1204D6EC34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84004C-1C80-46E0-9113-8DACE1C8170C}" type="datetimeFigureOut">
              <a:rPr lang="en-US" smtClean="0"/>
              <a:t>4/12/2024</a:t>
            </a:fld>
            <a:endParaRPr lang="en-US"/>
          </a:p>
        </p:txBody>
      </p:sp>
      <p:sp>
        <p:nvSpPr>
          <p:cNvPr id="4" name="Footer Placeholder 3">
            <a:extLst>
              <a:ext uri="{FF2B5EF4-FFF2-40B4-BE49-F238E27FC236}">
                <a16:creationId xmlns:a16="http://schemas.microsoft.com/office/drawing/2014/main" id="{CA98C740-DCA6-4653-8D38-299256130F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77E7C8-7A32-480E-8E8D-D8E4B9A035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514B00-5376-4F9D-B569-068DF0409359}" type="slidenum">
              <a:rPr lang="en-US" smtClean="0"/>
              <a:t>‹#›</a:t>
            </a:fld>
            <a:endParaRPr lang="en-US"/>
          </a:p>
        </p:txBody>
      </p:sp>
    </p:spTree>
    <p:extLst>
      <p:ext uri="{BB962C8B-B14F-4D97-AF65-F5344CB8AC3E}">
        <p14:creationId xmlns:p14="http://schemas.microsoft.com/office/powerpoint/2010/main" val="3222357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E3EBA-9407-2244-8D2E-48917138C0BF}" type="datetimeFigureOut">
              <a:rPr lang="en-US" smtClean="0"/>
              <a:t>4/12/2024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B4D408-4DFC-BF47-8641-93FB6C18070A}" type="slidenum">
              <a:rPr lang="en-US" smtClean="0"/>
              <a:t>‹#›</a:t>
            </a:fld>
            <a:endParaRPr lang="en-US"/>
          </a:p>
        </p:txBody>
      </p:sp>
    </p:spTree>
    <p:extLst>
      <p:ext uri="{BB962C8B-B14F-4D97-AF65-F5344CB8AC3E}">
        <p14:creationId xmlns:p14="http://schemas.microsoft.com/office/powerpoint/2010/main" val="482652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B4D408-4DFC-BF47-8641-93FB6C18070A}" type="slidenum">
              <a:rPr lang="en-US" smtClean="0"/>
              <a:t>1</a:t>
            </a:fld>
            <a:endParaRPr lang="en-US"/>
          </a:p>
        </p:txBody>
      </p:sp>
    </p:spTree>
    <p:extLst>
      <p:ext uri="{BB962C8B-B14F-4D97-AF65-F5344CB8AC3E}">
        <p14:creationId xmlns:p14="http://schemas.microsoft.com/office/powerpoint/2010/main" val="1557724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2</a:t>
            </a:fld>
            <a:endParaRPr lang="en-US"/>
          </a:p>
        </p:txBody>
      </p:sp>
    </p:spTree>
    <p:extLst>
      <p:ext uri="{BB962C8B-B14F-4D97-AF65-F5344CB8AC3E}">
        <p14:creationId xmlns:p14="http://schemas.microsoft.com/office/powerpoint/2010/main" val="37962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3</a:t>
            </a:fld>
            <a:endParaRPr lang="en-US"/>
          </a:p>
        </p:txBody>
      </p:sp>
    </p:spTree>
    <p:extLst>
      <p:ext uri="{BB962C8B-B14F-4D97-AF65-F5344CB8AC3E}">
        <p14:creationId xmlns:p14="http://schemas.microsoft.com/office/powerpoint/2010/main" val="3931523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4</a:t>
            </a:fld>
            <a:endParaRPr lang="en-US"/>
          </a:p>
        </p:txBody>
      </p:sp>
    </p:spTree>
    <p:extLst>
      <p:ext uri="{BB962C8B-B14F-4D97-AF65-F5344CB8AC3E}">
        <p14:creationId xmlns:p14="http://schemas.microsoft.com/office/powerpoint/2010/main" val="747230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5</a:t>
            </a:fld>
            <a:endParaRPr lang="en-US"/>
          </a:p>
        </p:txBody>
      </p:sp>
    </p:spTree>
    <p:extLst>
      <p:ext uri="{BB962C8B-B14F-4D97-AF65-F5344CB8AC3E}">
        <p14:creationId xmlns:p14="http://schemas.microsoft.com/office/powerpoint/2010/main" val="1186307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6</a:t>
            </a:fld>
            <a:endParaRPr lang="en-US"/>
          </a:p>
        </p:txBody>
      </p:sp>
    </p:spTree>
    <p:extLst>
      <p:ext uri="{BB962C8B-B14F-4D97-AF65-F5344CB8AC3E}">
        <p14:creationId xmlns:p14="http://schemas.microsoft.com/office/powerpoint/2010/main" val="2422507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7</a:t>
            </a:fld>
            <a:endParaRPr lang="en-US"/>
          </a:p>
        </p:txBody>
      </p:sp>
    </p:spTree>
    <p:extLst>
      <p:ext uri="{BB962C8B-B14F-4D97-AF65-F5344CB8AC3E}">
        <p14:creationId xmlns:p14="http://schemas.microsoft.com/office/powerpoint/2010/main" val="4086808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8</a:t>
            </a:fld>
            <a:endParaRPr lang="en-US"/>
          </a:p>
        </p:txBody>
      </p:sp>
    </p:spTree>
    <p:extLst>
      <p:ext uri="{BB962C8B-B14F-4D97-AF65-F5344CB8AC3E}">
        <p14:creationId xmlns:p14="http://schemas.microsoft.com/office/powerpoint/2010/main" val="4154575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9</a:t>
            </a:fld>
            <a:endParaRPr lang="en-US"/>
          </a:p>
        </p:txBody>
      </p:sp>
    </p:spTree>
    <p:extLst>
      <p:ext uri="{BB962C8B-B14F-4D97-AF65-F5344CB8AC3E}">
        <p14:creationId xmlns:p14="http://schemas.microsoft.com/office/powerpoint/2010/main" val="1352849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C7EC5-4D7C-1B5F-C542-9EB92718D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85B6BB-ED4B-BC2E-498E-B79AE8D0A4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4F2800-EA72-0206-A0EA-21A084F865EA}"/>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44DD784-2681-EA64-74E5-AA69D9C2FE7D}"/>
              </a:ext>
            </a:extLst>
          </p:cNvPr>
          <p:cNvSpPr>
            <a:spLocks noGrp="1"/>
          </p:cNvSpPr>
          <p:nvPr>
            <p:ph type="sldNum" sz="quarter" idx="5"/>
          </p:nvPr>
        </p:nvSpPr>
        <p:spPr/>
        <p:txBody>
          <a:bodyPr/>
          <a:lstStyle/>
          <a:p>
            <a:fld id="{2EB4D408-4DFC-BF47-8641-93FB6C18070A}" type="slidenum">
              <a:rPr lang="en-US" smtClean="0"/>
              <a:t>10</a:t>
            </a:fld>
            <a:endParaRPr lang="en-US"/>
          </a:p>
        </p:txBody>
      </p:sp>
    </p:spTree>
    <p:extLst>
      <p:ext uri="{BB962C8B-B14F-4D97-AF65-F5344CB8AC3E}">
        <p14:creationId xmlns:p14="http://schemas.microsoft.com/office/powerpoint/2010/main" val="1588212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12</a:t>
            </a:fld>
            <a:endParaRPr lang="en-US"/>
          </a:p>
        </p:txBody>
      </p:sp>
    </p:spTree>
    <p:extLst>
      <p:ext uri="{BB962C8B-B14F-4D97-AF65-F5344CB8AC3E}">
        <p14:creationId xmlns:p14="http://schemas.microsoft.com/office/powerpoint/2010/main" val="19706123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8500487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8435" y="282298"/>
            <a:ext cx="9383339" cy="512401"/>
          </a:xfrm>
        </p:spPr>
        <p:txBody>
          <a:bodyPr>
            <a:noAutofit/>
          </a:bodyPr>
          <a:lstStyle>
            <a:lvl1pPr>
              <a:defRPr sz="3200" b="1">
                <a:solidFill>
                  <a:srgbClr val="FFFF00"/>
                </a:solidFill>
                <a:latin typeface="Segoe UI" panose="020B0502040204020203" pitchFamily="34" charset="0"/>
                <a:cs typeface="Segoe UI" panose="020B0502040204020203" pitchFamily="34" charset="0"/>
              </a:defRPr>
            </a:lvl1pPr>
          </a:lstStyle>
          <a:p>
            <a:r>
              <a:rPr lang="en-US" dirty="0"/>
              <a:t>Click to edit Master title style</a:t>
            </a:r>
            <a:endParaRPr lang="en-PH" dirty="0"/>
          </a:p>
        </p:txBody>
      </p:sp>
      <p:sp>
        <p:nvSpPr>
          <p:cNvPr id="3" name="Content Placeholder 2"/>
          <p:cNvSpPr>
            <a:spLocks noGrp="1"/>
          </p:cNvSpPr>
          <p:nvPr>
            <p:ph idx="1"/>
          </p:nvPr>
        </p:nvSpPr>
        <p:spPr>
          <a:xfrm>
            <a:off x="298154" y="1156700"/>
            <a:ext cx="10564182" cy="4556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92166501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62147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025732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8" name="Footer Placeholder 7"/>
          <p:cNvSpPr>
            <a:spLocks noGrp="1"/>
          </p:cNvSpPr>
          <p:nvPr>
            <p:ph type="ftr" sz="quarter" idx="11"/>
          </p:nvPr>
        </p:nvSpPr>
        <p:spPr/>
        <p:txBody>
          <a:bodyPr/>
          <a:lstStyle/>
          <a:p>
            <a:endParaRPr lang="en-PH">
              <a:solidFill>
                <a:prstClr val="black">
                  <a:tint val="75000"/>
                </a:prstClr>
              </a:solidFill>
            </a:endParaRPr>
          </a:p>
        </p:txBody>
      </p:sp>
      <p:sp>
        <p:nvSpPr>
          <p:cNvPr id="9" name="Slide Number Placeholder 8"/>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20507854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4" name="Footer Placeholder 3"/>
          <p:cNvSpPr>
            <a:spLocks noGrp="1"/>
          </p:cNvSpPr>
          <p:nvPr>
            <p:ph type="ftr" sz="quarter" idx="11"/>
          </p:nvPr>
        </p:nvSpPr>
        <p:spPr/>
        <p:txBody>
          <a:bodyPr/>
          <a:lstStyle/>
          <a:p>
            <a:endParaRPr lang="en-PH">
              <a:solidFill>
                <a:prstClr val="black">
                  <a:tint val="75000"/>
                </a:prstClr>
              </a:solidFill>
            </a:endParaRPr>
          </a:p>
        </p:txBody>
      </p:sp>
      <p:sp>
        <p:nvSpPr>
          <p:cNvPr id="5" name="Slide Number Placeholder 4"/>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06887562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56304547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984543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65130847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04205280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B8A35F-61D6-417E-8CA4-3FFFB03A1EF2}" type="datetimeFigureOut">
              <a:rPr lang="en-PH" smtClean="0">
                <a:solidFill>
                  <a:prstClr val="black">
                    <a:tint val="75000"/>
                  </a:prstClr>
                </a:solidFill>
              </a:rPr>
              <a:pPr/>
              <a:t>12/04/2024</a:t>
            </a:fld>
            <a:endParaRPr lang="en-PH">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362438672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4" r:id="rId7"/>
    <p:sldLayoutId id="2147483835" r:id="rId8"/>
    <p:sldLayoutId id="2147483836" r:id="rId9"/>
    <p:sldLayoutId id="2147483837" r:id="rId10"/>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stretch>
            <a:fillRect/>
          </a:stretch>
        </a:blipFill>
        <a:effectLst/>
      </p:bgPr>
    </p:bg>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284766" y="846685"/>
            <a:ext cx="6812006" cy="711200"/>
          </a:xfrm>
          <a:prstGeom prst="rect">
            <a:avLst/>
          </a:prstGeom>
          <a:noFill/>
          <a:ln>
            <a:noFill/>
          </a:ln>
        </p:spPr>
        <p:txBody>
          <a:bodyPr wrap="square" lIns="91425" tIns="45700" rIns="91425" bIns="45700" anchor="b" anchorCtr="0">
            <a:noAutofit/>
          </a:bodyPr>
          <a:lstStyle/>
          <a:p>
            <a:pPr lvl="0" indent="-203200" algn="l">
              <a:spcBef>
                <a:spcPts val="0"/>
              </a:spcBef>
              <a:buClr>
                <a:srgbClr val="FFFF00"/>
              </a:buClr>
              <a:buSzPct val="100000"/>
            </a:pPr>
            <a:r>
              <a:rPr lang="en-US" sz="4000" b="1" dirty="0">
                <a:solidFill>
                  <a:srgbClr val="FFFF00"/>
                </a:solidFill>
                <a:latin typeface="Segoe UI" panose="020B0502040204020203" pitchFamily="34" charset="0"/>
                <a:ea typeface="Arial"/>
                <a:cs typeface="Segoe UI" panose="020B0502040204020203" pitchFamily="34" charset="0"/>
                <a:sym typeface="Arial"/>
              </a:rPr>
              <a:t>IOT-BASED FIRE ALARM SYSTEM</a:t>
            </a:r>
            <a:endParaRPr lang="en-PH" sz="4000" b="1" dirty="0">
              <a:solidFill>
                <a:srgbClr val="FFFF00"/>
              </a:solidFill>
              <a:latin typeface="Segoe UI" panose="020B0502040204020203" pitchFamily="34" charset="0"/>
              <a:ea typeface="Arial"/>
              <a:cs typeface="Segoe UI" panose="020B0502040204020203" pitchFamily="34" charset="0"/>
              <a:sym typeface="Arial"/>
            </a:endParaRPr>
          </a:p>
        </p:txBody>
      </p:sp>
      <p:sp>
        <p:nvSpPr>
          <p:cNvPr id="13" name="Shape 13"/>
          <p:cNvSpPr txBox="1">
            <a:spLocks noGrp="1"/>
          </p:cNvSpPr>
          <p:nvPr>
            <p:ph type="subTitle" idx="1"/>
          </p:nvPr>
        </p:nvSpPr>
        <p:spPr>
          <a:xfrm>
            <a:off x="284766" y="1557885"/>
            <a:ext cx="6034670" cy="1095521"/>
          </a:xfrm>
          <a:prstGeom prst="rect">
            <a:avLst/>
          </a:prstGeom>
          <a:noFill/>
          <a:ln>
            <a:noFill/>
          </a:ln>
        </p:spPr>
        <p:txBody>
          <a:bodyPr wrap="square" lIns="91425" tIns="45700" rIns="91425" bIns="45700" anchor="t" anchorCtr="0">
            <a:noAutofit/>
          </a:bodyPr>
          <a:lstStyle/>
          <a:p>
            <a:pPr lvl="0" indent="-127000" algn="l">
              <a:spcBef>
                <a:spcPts val="0"/>
              </a:spcBef>
              <a:buClr>
                <a:schemeClr val="lt1"/>
              </a:buClr>
              <a:buSzPct val="100000"/>
            </a:pPr>
            <a:r>
              <a:rPr lang="en-GB" sz="3200" b="1" dirty="0">
                <a:solidFill>
                  <a:schemeClr val="lt1"/>
                </a:solidFill>
                <a:latin typeface="Segoe UI" panose="020B0502040204020203" pitchFamily="34" charset="0"/>
                <a:ea typeface="Arial"/>
                <a:cs typeface="Segoe UI" panose="020B0502040204020203" pitchFamily="34" charset="0"/>
                <a:sym typeface="Arial"/>
              </a:rPr>
              <a:t>Experiment 7</a:t>
            </a:r>
          </a:p>
        </p:txBody>
      </p:sp>
      <p:sp>
        <p:nvSpPr>
          <p:cNvPr id="8" name="Text Placeholder 2">
            <a:extLst>
              <a:ext uri="{FF2B5EF4-FFF2-40B4-BE49-F238E27FC236}">
                <a16:creationId xmlns:a16="http://schemas.microsoft.com/office/drawing/2014/main" id="{BB0E7A66-65F8-4D09-A464-3721AFFC3633}"/>
              </a:ext>
            </a:extLst>
          </p:cNvPr>
          <p:cNvSpPr txBox="1">
            <a:spLocks/>
          </p:cNvSpPr>
          <p:nvPr/>
        </p:nvSpPr>
        <p:spPr>
          <a:xfrm>
            <a:off x="147702" y="5904349"/>
            <a:ext cx="6949070" cy="770513"/>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Computer Engineering Department</a:t>
            </a:r>
          </a:p>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School of Electrical, Electronics, and Computer Engineering</a:t>
            </a:r>
          </a:p>
        </p:txBody>
      </p:sp>
      <p:pic>
        <p:nvPicPr>
          <p:cNvPr id="3" name="Picture 2" descr="A picture containing object, measure, clock, cup&#10;&#10;Description automatically generated">
            <a:extLst>
              <a:ext uri="{FF2B5EF4-FFF2-40B4-BE49-F238E27FC236}">
                <a16:creationId xmlns:a16="http://schemas.microsoft.com/office/drawing/2014/main" id="{93681FFB-7892-473D-BA03-7308FEE223ED}"/>
              </a:ext>
            </a:extLst>
          </p:cNvPr>
          <p:cNvPicPr>
            <a:picLocks noChangeAspect="1"/>
          </p:cNvPicPr>
          <p:nvPr/>
        </p:nvPicPr>
        <p:blipFill>
          <a:blip r:embed="rId4"/>
          <a:stretch>
            <a:fillRect/>
          </a:stretch>
        </p:blipFill>
        <p:spPr>
          <a:xfrm>
            <a:off x="10017600" y="2834255"/>
            <a:ext cx="1531272" cy="1531272"/>
          </a:xfrm>
          <a:prstGeom prst="rect">
            <a:avLst/>
          </a:prstGeom>
        </p:spPr>
      </p:pic>
      <p:sp>
        <p:nvSpPr>
          <p:cNvPr id="6" name="Text Placeholder 2">
            <a:extLst>
              <a:ext uri="{FF2B5EF4-FFF2-40B4-BE49-F238E27FC236}">
                <a16:creationId xmlns:a16="http://schemas.microsoft.com/office/drawing/2014/main" id="{DE44DF05-07A0-4892-8981-CB6440644483}"/>
              </a:ext>
            </a:extLst>
          </p:cNvPr>
          <p:cNvSpPr txBox="1">
            <a:spLocks/>
          </p:cNvSpPr>
          <p:nvPr/>
        </p:nvSpPr>
        <p:spPr>
          <a:xfrm>
            <a:off x="284766" y="3741893"/>
            <a:ext cx="4191731" cy="1382244"/>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Raphael S. Nano</a:t>
            </a:r>
          </a:p>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CPE162P / C1</a:t>
            </a:r>
          </a:p>
        </p:txBody>
      </p:sp>
    </p:spTree>
    <p:extLst>
      <p:ext uri="{BB962C8B-B14F-4D97-AF65-F5344CB8AC3E}">
        <p14:creationId xmlns:p14="http://schemas.microsoft.com/office/powerpoint/2010/main" val="189877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BE44-DEA0-C8F1-B220-4F56E5330E48}"/>
              </a:ext>
            </a:extLst>
          </p:cNvPr>
          <p:cNvSpPr>
            <a:spLocks noGrp="1"/>
          </p:cNvSpPr>
          <p:nvPr>
            <p:ph type="title"/>
          </p:nvPr>
        </p:nvSpPr>
        <p:spPr>
          <a:xfrm>
            <a:off x="288435" y="282298"/>
            <a:ext cx="10213026" cy="512401"/>
          </a:xfrm>
        </p:spPr>
        <p:txBody>
          <a:bodyPr/>
          <a:lstStyle/>
          <a:p>
            <a:r>
              <a:rPr lang="en-US" dirty="0"/>
              <a:t>Introduction: </a:t>
            </a:r>
            <a:r>
              <a:rPr lang="en-US" sz="3200" b="1" dirty="0">
                <a:solidFill>
                  <a:srgbClr val="FFFF00"/>
                </a:solidFill>
                <a:latin typeface="Segoe UI" panose="020B0502040204020203" pitchFamily="34" charset="0"/>
                <a:ea typeface="Arial"/>
                <a:cs typeface="Segoe UI" panose="020B0502040204020203" pitchFamily="34" charset="0"/>
                <a:sym typeface="Arial"/>
              </a:rPr>
              <a:t>IoT-based </a:t>
            </a:r>
            <a:r>
              <a:rPr lang="en-US" dirty="0">
                <a:ea typeface="Arial"/>
                <a:sym typeface="Arial"/>
              </a:rPr>
              <a:t>Fire Alarm</a:t>
            </a:r>
            <a:r>
              <a:rPr lang="en-US" sz="3200" b="1" dirty="0">
                <a:solidFill>
                  <a:srgbClr val="FFFF00"/>
                </a:solidFill>
                <a:latin typeface="Segoe UI" panose="020B0502040204020203" pitchFamily="34" charset="0"/>
                <a:ea typeface="Arial"/>
                <a:cs typeface="Segoe UI" panose="020B0502040204020203" pitchFamily="34" charset="0"/>
                <a:sym typeface="Arial"/>
              </a:rPr>
              <a:t> System</a:t>
            </a:r>
            <a:endParaRPr lang="en-PH" dirty="0"/>
          </a:p>
        </p:txBody>
      </p:sp>
      <p:sp>
        <p:nvSpPr>
          <p:cNvPr id="3" name="Content Placeholder 2">
            <a:extLst>
              <a:ext uri="{FF2B5EF4-FFF2-40B4-BE49-F238E27FC236}">
                <a16:creationId xmlns:a16="http://schemas.microsoft.com/office/drawing/2014/main" id="{A1D19F78-2EA6-6CC1-752D-C8DA5962ED05}"/>
              </a:ext>
            </a:extLst>
          </p:cNvPr>
          <p:cNvSpPr>
            <a:spLocks noGrp="1"/>
          </p:cNvSpPr>
          <p:nvPr>
            <p:ph idx="1"/>
          </p:nvPr>
        </p:nvSpPr>
        <p:spPr/>
        <p:txBody>
          <a:bodyPr>
            <a:normAutofit/>
          </a:bodyPr>
          <a:lstStyle/>
          <a:p>
            <a:pPr algn="just">
              <a:buFont typeface="Wingdings" panose="05000000000000000000" pitchFamily="2" charset="2"/>
              <a:buChar char="Ø"/>
            </a:pPr>
            <a:r>
              <a:rPr lang="en-US" dirty="0">
                <a:latin typeface="+mj-lt"/>
              </a:rPr>
              <a:t> Fire alarm systems are crucial in constructing a building, whatever purpose the building may have. </a:t>
            </a:r>
          </a:p>
          <a:p>
            <a:pPr algn="just">
              <a:buFont typeface="Wingdings" panose="05000000000000000000" pitchFamily="2" charset="2"/>
              <a:buChar char="Ø"/>
            </a:pPr>
            <a:r>
              <a:rPr lang="en-US" dirty="0">
                <a:latin typeface="+mj-lt"/>
              </a:rPr>
              <a:t> With the addition of an accurate detection system with several sensors and the like, the prevention of the fire itself becomes more efficient. </a:t>
            </a:r>
          </a:p>
          <a:p>
            <a:pPr algn="just">
              <a:buFont typeface="Wingdings" panose="05000000000000000000" pitchFamily="2" charset="2"/>
              <a:buChar char="Ø"/>
            </a:pPr>
            <a:r>
              <a:rPr lang="en-US" dirty="0">
                <a:latin typeface="+mj-lt"/>
              </a:rPr>
              <a:t> Moreover, with the implementation of IoT with fire alarm systems, the notification of fire detections and the area in which it occurred can be shown to and seen by the user remotely.</a:t>
            </a:r>
            <a:endParaRPr lang="en-PH" dirty="0">
              <a:latin typeface="+mj-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38935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6651-8300-9B1E-D82E-D9BDEDD2C7B5}"/>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024FD49A-96B4-5E3D-262C-6DE9E8C540E0}"/>
              </a:ext>
            </a:extLst>
          </p:cNvPr>
          <p:cNvSpPr>
            <a:spLocks noGrp="1"/>
          </p:cNvSpPr>
          <p:nvPr>
            <p:ph idx="1"/>
          </p:nvPr>
        </p:nvSpPr>
        <p:spPr>
          <a:xfrm>
            <a:off x="298153" y="1156700"/>
            <a:ext cx="11528661" cy="4556765"/>
          </a:xfrm>
        </p:spPr>
        <p:txBody>
          <a:bodyPr>
            <a:normAutofit/>
          </a:bodyPr>
          <a:lstStyle/>
          <a:p>
            <a:pPr marL="342900" indent="-342900" algn="just">
              <a:spcAft>
                <a:spcPts val="1200"/>
              </a:spcAft>
              <a:buAutoNum type="arabicPeriod"/>
            </a:pPr>
            <a:r>
              <a:rPr lang="en-US" sz="2400" dirty="0">
                <a:solidFill>
                  <a:srgbClr val="262626"/>
                </a:solidFill>
                <a:effectLst/>
                <a:latin typeface="+mj-lt"/>
                <a:ea typeface="Times New Roman" panose="02020603050405020304" pitchFamily="18" charset="0"/>
              </a:rPr>
              <a:t>To demonstrate how an IoT-based Fire Alarm System works in a 4-storey building.</a:t>
            </a:r>
          </a:p>
          <a:p>
            <a:pPr marL="342900" indent="-342900" algn="just">
              <a:spcAft>
                <a:spcPts val="1200"/>
              </a:spcAft>
              <a:buAutoNum type="arabicPeriod"/>
            </a:pPr>
            <a:r>
              <a:rPr lang="en-US" sz="2400" dirty="0">
                <a:solidFill>
                  <a:srgbClr val="262626"/>
                </a:solidFill>
                <a:effectLst/>
                <a:latin typeface="+mj-lt"/>
                <a:ea typeface="Times New Roman" panose="02020603050405020304" pitchFamily="18" charset="0"/>
              </a:rPr>
              <a:t>To be able apply what were learned in logic circuits and switching theory, microprocessors, CPE160P, and CPE161P.</a:t>
            </a:r>
          </a:p>
          <a:p>
            <a:pPr marL="342900" indent="-342900" algn="just">
              <a:spcAft>
                <a:spcPts val="1200"/>
              </a:spcAft>
              <a:buAutoNum type="arabicPeriod"/>
            </a:pPr>
            <a:r>
              <a:rPr lang="en-US" sz="2400" dirty="0">
                <a:solidFill>
                  <a:srgbClr val="262626"/>
                </a:solidFill>
                <a:effectLst/>
                <a:latin typeface="+mj-lt"/>
                <a:ea typeface="Times New Roman" panose="02020603050405020304" pitchFamily="18" charset="0"/>
              </a:rPr>
              <a:t>To be able to apply embedded systems with IoT using Arduino kit</a:t>
            </a:r>
          </a:p>
          <a:p>
            <a:pPr marL="342900" indent="-342900" algn="just">
              <a:spcAft>
                <a:spcPts val="1200"/>
              </a:spcAft>
              <a:buAutoNum type="arabicPeriod"/>
            </a:pPr>
            <a:r>
              <a:rPr lang="en-US" sz="2400" dirty="0">
                <a:solidFill>
                  <a:srgbClr val="262626"/>
                </a:solidFill>
                <a:effectLst/>
                <a:latin typeface="+mj-lt"/>
                <a:ea typeface="Times New Roman" panose="02020603050405020304" pitchFamily="18" charset="0"/>
              </a:rPr>
              <a:t>To be able to use </a:t>
            </a:r>
            <a:r>
              <a:rPr lang="en-US" sz="2400" dirty="0" err="1">
                <a:solidFill>
                  <a:srgbClr val="262626"/>
                </a:solidFill>
                <a:effectLst/>
                <a:latin typeface="+mj-lt"/>
                <a:ea typeface="Times New Roman" panose="02020603050405020304" pitchFamily="18" charset="0"/>
              </a:rPr>
              <a:t>ThingSpeak</a:t>
            </a:r>
            <a:r>
              <a:rPr lang="en-US" sz="2400" dirty="0">
                <a:solidFill>
                  <a:srgbClr val="262626"/>
                </a:solidFill>
                <a:effectLst/>
                <a:latin typeface="+mj-lt"/>
                <a:ea typeface="Times New Roman" panose="02020603050405020304" pitchFamily="18" charset="0"/>
              </a:rPr>
              <a:t> for the data collection and analysis.</a:t>
            </a:r>
          </a:p>
        </p:txBody>
      </p:sp>
    </p:spTree>
    <p:extLst>
      <p:ext uri="{BB962C8B-B14F-4D97-AF65-F5344CB8AC3E}">
        <p14:creationId xmlns:p14="http://schemas.microsoft.com/office/powerpoint/2010/main" val="3318308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dirty="0">
                <a:solidFill>
                  <a:srgbClr val="262626"/>
                </a:solidFill>
                <a:effectLst/>
                <a:latin typeface="+mj-lt"/>
                <a:ea typeface="Times New Roman" panose="02020603050405020304" pitchFamily="18" charset="0"/>
              </a:rPr>
              <a:t>Hardware</a:t>
            </a:r>
          </a:p>
          <a:p>
            <a:pPr marL="0" indent="0">
              <a:buNone/>
            </a:pPr>
            <a:endParaRPr lang="en-PH" dirty="0">
              <a:solidFill>
                <a:srgbClr val="262626"/>
              </a:solidFill>
              <a:effectLst/>
              <a:latin typeface="+mj-lt"/>
              <a:ea typeface="Times New Roman" panose="02020603050405020304" pitchFamily="18" charset="0"/>
            </a:endParaRPr>
          </a:p>
          <a:p>
            <a:pPr>
              <a:buFont typeface="Wingdings" panose="05000000000000000000" pitchFamily="2" charset="2"/>
              <a:buChar char="Ø"/>
            </a:pPr>
            <a:r>
              <a:rPr lang="en-PH" dirty="0">
                <a:solidFill>
                  <a:srgbClr val="262626"/>
                </a:solidFill>
                <a:effectLst/>
                <a:latin typeface="+mj-lt"/>
                <a:ea typeface="Times New Roman" panose="02020603050405020304" pitchFamily="18" charset="0"/>
              </a:rPr>
              <a:t> 2 Pin </a:t>
            </a:r>
            <a:r>
              <a:rPr lang="en-PH" dirty="0">
                <a:solidFill>
                  <a:srgbClr val="262626"/>
                </a:solidFill>
                <a:effectLst/>
                <a:latin typeface="+mj-lt"/>
                <a:ea typeface="Open Sans" panose="020B0606030504020204" pitchFamily="34" charset="0"/>
                <a:cs typeface="Open Sans" panose="020B0606030504020204" pitchFamily="34" charset="0"/>
              </a:rPr>
              <a:t>Flame sensor</a:t>
            </a:r>
          </a:p>
          <a:p>
            <a:pPr>
              <a:buFont typeface="Wingdings" panose="05000000000000000000" pitchFamily="2" charset="2"/>
              <a:buChar char="Ø"/>
            </a:pPr>
            <a:r>
              <a:rPr lang="en-PH" dirty="0">
                <a:solidFill>
                  <a:srgbClr val="262626"/>
                </a:solidFill>
                <a:latin typeface="+mj-lt"/>
                <a:ea typeface="Open Sans" panose="020B0606030504020204" pitchFamily="34" charset="0"/>
                <a:cs typeface="Open Sans" panose="020B0606030504020204" pitchFamily="34" charset="0"/>
              </a:rPr>
              <a:t> Passive Buzzer</a:t>
            </a:r>
          </a:p>
          <a:p>
            <a:pPr>
              <a:buFont typeface="Wingdings" panose="05000000000000000000" pitchFamily="2" charset="2"/>
              <a:buChar char="Ø"/>
            </a:pPr>
            <a:r>
              <a:rPr lang="en-PH" dirty="0">
                <a:solidFill>
                  <a:srgbClr val="262626"/>
                </a:solidFill>
                <a:latin typeface="+mj-lt"/>
                <a:ea typeface="Open Sans" panose="020B0606030504020204" pitchFamily="34" charset="0"/>
                <a:cs typeface="Open Sans" panose="020B0606030504020204" pitchFamily="34" charset="0"/>
              </a:rPr>
              <a:t> LEDs</a:t>
            </a:r>
          </a:p>
          <a:p>
            <a:pPr>
              <a:buFont typeface="Wingdings" panose="05000000000000000000" pitchFamily="2" charset="2"/>
              <a:buChar char="Ø"/>
            </a:pPr>
            <a:r>
              <a:rPr lang="en-PH" dirty="0">
                <a:solidFill>
                  <a:srgbClr val="262626"/>
                </a:solidFill>
                <a:latin typeface="+mj-lt"/>
                <a:ea typeface="Open Sans" panose="020B0606030504020204" pitchFamily="34" charset="0"/>
                <a:cs typeface="Open Sans" panose="020B0606030504020204" pitchFamily="34" charset="0"/>
              </a:rPr>
              <a:t> Button</a:t>
            </a:r>
          </a:p>
          <a:p>
            <a:pPr>
              <a:buFont typeface="Wingdings" panose="05000000000000000000" pitchFamily="2" charset="2"/>
              <a:buChar char="Ø"/>
            </a:pPr>
            <a:r>
              <a:rPr lang="en-PH" dirty="0">
                <a:solidFill>
                  <a:srgbClr val="262626"/>
                </a:solidFill>
                <a:latin typeface="+mj-lt"/>
                <a:ea typeface="Open Sans" panose="020B0606030504020204" pitchFamily="34" charset="0"/>
                <a:cs typeface="Open Sans" panose="020B0606030504020204" pitchFamily="34" charset="0"/>
              </a:rPr>
              <a:t> ESP8266 </a:t>
            </a:r>
            <a:r>
              <a:rPr lang="en-PH" dirty="0" err="1">
                <a:solidFill>
                  <a:srgbClr val="262626"/>
                </a:solidFill>
                <a:latin typeface="+mj-lt"/>
                <a:ea typeface="Open Sans" panose="020B0606030504020204" pitchFamily="34" charset="0"/>
                <a:cs typeface="Open Sans" panose="020B0606030504020204" pitchFamily="34" charset="0"/>
              </a:rPr>
              <a:t>WiFi</a:t>
            </a:r>
            <a:r>
              <a:rPr lang="en-PH" dirty="0">
                <a:solidFill>
                  <a:srgbClr val="262626"/>
                </a:solidFill>
                <a:latin typeface="+mj-lt"/>
                <a:ea typeface="Open Sans" panose="020B0606030504020204" pitchFamily="34" charset="0"/>
                <a:cs typeface="Open Sans" panose="020B0606030504020204" pitchFamily="34" charset="0"/>
              </a:rPr>
              <a:t> Module</a:t>
            </a:r>
            <a:endParaRPr lang="en-PH" dirty="0">
              <a:latin typeface="+mj-lt"/>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3069FF89-F6DC-4C55-DCFE-F7F69C1D0BEE}"/>
              </a:ext>
            </a:extLst>
          </p:cNvPr>
          <p:cNvPicPr>
            <a:picLocks noChangeAspect="1"/>
          </p:cNvPicPr>
          <p:nvPr/>
        </p:nvPicPr>
        <p:blipFill rotWithShape="1">
          <a:blip r:embed="rId3">
            <a:extLst>
              <a:ext uri="{28A0092B-C50C-407E-A947-70E740481C1C}">
                <a14:useLocalDpi xmlns:a14="http://schemas.microsoft.com/office/drawing/2010/main" val="0"/>
              </a:ext>
            </a:extLst>
          </a:blip>
          <a:srcRect l="4150" r="4150"/>
          <a:stretch/>
        </p:blipFill>
        <p:spPr>
          <a:xfrm>
            <a:off x="6281755" y="1474348"/>
            <a:ext cx="5612091" cy="3909304"/>
          </a:xfrm>
          <a:prstGeom prst="rect">
            <a:avLst/>
          </a:prstGeom>
        </p:spPr>
      </p:pic>
    </p:spTree>
    <p:extLst>
      <p:ext uri="{BB962C8B-B14F-4D97-AF65-F5344CB8AC3E}">
        <p14:creationId xmlns:p14="http://schemas.microsoft.com/office/powerpoint/2010/main" val="99400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dirty="0">
                <a:solidFill>
                  <a:srgbClr val="262626"/>
                </a:solidFill>
                <a:effectLst/>
                <a:latin typeface="+mj-lt"/>
                <a:ea typeface="Times New Roman" panose="02020603050405020304" pitchFamily="18" charset="0"/>
              </a:rPr>
              <a:t>Software Libraries</a:t>
            </a:r>
          </a:p>
          <a:p>
            <a:pPr marL="0" indent="0">
              <a:buNone/>
            </a:pPr>
            <a:endParaRPr lang="en-PH" dirty="0">
              <a:solidFill>
                <a:srgbClr val="262626"/>
              </a:solidFill>
              <a:effectLst/>
              <a:latin typeface="+mj-lt"/>
              <a:ea typeface="Times New Roman" panose="02020603050405020304" pitchFamily="18" charset="0"/>
            </a:endParaRPr>
          </a:p>
          <a:p>
            <a:pPr>
              <a:buFont typeface="Wingdings" panose="05000000000000000000" pitchFamily="2" charset="2"/>
              <a:buChar char="Ø"/>
            </a:pPr>
            <a:r>
              <a:rPr lang="en-PH" dirty="0">
                <a:solidFill>
                  <a:srgbClr val="262626"/>
                </a:solidFill>
                <a:effectLst/>
                <a:latin typeface="+mj-lt"/>
                <a:ea typeface="Times New Roman" panose="02020603050405020304" pitchFamily="18" charset="0"/>
              </a:rPr>
              <a:t> ESP8266WiFi.h</a:t>
            </a:r>
          </a:p>
          <a:p>
            <a:pPr>
              <a:buFont typeface="Wingdings" panose="05000000000000000000" pitchFamily="2" charset="2"/>
              <a:buChar char="Ø"/>
            </a:pPr>
            <a:r>
              <a:rPr lang="en-PH" dirty="0">
                <a:solidFill>
                  <a:srgbClr val="262626"/>
                </a:solidFill>
                <a:latin typeface="+mj-lt"/>
              </a:rPr>
              <a:t> </a:t>
            </a:r>
            <a:r>
              <a:rPr lang="en-PH" dirty="0" err="1">
                <a:solidFill>
                  <a:srgbClr val="262626"/>
                </a:solidFill>
                <a:latin typeface="+mj-lt"/>
              </a:rPr>
              <a:t>ThingSpeak.h</a:t>
            </a:r>
            <a:endParaRPr lang="en-PH" sz="3200" dirty="0">
              <a:latin typeface="+mj-lt"/>
            </a:endParaRPr>
          </a:p>
        </p:txBody>
      </p:sp>
      <p:pic>
        <p:nvPicPr>
          <p:cNvPr id="4" name="Picture 3">
            <a:extLst>
              <a:ext uri="{FF2B5EF4-FFF2-40B4-BE49-F238E27FC236}">
                <a16:creationId xmlns:a16="http://schemas.microsoft.com/office/drawing/2014/main" id="{00B6C0AC-135B-202E-C196-F158D6B8001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70526" y="2624861"/>
            <a:ext cx="5183249" cy="1608277"/>
          </a:xfrm>
          <a:prstGeom prst="rect">
            <a:avLst/>
          </a:prstGeom>
        </p:spPr>
      </p:pic>
    </p:spTree>
    <p:extLst>
      <p:ext uri="{BB962C8B-B14F-4D97-AF65-F5344CB8AC3E}">
        <p14:creationId xmlns:p14="http://schemas.microsoft.com/office/powerpoint/2010/main" val="4214434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a:t>
            </a:r>
            <a:r>
              <a:rPr lang="en-US" sz="3200" b="1" dirty="0">
                <a:solidFill>
                  <a:srgbClr val="FFFF00"/>
                </a:solidFill>
                <a:latin typeface="Segoe UI" panose="020B0502040204020203" pitchFamily="34" charset="0"/>
                <a:ea typeface="Arial"/>
                <a:cs typeface="Segoe UI" panose="020B0502040204020203" pitchFamily="34" charset="0"/>
                <a:sym typeface="Arial"/>
              </a:rPr>
              <a:t>IoT-based </a:t>
            </a:r>
            <a:r>
              <a:rPr lang="en-US" dirty="0">
                <a:ea typeface="Arial"/>
                <a:sym typeface="Arial"/>
              </a:rPr>
              <a:t>Fire Alarm</a:t>
            </a:r>
            <a:r>
              <a:rPr lang="en-US" sz="3200" b="1" dirty="0">
                <a:solidFill>
                  <a:srgbClr val="FFFF00"/>
                </a:solidFill>
                <a:latin typeface="Segoe UI" panose="020B0502040204020203" pitchFamily="34" charset="0"/>
                <a:ea typeface="Arial"/>
                <a:cs typeface="Segoe UI" panose="020B0502040204020203" pitchFamily="34" charset="0"/>
                <a:sym typeface="Arial"/>
              </a:rPr>
              <a:t> System</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7" y="1186177"/>
            <a:ext cx="6225486" cy="5085227"/>
          </a:xfrm>
        </p:spPr>
        <p:txBody>
          <a:bodyPr>
            <a:normAutofit/>
          </a:bodyPr>
          <a:lstStyle/>
          <a:p>
            <a:pPr algn="just">
              <a:spcAft>
                <a:spcPts val="6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Experiment 7 aims to:</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Create a system where it  will sense the fire using the flame sensor and activate the buzzer correspondingly</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Use LEDs in order to have floor indicators</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Utilize </a:t>
            </a:r>
            <a:r>
              <a:rPr lang="en-US" dirty="0" err="1">
                <a:latin typeface="+mj-lt"/>
                <a:ea typeface="Open Sans" panose="020B0606030504020204" pitchFamily="34" charset="0"/>
                <a:cs typeface="Open Sans" panose="020B0606030504020204" pitchFamily="34" charset="0"/>
              </a:rPr>
              <a:t>ThingSpeak</a:t>
            </a:r>
            <a:r>
              <a:rPr lang="en-US" dirty="0">
                <a:latin typeface="+mj-lt"/>
                <a:ea typeface="Open Sans" panose="020B0606030504020204" pitchFamily="34" charset="0"/>
                <a:cs typeface="Open Sans" panose="020B0606030504020204" pitchFamily="34" charset="0"/>
              </a:rPr>
              <a:t> to show if the fire alarm in a certain floor was turned on</a:t>
            </a:r>
          </a:p>
        </p:txBody>
      </p:sp>
      <p:pic>
        <p:nvPicPr>
          <p:cNvPr id="8" name="Picture 7">
            <a:extLst>
              <a:ext uri="{FF2B5EF4-FFF2-40B4-BE49-F238E27FC236}">
                <a16:creationId xmlns:a16="http://schemas.microsoft.com/office/drawing/2014/main" id="{4EAFEDB3-E364-9559-9825-C5D1474FADAD}"/>
              </a:ext>
            </a:extLst>
          </p:cNvPr>
          <p:cNvPicPr>
            <a:picLocks noChangeAspect="1"/>
          </p:cNvPicPr>
          <p:nvPr/>
        </p:nvPicPr>
        <p:blipFill rotWithShape="1">
          <a:blip r:embed="rId3">
            <a:extLst>
              <a:ext uri="{28A0092B-C50C-407E-A947-70E740481C1C}">
                <a14:useLocalDpi xmlns:a14="http://schemas.microsoft.com/office/drawing/2010/main" val="0"/>
              </a:ext>
            </a:extLst>
          </a:blip>
          <a:srcRect r="59679"/>
          <a:stretch/>
        </p:blipFill>
        <p:spPr>
          <a:xfrm>
            <a:off x="7852528" y="3337398"/>
            <a:ext cx="2846894" cy="2707762"/>
          </a:xfrm>
          <a:prstGeom prst="rect">
            <a:avLst/>
          </a:prstGeom>
          <a:ln w="28575">
            <a:solidFill>
              <a:schemeClr val="tx1"/>
            </a:solidFill>
          </a:ln>
        </p:spPr>
      </p:pic>
      <p:pic>
        <p:nvPicPr>
          <p:cNvPr id="9" name="Picture 8">
            <a:extLst>
              <a:ext uri="{FF2B5EF4-FFF2-40B4-BE49-F238E27FC236}">
                <a16:creationId xmlns:a16="http://schemas.microsoft.com/office/drawing/2014/main" id="{8F6511B5-E37B-C0E6-E056-E94B82396EF9}"/>
              </a:ext>
            </a:extLst>
          </p:cNvPr>
          <p:cNvPicPr>
            <a:picLocks noChangeAspect="1"/>
          </p:cNvPicPr>
          <p:nvPr/>
        </p:nvPicPr>
        <p:blipFill rotWithShape="1">
          <a:blip r:embed="rId3">
            <a:extLst>
              <a:ext uri="{28A0092B-C50C-407E-A947-70E740481C1C}">
                <a14:useLocalDpi xmlns:a14="http://schemas.microsoft.com/office/drawing/2010/main" val="0"/>
              </a:ext>
            </a:extLst>
          </a:blip>
          <a:srcRect l="42396"/>
          <a:stretch/>
        </p:blipFill>
        <p:spPr>
          <a:xfrm>
            <a:off x="7250394" y="1040140"/>
            <a:ext cx="4051163" cy="2697053"/>
          </a:xfrm>
          <a:prstGeom prst="rect">
            <a:avLst/>
          </a:prstGeom>
          <a:ln w="28575">
            <a:solidFill>
              <a:schemeClr val="tx1"/>
            </a:solidFill>
          </a:ln>
        </p:spPr>
      </p:pic>
    </p:spTree>
    <p:extLst>
      <p:ext uri="{BB962C8B-B14F-4D97-AF65-F5344CB8AC3E}">
        <p14:creationId xmlns:p14="http://schemas.microsoft.com/office/powerpoint/2010/main" val="4219391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a:t>
            </a:r>
            <a:r>
              <a:rPr lang="en-US" sz="3200" b="1" dirty="0">
                <a:solidFill>
                  <a:srgbClr val="FFFF00"/>
                </a:solidFill>
                <a:latin typeface="Segoe UI" panose="020B0502040204020203" pitchFamily="34" charset="0"/>
                <a:ea typeface="Arial"/>
                <a:cs typeface="Segoe UI" panose="020B0502040204020203" pitchFamily="34" charset="0"/>
                <a:sym typeface="Arial"/>
              </a:rPr>
              <a:t>IoT-based </a:t>
            </a:r>
            <a:r>
              <a:rPr lang="en-US" dirty="0">
                <a:ea typeface="Arial"/>
                <a:sym typeface="Arial"/>
              </a:rPr>
              <a:t>Fire Alarm</a:t>
            </a:r>
            <a:r>
              <a:rPr lang="en-US" sz="3200" b="1" dirty="0">
                <a:solidFill>
                  <a:srgbClr val="FFFF00"/>
                </a:solidFill>
                <a:latin typeface="Segoe UI" panose="020B0502040204020203" pitchFamily="34" charset="0"/>
                <a:ea typeface="Arial"/>
                <a:cs typeface="Segoe UI" panose="020B0502040204020203" pitchFamily="34" charset="0"/>
                <a:sym typeface="Arial"/>
              </a:rPr>
              <a:t> System</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065229"/>
            <a:ext cx="5999243" cy="5156462"/>
          </a:xfrm>
        </p:spPr>
        <p:txBody>
          <a:bodyPr>
            <a:normAutofit/>
          </a:bodyPr>
          <a:lstStyle/>
          <a:p>
            <a:pPr algn="just">
              <a:spcAft>
                <a:spcPts val="6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Three Main Functions</a:t>
            </a:r>
          </a:p>
          <a:p>
            <a:pPr marL="914400" lvl="1" indent="-457200" algn="just">
              <a:spcAft>
                <a:spcPts val="600"/>
              </a:spcAft>
              <a:buFont typeface="+mj-lt"/>
              <a:buAutoNum type="arabicPeriod"/>
            </a:pPr>
            <a:r>
              <a:rPr lang="en-US" dirty="0">
                <a:latin typeface="+mj-lt"/>
                <a:ea typeface="Open Sans" panose="020B0606030504020204" pitchFamily="34" charset="0"/>
                <a:cs typeface="Open Sans" panose="020B0606030504020204" pitchFamily="34" charset="0"/>
              </a:rPr>
              <a:t>Detection of Flame Sensor</a:t>
            </a:r>
          </a:p>
          <a:p>
            <a:pPr marL="914400" lvl="1" indent="-457200" algn="just">
              <a:spcAft>
                <a:spcPts val="600"/>
              </a:spcAft>
              <a:buFont typeface="+mj-lt"/>
              <a:buAutoNum type="arabicPeriod"/>
            </a:pPr>
            <a:r>
              <a:rPr lang="en-US" dirty="0">
                <a:latin typeface="+mj-lt"/>
                <a:ea typeface="Open Sans" panose="020B0606030504020204" pitchFamily="34" charset="0"/>
                <a:cs typeface="Open Sans" panose="020B0606030504020204" pitchFamily="34" charset="0"/>
              </a:rPr>
              <a:t>Alarming of Buzzer</a:t>
            </a:r>
          </a:p>
          <a:p>
            <a:pPr marL="914400" lvl="1" indent="-457200" algn="just">
              <a:spcAft>
                <a:spcPts val="600"/>
              </a:spcAft>
              <a:buFont typeface="+mj-lt"/>
              <a:buAutoNum type="arabicPeriod"/>
            </a:pPr>
            <a:r>
              <a:rPr lang="en-US" dirty="0">
                <a:latin typeface="+mj-lt"/>
                <a:ea typeface="Open Sans" panose="020B0606030504020204" pitchFamily="34" charset="0"/>
                <a:cs typeface="Open Sans" panose="020B0606030504020204" pitchFamily="34" charset="0"/>
              </a:rPr>
              <a:t>Lighting of LEDs</a:t>
            </a:r>
          </a:p>
          <a:p>
            <a:pPr marL="914400" lvl="1" indent="-457200" algn="just">
              <a:spcAft>
                <a:spcPts val="600"/>
              </a:spcAft>
              <a:buFont typeface="+mj-lt"/>
              <a:buAutoNum type="arabicPeriod"/>
            </a:pPr>
            <a:endParaRPr lang="en-US" dirty="0">
              <a:latin typeface="+mj-lt"/>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dirty="0">
                <a:ea typeface="Open Sans" panose="020B0606030504020204" pitchFamily="34" charset="0"/>
                <a:cs typeface="Open Sans" panose="020B0606030504020204" pitchFamily="34" charset="0"/>
              </a:rPr>
              <a:t> </a:t>
            </a:r>
            <a:r>
              <a:rPr lang="en-US" dirty="0">
                <a:latin typeface="+mj-lt"/>
                <a:ea typeface="Open Sans" panose="020B0606030504020204" pitchFamily="34" charset="0"/>
                <a:cs typeface="Open Sans" panose="020B0606030504020204" pitchFamily="34" charset="0"/>
              </a:rPr>
              <a:t>Flame Sensor Function:</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Normal reading is 100</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Flame threshold was set to 500</a:t>
            </a:r>
          </a:p>
          <a:p>
            <a:pPr marL="457200" indent="-457200" algn="just">
              <a:spcAft>
                <a:spcPts val="600"/>
              </a:spcAft>
              <a:buFont typeface="+mj-lt"/>
              <a:buAutoNum type="arabicPeriod"/>
            </a:pPr>
            <a:endParaRPr lang="en-US" dirty="0">
              <a:latin typeface="+mj-lt"/>
              <a:ea typeface="Open Sans" panose="020B0606030504020204" pitchFamily="34" charset="0"/>
              <a:cs typeface="Open Sans" panose="020B0606030504020204" pitchFamily="34" charset="0"/>
            </a:endParaRPr>
          </a:p>
        </p:txBody>
      </p:sp>
      <p:pic>
        <p:nvPicPr>
          <p:cNvPr id="9" name="Picture 8">
            <a:extLst>
              <a:ext uri="{FF2B5EF4-FFF2-40B4-BE49-F238E27FC236}">
                <a16:creationId xmlns:a16="http://schemas.microsoft.com/office/drawing/2014/main" id="{55BE7CD4-1411-7B39-50E9-03D3FA0D340E}"/>
              </a:ext>
            </a:extLst>
          </p:cNvPr>
          <p:cNvPicPr>
            <a:picLocks noChangeAspect="1"/>
          </p:cNvPicPr>
          <p:nvPr/>
        </p:nvPicPr>
        <p:blipFill>
          <a:blip r:embed="rId3"/>
          <a:stretch>
            <a:fillRect/>
          </a:stretch>
        </p:blipFill>
        <p:spPr>
          <a:xfrm>
            <a:off x="7343480" y="2390058"/>
            <a:ext cx="3582186" cy="2077884"/>
          </a:xfrm>
          <a:prstGeom prst="rect">
            <a:avLst/>
          </a:prstGeom>
        </p:spPr>
      </p:pic>
    </p:spTree>
    <p:extLst>
      <p:ext uri="{BB962C8B-B14F-4D97-AF65-F5344CB8AC3E}">
        <p14:creationId xmlns:p14="http://schemas.microsoft.com/office/powerpoint/2010/main" val="2726006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a:t>
            </a:r>
            <a:r>
              <a:rPr lang="en-US" sz="3200" b="1" dirty="0">
                <a:solidFill>
                  <a:srgbClr val="FFFF00"/>
                </a:solidFill>
                <a:latin typeface="Segoe UI" panose="020B0502040204020203" pitchFamily="34" charset="0"/>
                <a:ea typeface="Arial"/>
                <a:cs typeface="Segoe UI" panose="020B0502040204020203" pitchFamily="34" charset="0"/>
                <a:sym typeface="Arial"/>
              </a:rPr>
              <a:t>IoT-based </a:t>
            </a:r>
            <a:r>
              <a:rPr lang="en-US" dirty="0">
                <a:ea typeface="Arial"/>
                <a:sym typeface="Arial"/>
              </a:rPr>
              <a:t>Fire Alarm</a:t>
            </a:r>
            <a:r>
              <a:rPr lang="en-US" sz="3200" b="1" dirty="0">
                <a:solidFill>
                  <a:srgbClr val="FFFF00"/>
                </a:solidFill>
                <a:latin typeface="Segoe UI" panose="020B0502040204020203" pitchFamily="34" charset="0"/>
                <a:ea typeface="Arial"/>
                <a:cs typeface="Segoe UI" panose="020B0502040204020203" pitchFamily="34" charset="0"/>
                <a:sym typeface="Arial"/>
              </a:rPr>
              <a:t> System</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216059"/>
            <a:ext cx="6084085" cy="5005632"/>
          </a:xfrm>
        </p:spPr>
        <p:txBody>
          <a:bodyPr>
            <a:normAutofit/>
          </a:bodyPr>
          <a:lstStyle/>
          <a:p>
            <a:pPr algn="just">
              <a:spcAft>
                <a:spcPts val="6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Passive Buzzer Function: </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 Activated using a separate </a:t>
            </a:r>
            <a:r>
              <a:rPr lang="en-US" dirty="0" err="1">
                <a:latin typeface="+mj-lt"/>
                <a:ea typeface="Open Sans" panose="020B0606030504020204" pitchFamily="34" charset="0"/>
                <a:cs typeface="Open Sans" panose="020B0606030504020204" pitchFamily="34" charset="0"/>
              </a:rPr>
              <a:t>playTone</a:t>
            </a:r>
            <a:r>
              <a:rPr lang="en-US" dirty="0">
                <a:latin typeface="+mj-lt"/>
                <a:ea typeface="Open Sans" panose="020B0606030504020204" pitchFamily="34" charset="0"/>
                <a:cs typeface="Open Sans" panose="020B0606030504020204" pitchFamily="34" charset="0"/>
              </a:rPr>
              <a:t>() function</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Uses frequency and duration. </a:t>
            </a:r>
          </a:p>
          <a:p>
            <a:pPr lvl="1" algn="just">
              <a:spcAft>
                <a:spcPts val="600"/>
              </a:spcAft>
              <a:buFont typeface="Wingdings" panose="05000000000000000000" pitchFamily="2" charset="2"/>
              <a:buChar char="§"/>
            </a:pPr>
            <a:endParaRPr lang="en-US" dirty="0">
              <a:latin typeface="+mj-lt"/>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LEDs Function:</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a button was utilized to switch from one to four, then back to one</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Green LED is for Floor 1, Yellow for Floor 2, Orange for Floor 3, and Red for Floor 4</a:t>
            </a:r>
          </a:p>
        </p:txBody>
      </p:sp>
      <p:pic>
        <p:nvPicPr>
          <p:cNvPr id="4" name="Picture 3">
            <a:extLst>
              <a:ext uri="{FF2B5EF4-FFF2-40B4-BE49-F238E27FC236}">
                <a16:creationId xmlns:a16="http://schemas.microsoft.com/office/drawing/2014/main" id="{F6E93772-0850-CE8C-9F93-6776EEB1E9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7538" y="926139"/>
            <a:ext cx="4468306" cy="1459878"/>
          </a:xfrm>
          <a:prstGeom prst="rect">
            <a:avLst/>
          </a:prstGeom>
        </p:spPr>
      </p:pic>
      <p:pic>
        <p:nvPicPr>
          <p:cNvPr id="5" name="Picture 4">
            <a:extLst>
              <a:ext uri="{FF2B5EF4-FFF2-40B4-BE49-F238E27FC236}">
                <a16:creationId xmlns:a16="http://schemas.microsoft.com/office/drawing/2014/main" id="{A8416FAC-7438-113D-37E3-421B49430A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8691" y="4420068"/>
            <a:ext cx="2286000" cy="1669415"/>
          </a:xfrm>
          <a:prstGeom prst="rect">
            <a:avLst/>
          </a:prstGeom>
        </p:spPr>
      </p:pic>
      <p:pic>
        <p:nvPicPr>
          <p:cNvPr id="7" name="Picture 6">
            <a:extLst>
              <a:ext uri="{FF2B5EF4-FFF2-40B4-BE49-F238E27FC236}">
                <a16:creationId xmlns:a16="http://schemas.microsoft.com/office/drawing/2014/main" id="{59F6001B-F514-A181-F9F1-27C3766FFEB8}"/>
              </a:ext>
            </a:extLst>
          </p:cNvPr>
          <p:cNvPicPr>
            <a:picLocks noChangeAspect="1"/>
          </p:cNvPicPr>
          <p:nvPr/>
        </p:nvPicPr>
        <p:blipFill rotWithShape="1">
          <a:blip r:embed="rId5">
            <a:extLst>
              <a:ext uri="{28A0092B-C50C-407E-A947-70E740481C1C}">
                <a14:useLocalDpi xmlns:a14="http://schemas.microsoft.com/office/drawing/2010/main" val="0"/>
              </a:ext>
            </a:extLst>
          </a:blip>
          <a:srcRect b="54003"/>
          <a:stretch/>
        </p:blipFill>
        <p:spPr bwMode="auto">
          <a:xfrm>
            <a:off x="6769692" y="2517457"/>
            <a:ext cx="2223135" cy="1823085"/>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69EB3D1B-947D-3B5F-609C-A742B1B8F49D}"/>
              </a:ext>
            </a:extLst>
          </p:cNvPr>
          <p:cNvPicPr>
            <a:picLocks noChangeAspect="1"/>
          </p:cNvPicPr>
          <p:nvPr/>
        </p:nvPicPr>
        <p:blipFill rotWithShape="1">
          <a:blip r:embed="rId5">
            <a:extLst>
              <a:ext uri="{28A0092B-C50C-407E-A947-70E740481C1C}">
                <a14:useLocalDpi xmlns:a14="http://schemas.microsoft.com/office/drawing/2010/main" val="0"/>
              </a:ext>
            </a:extLst>
          </a:blip>
          <a:srcRect t="45415"/>
          <a:stretch/>
        </p:blipFill>
        <p:spPr bwMode="auto">
          <a:xfrm>
            <a:off x="9671774" y="2505477"/>
            <a:ext cx="1892935" cy="18421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47947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a:t>
            </a:r>
            <a:r>
              <a:rPr lang="en-US" sz="3200" b="1" dirty="0">
                <a:solidFill>
                  <a:srgbClr val="FFFF00"/>
                </a:solidFill>
                <a:latin typeface="Segoe UI" panose="020B0502040204020203" pitchFamily="34" charset="0"/>
                <a:ea typeface="Arial"/>
                <a:cs typeface="Segoe UI" panose="020B0502040204020203" pitchFamily="34" charset="0"/>
                <a:sym typeface="Arial"/>
              </a:rPr>
              <a:t>IoT-based </a:t>
            </a:r>
            <a:r>
              <a:rPr lang="en-US" dirty="0">
                <a:ea typeface="Arial"/>
                <a:sym typeface="Arial"/>
              </a:rPr>
              <a:t>Fire Alarm</a:t>
            </a:r>
            <a:r>
              <a:rPr lang="en-US" sz="3200" b="1" dirty="0">
                <a:solidFill>
                  <a:srgbClr val="FFFF00"/>
                </a:solidFill>
                <a:latin typeface="Segoe UI" panose="020B0502040204020203" pitchFamily="34" charset="0"/>
                <a:ea typeface="Arial"/>
                <a:cs typeface="Segoe UI" panose="020B0502040204020203" pitchFamily="34" charset="0"/>
                <a:sym typeface="Arial"/>
              </a:rPr>
              <a:t> System</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809945"/>
            <a:ext cx="5999243" cy="4411745"/>
          </a:xfrm>
        </p:spPr>
        <p:txBody>
          <a:bodyPr>
            <a:normAutofit/>
          </a:bodyPr>
          <a:lstStyle/>
          <a:p>
            <a:pPr algn="just">
              <a:spcAft>
                <a:spcPts val="6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a:t>
            </a:r>
            <a:r>
              <a:rPr lang="en-US" dirty="0" err="1">
                <a:latin typeface="+mj-lt"/>
                <a:ea typeface="Open Sans" panose="020B0606030504020204" pitchFamily="34" charset="0"/>
                <a:cs typeface="Open Sans" panose="020B0606030504020204" pitchFamily="34" charset="0"/>
              </a:rPr>
              <a:t>ThingSpeak</a:t>
            </a:r>
            <a:r>
              <a:rPr lang="en-US" dirty="0">
                <a:latin typeface="+mj-lt"/>
                <a:ea typeface="Open Sans" panose="020B0606030504020204" pitchFamily="34" charset="0"/>
                <a:cs typeface="Open Sans" panose="020B0606030504020204" pitchFamily="34" charset="0"/>
              </a:rPr>
              <a:t> Function: </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 Every 15 seconds, the status of each floor would be displayed as one (there is a fire) or zero (no fire). </a:t>
            </a:r>
          </a:p>
        </p:txBody>
      </p:sp>
      <p:pic>
        <p:nvPicPr>
          <p:cNvPr id="4" name="Picture 3">
            <a:extLst>
              <a:ext uri="{FF2B5EF4-FFF2-40B4-BE49-F238E27FC236}">
                <a16:creationId xmlns:a16="http://schemas.microsoft.com/office/drawing/2014/main" id="{3461D5D1-F74E-8B61-7E54-497EA2802B3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458382" y="2480679"/>
            <a:ext cx="4863210" cy="2208160"/>
          </a:xfrm>
          <a:prstGeom prst="rect">
            <a:avLst/>
          </a:prstGeom>
        </p:spPr>
      </p:pic>
    </p:spTree>
    <p:extLst>
      <p:ext uri="{BB962C8B-B14F-4D97-AF65-F5344CB8AC3E}">
        <p14:creationId xmlns:p14="http://schemas.microsoft.com/office/powerpoint/2010/main" val="1349995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274B7-8F02-4611-3613-A0971D32A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00C11-DD96-AF61-66FE-ECD8B781C8B1}"/>
              </a:ext>
            </a:extLst>
          </p:cNvPr>
          <p:cNvSpPr>
            <a:spLocks noGrp="1"/>
          </p:cNvSpPr>
          <p:nvPr>
            <p:ph type="title"/>
          </p:nvPr>
        </p:nvSpPr>
        <p:spPr/>
        <p:txBody>
          <a:bodyPr/>
          <a:lstStyle/>
          <a:p>
            <a:r>
              <a:rPr lang="en-US" dirty="0"/>
              <a:t>Results: </a:t>
            </a:r>
            <a:r>
              <a:rPr lang="en-US" sz="3200" b="1" dirty="0">
                <a:solidFill>
                  <a:srgbClr val="FFFF00"/>
                </a:solidFill>
                <a:latin typeface="Segoe UI" panose="020B0502040204020203" pitchFamily="34" charset="0"/>
                <a:ea typeface="Arial"/>
                <a:cs typeface="Segoe UI" panose="020B0502040204020203" pitchFamily="34" charset="0"/>
                <a:sym typeface="Arial"/>
              </a:rPr>
              <a:t>IoT-based </a:t>
            </a:r>
            <a:r>
              <a:rPr lang="en-US" dirty="0">
                <a:ea typeface="Arial"/>
                <a:sym typeface="Arial"/>
              </a:rPr>
              <a:t>Fire Alarm</a:t>
            </a:r>
            <a:r>
              <a:rPr lang="en-US" sz="3200" b="1" dirty="0">
                <a:solidFill>
                  <a:srgbClr val="FFFF00"/>
                </a:solidFill>
                <a:latin typeface="Segoe UI" panose="020B0502040204020203" pitchFamily="34" charset="0"/>
                <a:ea typeface="Arial"/>
                <a:cs typeface="Segoe UI" panose="020B0502040204020203" pitchFamily="34" charset="0"/>
                <a:sym typeface="Arial"/>
              </a:rPr>
              <a:t> System</a:t>
            </a:r>
            <a:endParaRPr lang="en-PH" dirty="0"/>
          </a:p>
        </p:txBody>
      </p:sp>
      <p:sp>
        <p:nvSpPr>
          <p:cNvPr id="11" name="Content Placeholder 2">
            <a:extLst>
              <a:ext uri="{FF2B5EF4-FFF2-40B4-BE49-F238E27FC236}">
                <a16:creationId xmlns:a16="http://schemas.microsoft.com/office/drawing/2014/main" id="{A8439A3A-0FC1-BD00-A2F6-ABB7A6C1C6B2}"/>
              </a:ext>
            </a:extLst>
          </p:cNvPr>
          <p:cNvSpPr>
            <a:spLocks noGrp="1"/>
          </p:cNvSpPr>
          <p:nvPr>
            <p:ph idx="1"/>
          </p:nvPr>
        </p:nvSpPr>
        <p:spPr>
          <a:xfrm>
            <a:off x="288437" y="1244339"/>
            <a:ext cx="5223854" cy="4713401"/>
          </a:xfrm>
        </p:spPr>
        <p:txBody>
          <a:bodyPr>
            <a:normAutofit lnSpcReduction="10000"/>
          </a:bodyPr>
          <a:lstStyle/>
          <a:p>
            <a:pPr algn="just">
              <a:spcAft>
                <a:spcPts val="6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Floor 1:</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Triggered the alarm four times, one continuous</a:t>
            </a:r>
          </a:p>
          <a:p>
            <a:pPr algn="just">
              <a:spcAft>
                <a:spcPts val="6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Floor 2:</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Triggered the alarm once</a:t>
            </a:r>
          </a:p>
          <a:p>
            <a:pPr algn="just">
              <a:spcAft>
                <a:spcPts val="6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Floor 3:</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Triggered the alarm thrice</a:t>
            </a:r>
          </a:p>
          <a:p>
            <a:pPr algn="just">
              <a:spcAft>
                <a:spcPts val="6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Floor 4:</a:t>
            </a:r>
          </a:p>
          <a:p>
            <a:pPr lvl="1" algn="just">
              <a:spcAft>
                <a:spcPts val="600"/>
              </a:spcAft>
              <a:buFont typeface="Wingdings" panose="05000000000000000000" pitchFamily="2" charset="2"/>
              <a:buChar char="§"/>
            </a:pPr>
            <a:r>
              <a:rPr lang="en-US" dirty="0">
                <a:latin typeface="+mj-lt"/>
                <a:ea typeface="Open Sans" panose="020B0606030504020204" pitchFamily="34" charset="0"/>
                <a:cs typeface="Open Sans" panose="020B0606030504020204" pitchFamily="34" charset="0"/>
              </a:rPr>
              <a:t>Triggered the alarm twice; both are far from each other</a:t>
            </a:r>
          </a:p>
        </p:txBody>
      </p:sp>
      <p:pic>
        <p:nvPicPr>
          <p:cNvPr id="3" name="Picture 2">
            <a:extLst>
              <a:ext uri="{FF2B5EF4-FFF2-40B4-BE49-F238E27FC236}">
                <a16:creationId xmlns:a16="http://schemas.microsoft.com/office/drawing/2014/main" id="{FD9B3208-EF5A-258F-FFEA-5B2DE49368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6263" y="1397000"/>
            <a:ext cx="6337300" cy="4064000"/>
          </a:xfrm>
          <a:prstGeom prst="rect">
            <a:avLst/>
          </a:prstGeom>
        </p:spPr>
      </p:pic>
    </p:spTree>
    <p:extLst>
      <p:ext uri="{BB962C8B-B14F-4D97-AF65-F5344CB8AC3E}">
        <p14:creationId xmlns:p14="http://schemas.microsoft.com/office/powerpoint/2010/main" val="2044330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marL="0" indent="0" algn="just">
              <a:spcAft>
                <a:spcPts val="1200"/>
              </a:spcAft>
              <a:buNone/>
            </a:pPr>
            <a:r>
              <a:rPr lang="en-US" sz="3200" dirty="0">
                <a:latin typeface="+mj-lt"/>
                <a:ea typeface="Open Sans" panose="020B0606030504020204" pitchFamily="34" charset="0"/>
                <a:cs typeface="Open Sans" panose="020B0606030504020204" pitchFamily="34" charset="0"/>
              </a:rPr>
              <a:t>The IoT-based Fire Alarm System works in a 4-storey building with the following operations:</a:t>
            </a:r>
          </a:p>
          <a:p>
            <a:pPr lvl="1" algn="just">
              <a:spcAft>
                <a:spcPts val="1200"/>
              </a:spcAft>
              <a:buFont typeface="Wingdings" panose="05000000000000000000" pitchFamily="2" charset="2"/>
              <a:buChar char="Ø"/>
            </a:pPr>
            <a:r>
              <a:rPr lang="en-US" sz="2800" dirty="0">
                <a:latin typeface="+mj-lt"/>
                <a:ea typeface="Open Sans" panose="020B0606030504020204" pitchFamily="34" charset="0"/>
                <a:cs typeface="Open Sans" panose="020B0606030504020204" pitchFamily="34" charset="0"/>
              </a:rPr>
              <a:t> the flame sensor detects fire with threshold of 500</a:t>
            </a:r>
          </a:p>
          <a:p>
            <a:pPr lvl="1" algn="just">
              <a:spcAft>
                <a:spcPts val="1200"/>
              </a:spcAft>
              <a:buFont typeface="Wingdings" panose="05000000000000000000" pitchFamily="2" charset="2"/>
              <a:buChar char="Ø"/>
            </a:pPr>
            <a:r>
              <a:rPr lang="en-US" sz="2800" dirty="0">
                <a:latin typeface="+mj-lt"/>
                <a:ea typeface="Open Sans" panose="020B0606030504020204" pitchFamily="34" charset="0"/>
                <a:cs typeface="Open Sans" panose="020B0606030504020204" pitchFamily="34" charset="0"/>
              </a:rPr>
              <a:t> the passive buzzer alarms thrice after detection</a:t>
            </a:r>
          </a:p>
          <a:p>
            <a:pPr lvl="1" algn="just">
              <a:spcAft>
                <a:spcPts val="1200"/>
              </a:spcAft>
              <a:buFont typeface="Wingdings" panose="05000000000000000000" pitchFamily="2" charset="2"/>
              <a:buChar char="Ø"/>
            </a:pPr>
            <a:r>
              <a:rPr lang="en-US" sz="2800" dirty="0">
                <a:latin typeface="+mj-lt"/>
                <a:ea typeface="Open Sans" panose="020B0606030504020204" pitchFamily="34" charset="0"/>
                <a:cs typeface="Open Sans" panose="020B0606030504020204" pitchFamily="34" charset="0"/>
              </a:rPr>
              <a:t> an LED shows what floor is currently being detected</a:t>
            </a:r>
          </a:p>
          <a:p>
            <a:pPr lvl="1" algn="just">
              <a:spcAft>
                <a:spcPts val="1200"/>
              </a:spcAft>
              <a:buFont typeface="Wingdings" panose="05000000000000000000" pitchFamily="2" charset="2"/>
              <a:buChar char="Ø"/>
            </a:pPr>
            <a:r>
              <a:rPr lang="en-US" sz="2800" dirty="0">
                <a:latin typeface="+mj-lt"/>
                <a:ea typeface="Open Sans" panose="020B0606030504020204" pitchFamily="34" charset="0"/>
                <a:cs typeface="Open Sans" panose="020B0606030504020204" pitchFamily="34" charset="0"/>
              </a:rPr>
              <a:t> the button is used to switch among floors</a:t>
            </a:r>
            <a:endParaRPr lang="en-PH" sz="2800" dirty="0">
              <a:latin typeface="+mj-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645853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algn="just">
              <a:spcAft>
                <a:spcPts val="12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To apply past lessons: </a:t>
            </a:r>
          </a:p>
          <a:p>
            <a:pPr lvl="1" algn="just">
              <a:spcAft>
                <a:spcPts val="1200"/>
              </a:spcAft>
              <a:buFont typeface="Wingdings" panose="05000000000000000000" pitchFamily="2" charset="2"/>
              <a:buChar char="ü"/>
            </a:pPr>
            <a:r>
              <a:rPr lang="en-US" dirty="0">
                <a:latin typeface="+mj-lt"/>
                <a:ea typeface="Open Sans" panose="020B0606030504020204" pitchFamily="34" charset="0"/>
                <a:cs typeface="Open Sans" panose="020B0606030504020204" pitchFamily="34" charset="0"/>
              </a:rPr>
              <a:t>the proper connection of wires</a:t>
            </a:r>
          </a:p>
          <a:p>
            <a:pPr lvl="1" algn="just">
              <a:spcAft>
                <a:spcPts val="1200"/>
              </a:spcAft>
              <a:buFont typeface="Wingdings" panose="05000000000000000000" pitchFamily="2" charset="2"/>
              <a:buChar char="ü"/>
            </a:pPr>
            <a:r>
              <a:rPr lang="en-US" dirty="0">
                <a:latin typeface="+mj-lt"/>
                <a:ea typeface="Open Sans" panose="020B0606030504020204" pitchFamily="34" charset="0"/>
                <a:cs typeface="Open Sans" panose="020B0606030504020204" pitchFamily="34" charset="0"/>
              </a:rPr>
              <a:t>application of the codes</a:t>
            </a:r>
          </a:p>
          <a:p>
            <a:pPr lvl="1" algn="just">
              <a:spcAft>
                <a:spcPts val="1200"/>
              </a:spcAft>
              <a:buFont typeface="Wingdings" panose="05000000000000000000" pitchFamily="2" charset="2"/>
              <a:buChar char="ü"/>
            </a:pPr>
            <a:r>
              <a:rPr lang="en-US" dirty="0">
                <a:latin typeface="+mj-lt"/>
                <a:ea typeface="Open Sans" panose="020B0606030504020204" pitchFamily="34" charset="0"/>
                <a:cs typeface="Open Sans" panose="020B0606030504020204" pitchFamily="34" charset="0"/>
              </a:rPr>
              <a:t>the implementation of IoT were done </a:t>
            </a:r>
          </a:p>
          <a:p>
            <a:pPr algn="just">
              <a:spcAft>
                <a:spcPts val="12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a:t>
            </a:r>
            <a:r>
              <a:rPr lang="en-US" dirty="0" err="1">
                <a:latin typeface="+mj-lt"/>
                <a:ea typeface="Open Sans" panose="020B0606030504020204" pitchFamily="34" charset="0"/>
                <a:cs typeface="Open Sans" panose="020B0606030504020204" pitchFamily="34" charset="0"/>
              </a:rPr>
              <a:t>ThingSpeak</a:t>
            </a:r>
            <a:r>
              <a:rPr lang="en-US" dirty="0">
                <a:latin typeface="+mj-lt"/>
                <a:ea typeface="Open Sans" panose="020B0606030504020204" pitchFamily="34" charset="0"/>
                <a:cs typeface="Open Sans" panose="020B0606030504020204" pitchFamily="34" charset="0"/>
              </a:rPr>
              <a:t> was synchronized successfully with the ESP8266, wherein it outputs every 15 seconds</a:t>
            </a:r>
          </a:p>
          <a:p>
            <a:pPr algn="just">
              <a:spcAft>
                <a:spcPts val="1200"/>
              </a:spcAft>
              <a:buFont typeface="Wingdings" panose="05000000000000000000" pitchFamily="2" charset="2"/>
              <a:buChar char="Ø"/>
            </a:pPr>
            <a:r>
              <a:rPr lang="en-US" dirty="0">
                <a:latin typeface="+mj-lt"/>
                <a:ea typeface="Open Sans" panose="020B0606030504020204" pitchFamily="34" charset="0"/>
                <a:cs typeface="Open Sans" panose="020B0606030504020204" pitchFamily="34" charset="0"/>
              </a:rPr>
              <a:t> Therefore, An embedded systems with IoT was created using the flame sensor, passive buzzer, LEDs, a button, and the ESP8266.</a:t>
            </a:r>
            <a:endParaRPr lang="en-PH" dirty="0">
              <a:latin typeface="+mj-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66552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50"/>
                                        <p:tgtEl>
                                          <p:spTgt spid="3">
                                            <p:txEl>
                                              <p:pRg st="1" end="1"/>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50"/>
                                        <p:tgtEl>
                                          <p:spTgt spid="3">
                                            <p:txEl>
                                              <p:pRg st="2" end="2"/>
                                            </p:txEl>
                                          </p:spTgt>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250"/>
                                        <p:tgtEl>
                                          <p:spTgt spid="3">
                                            <p:txEl>
                                              <p:pRg st="3" end="3"/>
                                            </p:txEl>
                                          </p:spTgt>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50"/>
                                        <p:tgtEl>
                                          <p:spTgt spid="3">
                                            <p:txEl>
                                              <p:pRg st="4" end="4"/>
                                            </p:txEl>
                                          </p:spTgt>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045B03F0E29F341B8FA8A02C69678F2" ma:contentTypeVersion="16" ma:contentTypeDescription="Create a new document." ma:contentTypeScope="" ma:versionID="573093756d776e3dbf04c8eb240bd85a">
  <xsd:schema xmlns:xsd="http://www.w3.org/2001/XMLSchema" xmlns:xs="http://www.w3.org/2001/XMLSchema" xmlns:p="http://schemas.microsoft.com/office/2006/metadata/properties" xmlns:ns2="1ea434b8-4dc5-44f7-bb31-0866ee440822" xmlns:ns3="d90711d2-37bb-4b26-8b23-51c02972fe26" targetNamespace="http://schemas.microsoft.com/office/2006/metadata/properties" ma:root="true" ma:fieldsID="00a48d9f954b4b23e62df43abd264511" ns2:_="" ns3:_="">
    <xsd:import namespace="1ea434b8-4dc5-44f7-bb31-0866ee440822"/>
    <xsd:import namespace="d90711d2-37bb-4b26-8b23-51c02972fe2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a434b8-4dc5-44f7-bb31-0866ee4408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08379bb-b442-46b3-b8c0-8817e2eba01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90711d2-37bb-4b26-8b23-51c02972fe26"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f5686e5-f3f9-4684-9809-4e223b1b0fd7}" ma:internalName="TaxCatchAll" ma:showField="CatchAllData" ma:web="d90711d2-37bb-4b26-8b23-51c02972fe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d90711d2-37bb-4b26-8b23-51c02972fe26">
      <UserInfo>
        <DisplayName/>
        <AccountId xsi:nil="true"/>
        <AccountType/>
      </UserInfo>
    </SharedWithUsers>
    <lcf76f155ced4ddcb4097134ff3c332f xmlns="1ea434b8-4dc5-44f7-bb31-0866ee440822">
      <Terms xmlns="http://schemas.microsoft.com/office/infopath/2007/PartnerControls"/>
    </lcf76f155ced4ddcb4097134ff3c332f>
    <TaxCatchAll xmlns="d90711d2-37bb-4b26-8b23-51c02972fe26" xsi:nil="true"/>
  </documentManagement>
</p:properties>
</file>

<file path=customXml/itemProps1.xml><?xml version="1.0" encoding="utf-8"?>
<ds:datastoreItem xmlns:ds="http://schemas.openxmlformats.org/officeDocument/2006/customXml" ds:itemID="{DA769C6F-6ADF-412F-8F70-2DD1A151B0C3}">
  <ds:schemaRefs>
    <ds:schemaRef ds:uri="http://schemas.microsoft.com/sharepoint/v3/contenttype/forms"/>
  </ds:schemaRefs>
</ds:datastoreItem>
</file>

<file path=customXml/itemProps2.xml><?xml version="1.0" encoding="utf-8"?>
<ds:datastoreItem xmlns:ds="http://schemas.openxmlformats.org/officeDocument/2006/customXml" ds:itemID="{6C7BBEC2-693C-4BAB-A217-B3E9F46427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a434b8-4dc5-44f7-bb31-0866ee440822"/>
    <ds:schemaRef ds:uri="d90711d2-37bb-4b26-8b23-51c02972fe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FBD36D-DAE8-46CB-B778-7C1B43AD43BF}">
  <ds:schemaRefs>
    <ds:schemaRef ds:uri="http://purl.org/dc/terms/"/>
    <ds:schemaRef ds:uri="http://schemas.microsoft.com/office/2006/documentManagement/types"/>
    <ds:schemaRef ds:uri="92cb724c-d654-454f-915d-237124a8a1a9"/>
    <ds:schemaRef ds:uri="http://purl.org/dc/dcmitype/"/>
    <ds:schemaRef ds:uri="http://purl.org/dc/elements/1.1/"/>
    <ds:schemaRef ds:uri="http://www.w3.org/XML/1998/namespace"/>
    <ds:schemaRef ds:uri="http://schemas.microsoft.com/office/infopath/2007/PartnerControls"/>
    <ds:schemaRef ds:uri="http://schemas.openxmlformats.org/package/2006/metadata/core-properties"/>
    <ds:schemaRef ds:uri="4b30f15d-6c4d-47ed-bde6-797b56236eb0"/>
    <ds:schemaRef ds:uri="http://schemas.microsoft.com/office/2006/metadata/properties"/>
    <ds:schemaRef ds:uri="d90711d2-37bb-4b26-8b23-51c02972fe26"/>
    <ds:schemaRef ds:uri="1ea434b8-4dc5-44f7-bb31-0866ee440822"/>
  </ds:schemaRefs>
</ds:datastoreItem>
</file>

<file path=docProps/app.xml><?xml version="1.0" encoding="utf-8"?>
<Properties xmlns="http://schemas.openxmlformats.org/officeDocument/2006/extended-properties" xmlns:vt="http://schemas.openxmlformats.org/officeDocument/2006/docPropsVTypes">
  <Template/>
  <TotalTime>4573</TotalTime>
  <Words>568</Words>
  <Application>Microsoft Office PowerPoint</Application>
  <PresentationFormat>Widescreen</PresentationFormat>
  <Paragraphs>86</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Open Sans</vt:lpstr>
      <vt:lpstr>Segoe UI</vt:lpstr>
      <vt:lpstr>Wingdings</vt:lpstr>
      <vt:lpstr>2_Office Theme</vt:lpstr>
      <vt:lpstr>IOT-BASED FIRE ALARM SYSTEM</vt:lpstr>
      <vt:lpstr>Introduction: IoT-based Fire Alarm System</vt:lpstr>
      <vt:lpstr>Objectives</vt:lpstr>
      <vt:lpstr>Materials</vt:lpstr>
      <vt:lpstr>Materials</vt:lpstr>
      <vt:lpstr>Discussion: IoT-based Fire Alarm System</vt:lpstr>
      <vt:lpstr>Discussion: IoT-based Fire Alarm System</vt:lpstr>
      <vt:lpstr>Discussion: IoT-based Fire Alarm System</vt:lpstr>
      <vt:lpstr>Discussion: IoT-based Fire Alarm System</vt:lpstr>
      <vt:lpstr>Results: IoT-based Fire Alarm System</vt:lpstr>
      <vt:lpstr>Conclusion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orientation will start in</dc:title>
  <dc:subject/>
  <dc:creator>Jessica Pauline L. Faigones</dc:creator>
  <cp:keywords/>
  <dc:description/>
  <cp:lastModifiedBy>Raphael Nano</cp:lastModifiedBy>
  <cp:revision>354</cp:revision>
  <dcterms:created xsi:type="dcterms:W3CDTF">2020-06-10T07:30:38Z</dcterms:created>
  <dcterms:modified xsi:type="dcterms:W3CDTF">2024-04-12T02:14:27Z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182800</vt:r8>
  </property>
  <property fmtid="{D5CDD505-2E9C-101B-9397-08002B2CF9AE}" pid="3" name="ContentTypeId">
    <vt:lpwstr>0x0101000045B03F0E29F341B8FA8A02C69678F2</vt:lpwstr>
  </property>
  <property fmtid="{D5CDD505-2E9C-101B-9397-08002B2CF9AE}" pid="4" name="ComplianceAssetId">
    <vt:lpwstr/>
  </property>
</Properties>
</file>