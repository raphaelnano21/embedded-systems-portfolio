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</p:sldMasterIdLst>
  <p:notesMasterIdLst>
    <p:notesMasterId r:id="rId19"/>
  </p:notesMasterIdLst>
  <p:handoutMasterIdLst>
    <p:handoutMasterId r:id="rId20"/>
  </p:handoutMasterIdLst>
  <p:sldIdLst>
    <p:sldId id="881" r:id="rId5"/>
    <p:sldId id="943" r:id="rId6"/>
    <p:sldId id="944" r:id="rId7"/>
    <p:sldId id="945" r:id="rId8"/>
    <p:sldId id="956" r:id="rId9"/>
    <p:sldId id="954" r:id="rId10"/>
    <p:sldId id="960" r:id="rId11"/>
    <p:sldId id="963" r:id="rId12"/>
    <p:sldId id="961" r:id="rId13"/>
    <p:sldId id="965" r:id="rId14"/>
    <p:sldId id="964" r:id="rId15"/>
    <p:sldId id="966" r:id="rId16"/>
    <p:sldId id="949" r:id="rId17"/>
    <p:sldId id="95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onis A. Padilla" initials="DAP" lastIdx="1" clrIdx="0">
    <p:extLst>
      <p:ext uri="{19B8F6BF-5375-455C-9EA6-DF929625EA0E}">
        <p15:presenceInfo xmlns:p15="http://schemas.microsoft.com/office/powerpoint/2012/main" userId="S::dapadilla@mapua.edu.ph::22fd53f7-3725-4d55-add0-dfc6f0ea2c9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50021"/>
    <a:srgbClr val="E1261C"/>
    <a:srgbClr val="F9F9F9"/>
    <a:srgbClr val="CC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18" autoAdjust="0"/>
    <p:restoredTop sz="90898" autoAdjust="0"/>
  </p:normalViewPr>
  <p:slideViewPr>
    <p:cSldViewPr snapToGrid="0">
      <p:cViewPr varScale="1">
        <p:scale>
          <a:sx n="81" d="100"/>
          <a:sy n="81" d="100"/>
        </p:scale>
        <p:origin x="259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09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AF2D7B-A1C4-422F-8BEC-B2ADA9B38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4CB62-60B8-42ED-B41D-1204D6EC34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84004C-1C80-46E0-9113-8DACE1C8170C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98C740-DCA6-4653-8D38-299256130F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77E7C8-7A32-480E-8E8D-D8E4B9A035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14B00-5376-4F9D-B569-068DF0409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357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E3EBA-9407-2244-8D2E-48917138C0BF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4D408-4DFC-BF47-8641-93FB6C180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652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724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26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23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230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3077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507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8080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013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535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2F83D-E917-8C81-2E02-1AF084AA0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6C397E-3651-80D4-4D34-8DC0E94EC6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A71F8F-534C-6E6C-F0AF-77536C230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CB8ED-277D-94C8-F7B7-ABE33FA7CC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3968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C7EC5-4D7C-1B5F-C542-9EB92718D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85B6BB-ED4B-BC2E-498E-B79AE8D0A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4F2800-EA72-0206-A0EA-21A084F86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DD784-2681-EA64-74E5-AA69D9C2F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2121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C7EC5-4D7C-1B5F-C542-9EB92718D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85B6BB-ED4B-BC2E-498E-B79AE8D0A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4F2800-EA72-0206-A0EA-21A084F86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DD784-2681-EA64-74E5-AA69D9C2F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428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12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11/03/2024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04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435" y="282298"/>
            <a:ext cx="9383339" cy="512401"/>
          </a:xfrm>
        </p:spPr>
        <p:txBody>
          <a:bodyPr>
            <a:noAutofit/>
          </a:bodyPr>
          <a:lstStyle>
            <a:lvl1pPr>
              <a:defRPr sz="3200" b="1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154" y="1156700"/>
            <a:ext cx="10564182" cy="45567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11/03/2024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66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11/03/2024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21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11/03/2024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25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11/03/2024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07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11/03/2024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875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11/03/2024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04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11/03/2024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454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11/03/2024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308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11/03/2024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052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11/03/2024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386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4" r:id="rId7"/>
    <p:sldLayoutId id="2147483835" r:id="rId8"/>
    <p:sldLayoutId id="2147483836" r:id="rId9"/>
    <p:sldLayoutId id="2147483837" r:id="rId10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 txBox="1">
            <a:spLocks noGrp="1"/>
          </p:cNvSpPr>
          <p:nvPr>
            <p:ph type="ctrTitle"/>
          </p:nvPr>
        </p:nvSpPr>
        <p:spPr>
          <a:xfrm>
            <a:off x="284766" y="846685"/>
            <a:ext cx="6812006" cy="711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lvl="0" indent="-203200" algn="l">
              <a:spcBef>
                <a:spcPts val="0"/>
              </a:spcBef>
              <a:buClr>
                <a:srgbClr val="FFFF00"/>
              </a:buClr>
              <a:buSzPct val="100000"/>
            </a:pPr>
            <a:r>
              <a:rPr lang="en-US" sz="40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IRRIGATION SYSTEM</a:t>
            </a:r>
            <a:endParaRPr lang="en-PH" sz="4000" b="1" dirty="0">
              <a:solidFill>
                <a:srgbClr val="FFFF00"/>
              </a:solidFill>
              <a:latin typeface="Segoe UI" panose="020B0502040204020203" pitchFamily="34" charset="0"/>
              <a:ea typeface="Arial"/>
              <a:cs typeface="Segoe UI" panose="020B0502040204020203" pitchFamily="34" charset="0"/>
              <a:sym typeface="Arial"/>
            </a:endParaRPr>
          </a:p>
        </p:txBody>
      </p:sp>
      <p:sp>
        <p:nvSpPr>
          <p:cNvPr id="13" name="Shape 13"/>
          <p:cNvSpPr txBox="1">
            <a:spLocks noGrp="1"/>
          </p:cNvSpPr>
          <p:nvPr>
            <p:ph type="subTitle" idx="1"/>
          </p:nvPr>
        </p:nvSpPr>
        <p:spPr>
          <a:xfrm>
            <a:off x="284766" y="1557885"/>
            <a:ext cx="6034670" cy="1095521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lvl="0" indent="-127000" algn="l">
              <a:spcBef>
                <a:spcPts val="0"/>
              </a:spcBef>
              <a:buClr>
                <a:schemeClr val="lt1"/>
              </a:buClr>
              <a:buSzPct val="100000"/>
            </a:pPr>
            <a:r>
              <a:rPr lang="en-GB" sz="3200" b="1" dirty="0">
                <a:solidFill>
                  <a:schemeClr val="lt1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Experiment 4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B0E7A66-65F8-4D09-A464-3721AFFC3633}"/>
              </a:ext>
            </a:extLst>
          </p:cNvPr>
          <p:cNvSpPr txBox="1">
            <a:spLocks/>
          </p:cNvSpPr>
          <p:nvPr/>
        </p:nvSpPr>
        <p:spPr>
          <a:xfrm>
            <a:off x="147702" y="5904349"/>
            <a:ext cx="6949070" cy="770513"/>
          </a:xfrm>
          <a:prstGeom prst="rect">
            <a:avLst/>
          </a:prstGeom>
          <a:noFill/>
          <a:ln>
            <a:noFill/>
          </a:ln>
          <a:effectLst>
            <a:reflection blurRad="88900" endPos="0" dist="50800" dir="5400000" sy="-100000" algn="bl" rotWithShape="0"/>
          </a:effectLst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Computer Engineering Department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School of Electrical, Electronics, and Computer Engineering</a:t>
            </a:r>
          </a:p>
        </p:txBody>
      </p:sp>
      <p:pic>
        <p:nvPicPr>
          <p:cNvPr id="3" name="Picture 2" descr="A picture containing object, measure, clock, cup&#10;&#10;Description automatically generated">
            <a:extLst>
              <a:ext uri="{FF2B5EF4-FFF2-40B4-BE49-F238E27FC236}">
                <a16:creationId xmlns:a16="http://schemas.microsoft.com/office/drawing/2014/main" id="{93681FFB-7892-473D-BA03-7308FEE22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7600" y="2834255"/>
            <a:ext cx="1531272" cy="1531272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E44DF05-07A0-4892-8981-CB6440644483}"/>
              </a:ext>
            </a:extLst>
          </p:cNvPr>
          <p:cNvSpPr txBox="1">
            <a:spLocks/>
          </p:cNvSpPr>
          <p:nvPr/>
        </p:nvSpPr>
        <p:spPr>
          <a:xfrm>
            <a:off x="284766" y="3741893"/>
            <a:ext cx="4191731" cy="1382244"/>
          </a:xfrm>
          <a:prstGeom prst="rect">
            <a:avLst/>
          </a:prstGeom>
          <a:noFill/>
          <a:ln>
            <a:noFill/>
          </a:ln>
          <a:effectLst>
            <a:reflection blurRad="88900" endPos="0" dist="50800" dir="5400000" sy="-100000" algn="bl" rotWithShape="0"/>
          </a:effectLst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Raphael S. Nano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CPE162P / C1</a:t>
            </a:r>
          </a:p>
        </p:txBody>
      </p:sp>
    </p:spTree>
    <p:extLst>
      <p:ext uri="{BB962C8B-B14F-4D97-AF65-F5344CB8AC3E}">
        <p14:creationId xmlns:p14="http://schemas.microsoft.com/office/powerpoint/2010/main" val="189877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0BE44-DEA0-C8F1-B220-4F56E5330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435" y="282298"/>
            <a:ext cx="10213026" cy="512401"/>
          </a:xfrm>
        </p:spPr>
        <p:txBody>
          <a:bodyPr/>
          <a:lstStyle/>
          <a:p>
            <a:r>
              <a:rPr lang="en-US" dirty="0"/>
              <a:t>Introduction: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Irrigation 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19F78-2EA6-6CC1-752D-C8DA5962E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 Soil quality is critical for plant health, and variables that increase soil quality include sunlight, nutrients, and moisture.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 The soil's moisture content might vary depending on the plant. Some may require a lot of water, while others can thrive with little to none.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 With the usage of IoT, a system for watering plants would be more convenient and efficient, with soil moisture detected in real time and visible to the user on another device</a:t>
            </a:r>
            <a:endParaRPr lang="en-PH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93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A6651-8300-9B1E-D82E-D9BDEDD2C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FD49A-96B4-5E3D-262C-6DE9E8C54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3" y="1156700"/>
            <a:ext cx="11528661" cy="4556765"/>
          </a:xfrm>
        </p:spPr>
        <p:txBody>
          <a:bodyPr>
            <a:normAutofit/>
          </a:bodyPr>
          <a:lstStyle/>
          <a:p>
            <a:pPr marL="342900" indent="-342900" algn="just">
              <a:spcAft>
                <a:spcPts val="1200"/>
              </a:spcAft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To demonstrate how an IoT based irrigation system works.</a:t>
            </a:r>
          </a:p>
          <a:p>
            <a:pPr marL="342900" indent="-342900" algn="just">
              <a:spcAft>
                <a:spcPts val="1200"/>
              </a:spcAft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To be able apply what were learned in logic circuits and switching theory, microprocessors, CPE160P, and CPE161P.</a:t>
            </a:r>
          </a:p>
          <a:p>
            <a:pPr marL="342900" indent="-342900" algn="just">
              <a:spcAft>
                <a:spcPts val="1200"/>
              </a:spcAft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To be able to apply embedded systems with IoT using Arduino kit</a:t>
            </a:r>
          </a:p>
          <a:p>
            <a:pPr marL="342900" indent="-342900" algn="just">
              <a:spcAft>
                <a:spcPts val="1200"/>
              </a:spcAft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To be able to use </a:t>
            </a:r>
            <a:r>
              <a:rPr lang="en-US" sz="2400" dirty="0" err="1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ThingSpeak</a:t>
            </a:r>
            <a:r>
              <a:rPr lang="en-US" sz="2400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 for the data collection and analysis.</a:t>
            </a:r>
          </a:p>
        </p:txBody>
      </p:sp>
    </p:spTree>
    <p:extLst>
      <p:ext uri="{BB962C8B-B14F-4D97-AF65-F5344CB8AC3E}">
        <p14:creationId xmlns:p14="http://schemas.microsoft.com/office/powerpoint/2010/main" val="331830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181D8-5970-A98E-D2DD-7FB6C53A6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B3153-534E-FE9A-3AE5-29ADD83AF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H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Hardware</a:t>
            </a:r>
          </a:p>
          <a:p>
            <a:pPr marL="0" indent="0">
              <a:buNone/>
            </a:pPr>
            <a:endParaRPr lang="en-PH" dirty="0">
              <a:solidFill>
                <a:srgbClr val="262626"/>
              </a:solidFill>
              <a:effectLst/>
              <a:latin typeface="+mj-lt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PH" dirty="0">
                <a:solidFill>
                  <a:srgbClr val="262626"/>
                </a:solidFill>
                <a:effectLst/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ESP8266 </a:t>
            </a:r>
            <a:r>
              <a:rPr lang="en-PH" dirty="0" err="1">
                <a:solidFill>
                  <a:srgbClr val="262626"/>
                </a:solidFill>
                <a:effectLst/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WiFi</a:t>
            </a:r>
            <a:r>
              <a:rPr lang="en-PH" dirty="0">
                <a:solidFill>
                  <a:srgbClr val="262626"/>
                </a:solidFill>
                <a:effectLst/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Module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dirty="0">
                <a:solidFill>
                  <a:srgbClr val="262626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Soil Moisture Probe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dirty="0">
                <a:solidFill>
                  <a:srgbClr val="262626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LM393 Module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dirty="0">
                <a:solidFill>
                  <a:srgbClr val="262626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Liquid Crystal Display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dirty="0">
                <a:solidFill>
                  <a:srgbClr val="262626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SG90 Servo Motor</a:t>
            </a:r>
            <a:endParaRPr lang="en-PH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69FF89-F6DC-4C55-DCFE-F7F69C1D0B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2" r="2722"/>
          <a:stretch/>
        </p:blipFill>
        <p:spPr>
          <a:xfrm>
            <a:off x="5341856" y="1622096"/>
            <a:ext cx="6015641" cy="361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00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181D8-5970-A98E-D2DD-7FB6C53A6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B3153-534E-FE9A-3AE5-29ADD83AF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H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Software Libraries</a:t>
            </a:r>
          </a:p>
          <a:p>
            <a:pPr marL="0" indent="0">
              <a:buNone/>
            </a:pPr>
            <a:endParaRPr lang="en-PH" dirty="0">
              <a:solidFill>
                <a:srgbClr val="262626"/>
              </a:solidFill>
              <a:effectLst/>
              <a:latin typeface="+mj-lt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 ESP8266WiFi.h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dirty="0">
                <a:solidFill>
                  <a:srgbClr val="262626"/>
                </a:solidFill>
                <a:latin typeface="+mj-lt"/>
              </a:rPr>
              <a:t> </a:t>
            </a:r>
            <a:r>
              <a:rPr lang="en-PH" dirty="0" err="1">
                <a:solidFill>
                  <a:srgbClr val="262626"/>
                </a:solidFill>
                <a:latin typeface="+mj-lt"/>
              </a:rPr>
              <a:t>ThingSpeak.h</a:t>
            </a:r>
            <a:endParaRPr lang="en-PH" dirty="0">
              <a:solidFill>
                <a:srgbClr val="262626"/>
              </a:solidFill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dirty="0">
                <a:solidFill>
                  <a:srgbClr val="262626"/>
                </a:solidFill>
                <a:latin typeface="+mj-lt"/>
              </a:rPr>
              <a:t> </a:t>
            </a:r>
            <a:r>
              <a:rPr lang="en-PH" dirty="0" err="1">
                <a:solidFill>
                  <a:srgbClr val="262626"/>
                </a:solidFill>
                <a:latin typeface="+mj-lt"/>
              </a:rPr>
              <a:t>Servo.h</a:t>
            </a:r>
            <a:endParaRPr lang="en-PH" dirty="0">
              <a:solidFill>
                <a:srgbClr val="262626"/>
              </a:solidFill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dirty="0">
                <a:solidFill>
                  <a:srgbClr val="262626"/>
                </a:solidFill>
                <a:latin typeface="+mj-lt"/>
              </a:rPr>
              <a:t> LiquidCrystal_I2C.h</a:t>
            </a:r>
            <a:endParaRPr lang="en-PH" sz="32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B6C0AC-135B-202E-C196-F158D6B800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61965" y="2147276"/>
            <a:ext cx="5200371" cy="256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434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</a:t>
            </a:r>
            <a:r>
              <a:rPr lang="en-US" dirty="0">
                <a:ea typeface="Arial"/>
                <a:sym typeface="Arial"/>
              </a:rPr>
              <a:t>Irrigation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7" y="1186177"/>
            <a:ext cx="6225486" cy="5085227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Goal is to detect the change in moisture level in the soil and controls the flow of water accordingly with a motor.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will also be utilized for data collection and analysis, including value graphing.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FD33AE-3756-38FE-4CDC-D7902C36EDB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87"/>
          <a:stretch/>
        </p:blipFill>
        <p:spPr>
          <a:xfrm>
            <a:off x="7558281" y="3029642"/>
            <a:ext cx="3327663" cy="300990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055393-8AE4-70C9-31CD-E3CCA4EA968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613" b="45360"/>
          <a:stretch/>
        </p:blipFill>
        <p:spPr>
          <a:xfrm>
            <a:off x="6952954" y="1096635"/>
            <a:ext cx="4538319" cy="178275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19391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Irrigation 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5" y="1065229"/>
            <a:ext cx="5226245" cy="5156462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Detection of soil moisture, displaying of values in the LCD, and rotation of servo motor to pour water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readMoist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(): the DHT detects the temperature and humidity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+mj-lt"/>
              </a:rPr>
              <a:t>lcd.print</a:t>
            </a:r>
            <a:r>
              <a:rPr lang="en-US" dirty="0">
                <a:latin typeface="+mj-lt"/>
              </a:rPr>
              <a:t>(): output the value of the moisture in the LCD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servoOp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(): servo would scoop water and pour over the plant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8523B5-AEB9-C1E1-0BA5-633B68A151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538" y="1640264"/>
            <a:ext cx="6300027" cy="14423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05CCAD-867A-5580-F036-C1592AA001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426" y="3179317"/>
            <a:ext cx="3524250" cy="207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00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Irrigation 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5" y="1423449"/>
            <a:ext cx="6131219" cy="4421170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 same code was utilized in establishing the Wi-Fi connection. It provides information to the user via the Serial Monitor, indicating the status of the connection attempt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79B2A3-63D1-77B6-C14B-46752D4BE3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92340" y="2219448"/>
            <a:ext cx="4920586" cy="241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762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Irrigation 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7" y="1244339"/>
            <a:ext cx="5650450" cy="4713401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updates its fields every 15 seconds.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There are two fields: moisture percentage and plant status.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 values are updated using the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ThingSpeak's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writeFields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() function.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4E012A-C529-9FB1-C58C-999CC0FF4B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38887" y="1685675"/>
            <a:ext cx="6013949" cy="233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933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90CD9-2BB1-D09B-5467-29A9ADDB9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B2161-C0AC-DA6B-5C07-E9BDD6449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Irrigation 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3B0F9-AAE9-4145-5310-6A7E39D1D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7" y="1244339"/>
            <a:ext cx="5223854" cy="4713401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Identification of the moisture percentage is every 3 seconds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4 Conditions: Too Dry, Below Normal, Normal, and Drowning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Too Dry: x &lt; 10 %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Below Normal: 10% &lt; x &lt; 30%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Normal: 30% &lt; x &lt; 50%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Drowning: x &gt; 50%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25D845-C70F-DBB7-53E9-834361E3C0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3571" y="1244339"/>
            <a:ext cx="2029460" cy="20764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CAFD16-6BBA-DA58-FC42-379514DB85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6246" y="1244339"/>
            <a:ext cx="3638550" cy="20770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C0BCA3-BEFA-D079-DAF1-B986980F35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3571" y="3483349"/>
            <a:ext cx="4128770" cy="20770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C64535-237E-0351-838B-18D01787CF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3621" y="3513194"/>
            <a:ext cx="2186940" cy="207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966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274B7-8F02-4611-3613-A0971D32A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00C11-DD96-AF61-66FE-ECD8B781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Irrigation System</a:t>
            </a:r>
            <a:endParaRPr lang="en-P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4F8F67-97B9-D84E-3E7E-C9DDD71C12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9363" y="1169362"/>
            <a:ext cx="5727700" cy="18027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BA7D32-FE55-55D1-8970-8846327EBB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9363" y="3634517"/>
            <a:ext cx="5727700" cy="1922145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8439A3A-0FC1-BD00-A2F6-ABB7A6C1C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7" y="1244339"/>
            <a:ext cx="5223854" cy="4713401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Too Dry plant condition required a bit of time for it to be normal, requiring 4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servoOp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() calls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Below Normal plant condition required 3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servoOp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() calls</a:t>
            </a:r>
          </a:p>
        </p:txBody>
      </p:sp>
    </p:spTree>
    <p:extLst>
      <p:ext uri="{BB962C8B-B14F-4D97-AF65-F5344CB8AC3E}">
        <p14:creationId xmlns:p14="http://schemas.microsoft.com/office/powerpoint/2010/main" val="2044330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274B7-8F02-4611-3613-A0971D32A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00C11-DD96-AF61-66FE-ECD8B781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Irrigation System</a:t>
            </a:r>
            <a:endParaRPr lang="en-PH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8439A3A-0FC1-BD00-A2F6-ABB7A6C1C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7" y="1244339"/>
            <a:ext cx="5650450" cy="4713401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Normal and Drowning conditions did not trigger the servo motor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All of the values were displayed in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and on the LCD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CCBE6E-218B-CB77-9DC8-7849FAF427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44339"/>
            <a:ext cx="5727700" cy="18567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76400D-55C1-A07E-44CD-20A4AD43C8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2825" y="3758939"/>
            <a:ext cx="5727700" cy="195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28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20D87-3C2B-E0E7-BF4C-034764EEB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CB3A3-7EAD-78B9-B327-F3EEF871E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4" y="1156700"/>
            <a:ext cx="10320963" cy="5062945"/>
          </a:xfrm>
        </p:spPr>
        <p:txBody>
          <a:bodyPr>
            <a:normAutofit/>
          </a:bodyPr>
          <a:lstStyle/>
          <a:p>
            <a:pPr marL="0" indent="0" algn="just">
              <a:spcAft>
                <a:spcPts val="1200"/>
              </a:spcAft>
              <a:buNone/>
            </a:pPr>
            <a:r>
              <a:rPr lang="en-US" sz="3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The IoT-based Irrigation System functions by:</a:t>
            </a: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8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readMoist</a:t>
            </a:r>
            <a:r>
              <a:rPr lang="en-US" sz="28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() for reading soil moisture</a:t>
            </a: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8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lcd.print</a:t>
            </a:r>
            <a:r>
              <a:rPr lang="en-US" sz="28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() to display moisture values in the LCD</a:t>
            </a: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8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servoOp</a:t>
            </a:r>
            <a:r>
              <a:rPr lang="en-US" sz="28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() to trigger the servo motor to scoop water</a:t>
            </a: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Displays moisture value and plant status in </a:t>
            </a:r>
            <a:r>
              <a:rPr lang="en-US" sz="28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r>
              <a:rPr lang="en-US" sz="28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every 15 seconds</a:t>
            </a:r>
            <a:endParaRPr lang="en-PH" sz="2800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58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20D87-3C2B-E0E7-BF4C-034764EEB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CB3A3-7EAD-78B9-B327-F3EEF871E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4" y="1156700"/>
            <a:ext cx="10320963" cy="5062945"/>
          </a:xfrm>
        </p:spPr>
        <p:txBody>
          <a:bodyPr>
            <a:normAutofit/>
          </a:bodyPr>
          <a:lstStyle/>
          <a:p>
            <a:pPr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 second objective was achieved by: </a:t>
            </a: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connecting the ESP8266 with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using Arduino IDE codes</a:t>
            </a: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applying the LCD, soil moisture sensor, and servo motor libraries </a:t>
            </a: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effectively shows moisture percentage and plant status every 15 seconds, which was accomplished by utilizing the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writeFields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() function</a:t>
            </a: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 IoT-based Irrigation System was successfully developed, with accurate values and evident outputs in the servo motor, LCD, and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PH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45B03F0E29F341B8FA8A02C69678F2" ma:contentTypeVersion="16" ma:contentTypeDescription="Create a new document." ma:contentTypeScope="" ma:versionID="573093756d776e3dbf04c8eb240bd85a">
  <xsd:schema xmlns:xsd="http://www.w3.org/2001/XMLSchema" xmlns:xs="http://www.w3.org/2001/XMLSchema" xmlns:p="http://schemas.microsoft.com/office/2006/metadata/properties" xmlns:ns2="1ea434b8-4dc5-44f7-bb31-0866ee440822" xmlns:ns3="d90711d2-37bb-4b26-8b23-51c02972fe26" targetNamespace="http://schemas.microsoft.com/office/2006/metadata/properties" ma:root="true" ma:fieldsID="00a48d9f954b4b23e62df43abd264511" ns2:_="" ns3:_="">
    <xsd:import namespace="1ea434b8-4dc5-44f7-bb31-0866ee440822"/>
    <xsd:import namespace="d90711d2-37bb-4b26-8b23-51c02972fe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a434b8-4dc5-44f7-bb31-0866ee4408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08379bb-b442-46b3-b8c0-8817e2eba0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0711d2-37bb-4b26-8b23-51c02972fe26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f5686e5-f3f9-4684-9809-4e223b1b0fd7}" ma:internalName="TaxCatchAll" ma:showField="CatchAllData" ma:web="d90711d2-37bb-4b26-8b23-51c02972fe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90711d2-37bb-4b26-8b23-51c02972fe26">
      <UserInfo>
        <DisplayName/>
        <AccountId xsi:nil="true"/>
        <AccountType/>
      </UserInfo>
    </SharedWithUsers>
    <lcf76f155ced4ddcb4097134ff3c332f xmlns="1ea434b8-4dc5-44f7-bb31-0866ee440822">
      <Terms xmlns="http://schemas.microsoft.com/office/infopath/2007/PartnerControls"/>
    </lcf76f155ced4ddcb4097134ff3c332f>
    <TaxCatchAll xmlns="d90711d2-37bb-4b26-8b23-51c02972fe26" xsi:nil="true"/>
  </documentManagement>
</p:properties>
</file>

<file path=customXml/itemProps1.xml><?xml version="1.0" encoding="utf-8"?>
<ds:datastoreItem xmlns:ds="http://schemas.openxmlformats.org/officeDocument/2006/customXml" ds:itemID="{6C7BBEC2-693C-4BAB-A217-B3E9F46427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ea434b8-4dc5-44f7-bb31-0866ee440822"/>
    <ds:schemaRef ds:uri="d90711d2-37bb-4b26-8b23-51c02972fe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A769C6F-6ADF-412F-8F70-2DD1A151B0C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FBD36D-DAE8-46CB-B778-7C1B43AD43BF}">
  <ds:schemaRefs>
    <ds:schemaRef ds:uri="http://purl.org/dc/terms/"/>
    <ds:schemaRef ds:uri="http://schemas.microsoft.com/office/2006/documentManagement/types"/>
    <ds:schemaRef ds:uri="92cb724c-d654-454f-915d-237124a8a1a9"/>
    <ds:schemaRef ds:uri="http://purl.org/dc/dcmitype/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4b30f15d-6c4d-47ed-bde6-797b56236eb0"/>
    <ds:schemaRef ds:uri="http://schemas.microsoft.com/office/2006/metadata/properties"/>
    <ds:schemaRef ds:uri="d90711d2-37bb-4b26-8b23-51c02972fe26"/>
    <ds:schemaRef ds:uri="1ea434b8-4dc5-44f7-bb31-0866ee44082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4455</TotalTime>
  <Words>665</Words>
  <Application>Microsoft Office PowerPoint</Application>
  <PresentationFormat>Widescreen</PresentationFormat>
  <Paragraphs>82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Segoe UI</vt:lpstr>
      <vt:lpstr>Wingdings</vt:lpstr>
      <vt:lpstr>2_Office Theme</vt:lpstr>
      <vt:lpstr>IOT-BASED IRRIGATION SYSTEM</vt:lpstr>
      <vt:lpstr>Introduction: IoT-based Irrigation System</vt:lpstr>
      <vt:lpstr>Objectives</vt:lpstr>
      <vt:lpstr>Materials</vt:lpstr>
      <vt:lpstr>Materials</vt:lpstr>
      <vt:lpstr>Discussion: IoT-based Irrigation System</vt:lpstr>
      <vt:lpstr>Discussion: IoT-based Irrigation System</vt:lpstr>
      <vt:lpstr>Discussion: IoT-based Irrigation System</vt:lpstr>
      <vt:lpstr>Discussion: IoT-based Irrigation System</vt:lpstr>
      <vt:lpstr>Discussion: IoT-based Irrigation System</vt:lpstr>
      <vt:lpstr>Results: IoT-based Irrigation System</vt:lpstr>
      <vt:lpstr>Results: IoT-based Irrigation System</vt:lpstr>
      <vt:lpstr>Conclusion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orientation will start in</dc:title>
  <dc:subject/>
  <dc:creator>Jessica Pauline L. Faigones</dc:creator>
  <cp:keywords/>
  <dc:description/>
  <cp:lastModifiedBy>Raphael Nano</cp:lastModifiedBy>
  <cp:revision>342</cp:revision>
  <dcterms:created xsi:type="dcterms:W3CDTF">2020-06-10T07:30:38Z</dcterms:created>
  <dcterms:modified xsi:type="dcterms:W3CDTF">2024-03-11T12:13:40Z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182800</vt:r8>
  </property>
  <property fmtid="{D5CDD505-2E9C-101B-9397-08002B2CF9AE}" pid="3" name="ContentTypeId">
    <vt:lpwstr>0x0101000045B03F0E29F341B8FA8A02C69678F2</vt:lpwstr>
  </property>
  <property fmtid="{D5CDD505-2E9C-101B-9397-08002B2CF9AE}" pid="4" name="ComplianceAssetId">
    <vt:lpwstr/>
  </property>
</Properties>
</file>