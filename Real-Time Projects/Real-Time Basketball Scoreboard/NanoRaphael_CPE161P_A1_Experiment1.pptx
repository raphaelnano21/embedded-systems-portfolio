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26" r:id="rId4"/>
  </p:sldMasterIdLst>
  <p:notesMasterIdLst>
    <p:notesMasterId r:id="rId14"/>
  </p:notesMasterIdLst>
  <p:handoutMasterIdLst>
    <p:handoutMasterId r:id="rId15"/>
  </p:handoutMasterIdLst>
  <p:sldIdLst>
    <p:sldId id="881" r:id="rId5"/>
    <p:sldId id="943" r:id="rId6"/>
    <p:sldId id="944" r:id="rId7"/>
    <p:sldId id="945" r:id="rId8"/>
    <p:sldId id="956" r:id="rId9"/>
    <p:sldId id="954" r:id="rId10"/>
    <p:sldId id="957" r:id="rId11"/>
    <p:sldId id="958" r:id="rId12"/>
    <p:sldId id="949"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Dionis A. Padilla" initials="DAP" lastIdx="1" clrIdx="0">
    <p:extLst>
      <p:ext uri="{19B8F6BF-5375-455C-9EA6-DF929625EA0E}">
        <p15:presenceInfo xmlns:p15="http://schemas.microsoft.com/office/powerpoint/2012/main" userId="S::dapadilla@mapua.edu.ph::22fd53f7-3725-4d55-add0-dfc6f0ea2c90"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A50021"/>
    <a:srgbClr val="E1261C"/>
    <a:srgbClr val="F9F9F9"/>
    <a:srgbClr val="CCAFA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561" autoAdjust="0"/>
    <p:restoredTop sz="90898" autoAdjust="0"/>
  </p:normalViewPr>
  <p:slideViewPr>
    <p:cSldViewPr snapToGrid="0">
      <p:cViewPr varScale="1">
        <p:scale>
          <a:sx n="81" d="100"/>
          <a:sy n="81" d="100"/>
        </p:scale>
        <p:origin x="1003" y="53"/>
      </p:cViewPr>
      <p:guideLst/>
    </p:cSldViewPr>
  </p:slideViewPr>
  <p:outlineViewPr>
    <p:cViewPr>
      <p:scale>
        <a:sx n="33" d="100"/>
        <a:sy n="33" d="100"/>
      </p:scale>
      <p:origin x="0" y="0"/>
    </p:cViewPr>
  </p:outlineViewPr>
  <p:notesTextViewPr>
    <p:cViewPr>
      <p:scale>
        <a:sx n="3" d="2"/>
        <a:sy n="3" d="2"/>
      </p:scale>
      <p:origin x="0" y="0"/>
    </p:cViewPr>
  </p:notesTextViewPr>
  <p:notesViewPr>
    <p:cSldViewPr snapToGrid="0">
      <p:cViewPr varScale="1">
        <p:scale>
          <a:sx n="124" d="100"/>
          <a:sy n="124" d="100"/>
        </p:scale>
        <p:origin x="4098" y="9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commentAuthors" Target="commentAuthors.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6AF2D7B-A1C4-422F-8BEC-B2ADA9B3845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05A4CB62-60B8-42ED-B41D-1204D6EC34B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584004C-1C80-46E0-9113-8DACE1C8170C}" type="datetimeFigureOut">
              <a:rPr lang="en-US" smtClean="0"/>
              <a:t>11/17/2023</a:t>
            </a:fld>
            <a:endParaRPr lang="en-US"/>
          </a:p>
        </p:txBody>
      </p:sp>
      <p:sp>
        <p:nvSpPr>
          <p:cNvPr id="4" name="Footer Placeholder 3">
            <a:extLst>
              <a:ext uri="{FF2B5EF4-FFF2-40B4-BE49-F238E27FC236}">
                <a16:creationId xmlns:a16="http://schemas.microsoft.com/office/drawing/2014/main" id="{CA98C740-DCA6-4653-8D38-299256130F18}"/>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D177E7C8-7A32-480E-8E8D-D8E4B9A03569}"/>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E514B00-5376-4F9D-B569-068DF0409359}" type="slidenum">
              <a:rPr lang="en-US" smtClean="0"/>
              <a:t>‹#›</a:t>
            </a:fld>
            <a:endParaRPr lang="en-US"/>
          </a:p>
        </p:txBody>
      </p:sp>
    </p:spTree>
    <p:extLst>
      <p:ext uri="{BB962C8B-B14F-4D97-AF65-F5344CB8AC3E}">
        <p14:creationId xmlns:p14="http://schemas.microsoft.com/office/powerpoint/2010/main" val="322235787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7AE3EBA-9407-2244-8D2E-48917138C0BF}" type="datetimeFigureOut">
              <a:rPr lang="en-US" smtClean="0"/>
              <a:t>11/17/2023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EB4D408-4DFC-BF47-8641-93FB6C18070A}" type="slidenum">
              <a:rPr lang="en-US" smtClean="0"/>
              <a:t>‹#›</a:t>
            </a:fld>
            <a:endParaRPr lang="en-US"/>
          </a:p>
        </p:txBody>
      </p:sp>
    </p:spTree>
    <p:extLst>
      <p:ext uri="{BB962C8B-B14F-4D97-AF65-F5344CB8AC3E}">
        <p14:creationId xmlns:p14="http://schemas.microsoft.com/office/powerpoint/2010/main" val="4826522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day to everyone! My name is Raphael S. Nano from section A1 for CPE161P, presenting experiment 1 – the Real-time basketball scoreboard.</a:t>
            </a:r>
          </a:p>
        </p:txBody>
      </p:sp>
      <p:sp>
        <p:nvSpPr>
          <p:cNvPr id="4" name="Slide Number Placeholder 3"/>
          <p:cNvSpPr>
            <a:spLocks noGrp="1"/>
          </p:cNvSpPr>
          <p:nvPr>
            <p:ph type="sldNum" sz="quarter" idx="10"/>
          </p:nvPr>
        </p:nvSpPr>
        <p:spPr/>
        <p:txBody>
          <a:bodyPr/>
          <a:lstStyle/>
          <a:p>
            <a:fld id="{2EB4D408-4DFC-BF47-8641-93FB6C18070A}" type="slidenum">
              <a:rPr lang="en-US" smtClean="0"/>
              <a:t>1</a:t>
            </a:fld>
            <a:endParaRPr lang="en-US"/>
          </a:p>
        </p:txBody>
      </p:sp>
    </p:spTree>
    <p:extLst>
      <p:ext uri="{BB962C8B-B14F-4D97-AF65-F5344CB8AC3E}">
        <p14:creationId xmlns:p14="http://schemas.microsoft.com/office/powerpoint/2010/main" val="155772442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Basketball is a sport played on a rectangular court by two teams of five players each, generally indoors. Each side attempts to score by tossing the ball through the opposing goal, which is an elevated horizontal hoop and net known as a basket. Shooting at different areas of the court would mean different points. If the shooter scores while outside the 3-point line, their team gets 3 points. If the shooter scores within the 3-point line, their team gets 2 points. Free throws, on the other hand, gives them 1 point. Knowing that, a real-time basketball scoreboard will be constructed and programmed, wherein 1, 2, or 3 points could be added or deducted every time a ball went in the basket. </a:t>
            </a:r>
            <a:endParaRPr lang="en-PH" dirty="0"/>
          </a:p>
        </p:txBody>
      </p:sp>
      <p:sp>
        <p:nvSpPr>
          <p:cNvPr id="4" name="Slide Number Placeholder 3"/>
          <p:cNvSpPr>
            <a:spLocks noGrp="1"/>
          </p:cNvSpPr>
          <p:nvPr>
            <p:ph type="sldNum" sz="quarter" idx="5"/>
          </p:nvPr>
        </p:nvSpPr>
        <p:spPr/>
        <p:txBody>
          <a:bodyPr/>
          <a:lstStyle/>
          <a:p>
            <a:fld id="{2EB4D408-4DFC-BF47-8641-93FB6C18070A}" type="slidenum">
              <a:rPr lang="en-US" smtClean="0"/>
              <a:t>2</a:t>
            </a:fld>
            <a:endParaRPr lang="en-US"/>
          </a:p>
        </p:txBody>
      </p:sp>
    </p:spTree>
    <p:extLst>
      <p:ext uri="{BB962C8B-B14F-4D97-AF65-F5344CB8AC3E}">
        <p14:creationId xmlns:p14="http://schemas.microsoft.com/office/powerpoint/2010/main" val="3796268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objectives of this experiment are the following:</a:t>
            </a:r>
          </a:p>
          <a:p>
            <a:r>
              <a:rPr lang="en-US" dirty="0"/>
              <a:t>1. To demonstrate how a score board for a basketball game works in real-time.</a:t>
            </a:r>
          </a:p>
          <a:p>
            <a:r>
              <a:rPr lang="en-US" dirty="0"/>
              <a:t>2. To be able to apply what you have learned in logic circuits and switching theory, microprocessors, and CPE160P.</a:t>
            </a:r>
          </a:p>
          <a:p>
            <a:r>
              <a:rPr lang="en-US" dirty="0"/>
              <a:t>3. To be able to apply real-time embedded systems using the Arduino kit.</a:t>
            </a:r>
          </a:p>
          <a:p>
            <a:endParaRPr lang="en-PH" dirty="0"/>
          </a:p>
        </p:txBody>
      </p:sp>
      <p:sp>
        <p:nvSpPr>
          <p:cNvPr id="4" name="Slide Number Placeholder 3"/>
          <p:cNvSpPr>
            <a:spLocks noGrp="1"/>
          </p:cNvSpPr>
          <p:nvPr>
            <p:ph type="sldNum" sz="quarter" idx="5"/>
          </p:nvPr>
        </p:nvSpPr>
        <p:spPr/>
        <p:txBody>
          <a:bodyPr/>
          <a:lstStyle/>
          <a:p>
            <a:fld id="{2EB4D408-4DFC-BF47-8641-93FB6C18070A}" type="slidenum">
              <a:rPr lang="en-US" smtClean="0"/>
              <a:t>3</a:t>
            </a:fld>
            <a:endParaRPr lang="en-US"/>
          </a:p>
        </p:txBody>
      </p:sp>
    </p:spTree>
    <p:extLst>
      <p:ext uri="{BB962C8B-B14F-4D97-AF65-F5344CB8AC3E}">
        <p14:creationId xmlns:p14="http://schemas.microsoft.com/office/powerpoint/2010/main" val="393152371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materials utilized to construct the real-time basketball scoreboard are the Arduino UNO, the 4-digit seven segment display, and 5 switch buttons. </a:t>
            </a:r>
            <a:endParaRPr lang="en-PH" dirty="0"/>
          </a:p>
        </p:txBody>
      </p:sp>
      <p:sp>
        <p:nvSpPr>
          <p:cNvPr id="4" name="Slide Number Placeholder 3"/>
          <p:cNvSpPr>
            <a:spLocks noGrp="1"/>
          </p:cNvSpPr>
          <p:nvPr>
            <p:ph type="sldNum" sz="quarter" idx="5"/>
          </p:nvPr>
        </p:nvSpPr>
        <p:spPr/>
        <p:txBody>
          <a:bodyPr/>
          <a:lstStyle/>
          <a:p>
            <a:fld id="{2EB4D408-4DFC-BF47-8641-93FB6C18070A}" type="slidenum">
              <a:rPr lang="en-US" smtClean="0"/>
              <a:t>4</a:t>
            </a:fld>
            <a:endParaRPr lang="en-US"/>
          </a:p>
        </p:txBody>
      </p:sp>
    </p:spTree>
    <p:extLst>
      <p:ext uri="{BB962C8B-B14F-4D97-AF65-F5344CB8AC3E}">
        <p14:creationId xmlns:p14="http://schemas.microsoft.com/office/powerpoint/2010/main" val="74723071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external library, only the </a:t>
            </a:r>
            <a:r>
              <a:rPr lang="en-US" dirty="0" err="1"/>
              <a:t>SevSeg.h</a:t>
            </a:r>
            <a:r>
              <a:rPr lang="en-US" dirty="0"/>
              <a:t> was used, which is for the seven segment display.</a:t>
            </a:r>
            <a:endParaRPr lang="en-PH" dirty="0"/>
          </a:p>
        </p:txBody>
      </p:sp>
      <p:sp>
        <p:nvSpPr>
          <p:cNvPr id="4" name="Slide Number Placeholder 3"/>
          <p:cNvSpPr>
            <a:spLocks noGrp="1"/>
          </p:cNvSpPr>
          <p:nvPr>
            <p:ph type="sldNum" sz="quarter" idx="5"/>
          </p:nvPr>
        </p:nvSpPr>
        <p:spPr/>
        <p:txBody>
          <a:bodyPr/>
          <a:lstStyle/>
          <a:p>
            <a:fld id="{2EB4D408-4DFC-BF47-8641-93FB6C18070A}" type="slidenum">
              <a:rPr lang="en-US" smtClean="0"/>
              <a:t>5</a:t>
            </a:fld>
            <a:endParaRPr lang="en-US"/>
          </a:p>
        </p:txBody>
      </p:sp>
    </p:spTree>
    <p:extLst>
      <p:ext uri="{BB962C8B-B14F-4D97-AF65-F5344CB8AC3E}">
        <p14:creationId xmlns:p14="http://schemas.microsoft.com/office/powerpoint/2010/main" val="11863077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experiment primarily aims to demonstrate how a scoreboard for a basketball game works in real-time. Hence, there should be no delay in adjusting or changing the values of the seven-segment display every time a button was pushed down. </a:t>
            </a:r>
          </a:p>
          <a:p>
            <a:r>
              <a:rPr lang="en-US" dirty="0"/>
              <a:t>Two functions were used for the adjusting of points since there are two teams to be handled. So, team1() function is used for the adding or subtracting of values for the first two digits of the 4-digit seven segment display. On the other hand, team2() function is used to adjust the values for the rightmost two digits for the seven segment display. Although there are two separate functions, their purpose is the same, and only the digits to be considered are different.</a:t>
            </a:r>
            <a:endParaRPr lang="en-PH" dirty="0"/>
          </a:p>
        </p:txBody>
      </p:sp>
      <p:sp>
        <p:nvSpPr>
          <p:cNvPr id="4" name="Slide Number Placeholder 3"/>
          <p:cNvSpPr>
            <a:spLocks noGrp="1"/>
          </p:cNvSpPr>
          <p:nvPr>
            <p:ph type="sldNum" sz="quarter" idx="5"/>
          </p:nvPr>
        </p:nvSpPr>
        <p:spPr/>
        <p:txBody>
          <a:bodyPr/>
          <a:lstStyle/>
          <a:p>
            <a:fld id="{2EB4D408-4DFC-BF47-8641-93FB6C18070A}" type="slidenum">
              <a:rPr lang="en-US" smtClean="0"/>
              <a:t>6</a:t>
            </a:fld>
            <a:endParaRPr lang="en-US"/>
          </a:p>
        </p:txBody>
      </p:sp>
    </p:spTree>
    <p:extLst>
      <p:ext uri="{BB962C8B-B14F-4D97-AF65-F5344CB8AC3E}">
        <p14:creationId xmlns:p14="http://schemas.microsoft.com/office/powerpoint/2010/main" val="242250744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setting up the proper scoring of the game, the handler must be able to adjust the points of the teams by 1s, 2s, or 3s, depending on the shot made by the player. This is done using the adjust() function. The concept behind the point adjustment begins with the first three buttons, which represents 1 point, 2 points, and 3 points, respectively. The user should press the 5th button in order to point the other team. Hence, the 5th button serves as a switch from one team to another. Since errors in scoring are possible, there is also the 4th button, which handles the decrementing of the points. So, in order to decrement the points for team 1, the 4thbutton should be held first before pressing either one of the first 3 buttons. To decrement the points for team 2, the same procedure should be done. All of these principles utilize a </a:t>
            </a:r>
            <a:r>
              <a:rPr lang="en-US" dirty="0" err="1"/>
              <a:t>digitalRead</a:t>
            </a:r>
            <a:r>
              <a:rPr lang="en-US" dirty="0"/>
              <a:t> and input pullups so that the button will be triggered when pressed.</a:t>
            </a:r>
            <a:endParaRPr lang="en-PH" dirty="0"/>
          </a:p>
        </p:txBody>
      </p:sp>
      <p:sp>
        <p:nvSpPr>
          <p:cNvPr id="4" name="Slide Number Placeholder 3"/>
          <p:cNvSpPr>
            <a:spLocks noGrp="1"/>
          </p:cNvSpPr>
          <p:nvPr>
            <p:ph type="sldNum" sz="quarter" idx="5"/>
          </p:nvPr>
        </p:nvSpPr>
        <p:spPr/>
        <p:txBody>
          <a:bodyPr/>
          <a:lstStyle/>
          <a:p>
            <a:fld id="{2EB4D408-4DFC-BF47-8641-93FB6C18070A}" type="slidenum">
              <a:rPr lang="en-US" smtClean="0"/>
              <a:t>7</a:t>
            </a:fld>
            <a:endParaRPr lang="en-US"/>
          </a:p>
        </p:txBody>
      </p:sp>
    </p:spTree>
    <p:extLst>
      <p:ext uri="{BB962C8B-B14F-4D97-AF65-F5344CB8AC3E}">
        <p14:creationId xmlns:p14="http://schemas.microsoft.com/office/powerpoint/2010/main" val="170720257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seven-segment display utilizes an external library named </a:t>
            </a:r>
            <a:r>
              <a:rPr lang="en-US" dirty="0" err="1"/>
              <a:t>SevSeg.h</a:t>
            </a:r>
            <a:r>
              <a:rPr lang="en-US" dirty="0"/>
              <a:t>. The number of digits, the digit pins, the segment pins, and other hardware configuration was first programmed in the initialization stage in order to activate the 4-digit seven segment display. Moreover, only the functions </a:t>
            </a:r>
            <a:r>
              <a:rPr lang="en-US" dirty="0" err="1"/>
              <a:t>setNumber</a:t>
            </a:r>
            <a:r>
              <a:rPr lang="en-US" dirty="0"/>
              <a:t>() and </a:t>
            </a:r>
            <a:r>
              <a:rPr lang="en-US" dirty="0" err="1"/>
              <a:t>refreshDisplay</a:t>
            </a:r>
            <a:r>
              <a:rPr lang="en-US" dirty="0"/>
              <a:t>() were used so that the component would work appropriately.</a:t>
            </a:r>
          </a:p>
          <a:p>
            <a:endParaRPr lang="en-US" dirty="0"/>
          </a:p>
          <a:p>
            <a:r>
              <a:rPr lang="en-US" dirty="0"/>
              <a:t>Lastly, the loop of the program itself begins by refreshing the seven segment display. Afterwards, the system checks if the 5th button, which is the team-switch button, is pressed so that the system would know what points for a team is being adjusted. Lastly, the adjust(</a:t>
            </a:r>
            <a:r>
              <a:rPr lang="en-US" dirty="0" err="1"/>
              <a:t>teamNum</a:t>
            </a:r>
            <a:r>
              <a:rPr lang="en-US" dirty="0"/>
              <a:t>) function is called so that in case that the user has pressed an additional or decremental button, the value of the seven segment display would be adjusted.</a:t>
            </a:r>
          </a:p>
          <a:p>
            <a:endParaRPr lang="en-PH" dirty="0"/>
          </a:p>
        </p:txBody>
      </p:sp>
      <p:sp>
        <p:nvSpPr>
          <p:cNvPr id="4" name="Slide Number Placeholder 3"/>
          <p:cNvSpPr>
            <a:spLocks noGrp="1"/>
          </p:cNvSpPr>
          <p:nvPr>
            <p:ph type="sldNum" sz="quarter" idx="5"/>
          </p:nvPr>
        </p:nvSpPr>
        <p:spPr/>
        <p:txBody>
          <a:bodyPr/>
          <a:lstStyle/>
          <a:p>
            <a:fld id="{2EB4D408-4DFC-BF47-8641-93FB6C18070A}" type="slidenum">
              <a:rPr lang="en-US" smtClean="0"/>
              <a:t>8</a:t>
            </a:fld>
            <a:endParaRPr lang="en-US"/>
          </a:p>
        </p:txBody>
      </p:sp>
    </p:spTree>
    <p:extLst>
      <p:ext uri="{BB962C8B-B14F-4D97-AF65-F5344CB8AC3E}">
        <p14:creationId xmlns:p14="http://schemas.microsoft.com/office/powerpoint/2010/main" val="410843549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PH"/>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PH"/>
          </a:p>
        </p:txBody>
      </p:sp>
      <p:sp>
        <p:nvSpPr>
          <p:cNvPr id="4" name="Date Placeholder 3"/>
          <p:cNvSpPr>
            <a:spLocks noGrp="1"/>
          </p:cNvSpPr>
          <p:nvPr>
            <p:ph type="dt" sz="half" idx="10"/>
          </p:nvPr>
        </p:nvSpPr>
        <p:spPr/>
        <p:txBody>
          <a:bodyPr/>
          <a:lstStyle/>
          <a:p>
            <a:fld id="{4DB8A35F-61D6-417E-8CA4-3FFFB03A1EF2}" type="datetimeFigureOut">
              <a:rPr lang="en-PH" smtClean="0">
                <a:solidFill>
                  <a:prstClr val="black">
                    <a:tint val="75000"/>
                  </a:prstClr>
                </a:solidFill>
              </a:rPr>
              <a:pPr/>
              <a:t>17/11/2023</a:t>
            </a:fld>
            <a:endParaRPr lang="en-PH">
              <a:solidFill>
                <a:prstClr val="black">
                  <a:tint val="75000"/>
                </a:prstClr>
              </a:solidFill>
            </a:endParaRPr>
          </a:p>
        </p:txBody>
      </p:sp>
      <p:sp>
        <p:nvSpPr>
          <p:cNvPr id="5" name="Footer Placeholder 4"/>
          <p:cNvSpPr>
            <a:spLocks noGrp="1"/>
          </p:cNvSpPr>
          <p:nvPr>
            <p:ph type="ftr" sz="quarter" idx="11"/>
          </p:nvPr>
        </p:nvSpPr>
        <p:spPr/>
        <p:txBody>
          <a:bodyPr/>
          <a:lstStyle/>
          <a:p>
            <a:endParaRPr lang="en-PH">
              <a:solidFill>
                <a:prstClr val="black">
                  <a:tint val="75000"/>
                </a:prstClr>
              </a:solidFill>
            </a:endParaRPr>
          </a:p>
        </p:txBody>
      </p:sp>
      <p:sp>
        <p:nvSpPr>
          <p:cNvPr id="6" name="Slide Number Placeholder 5"/>
          <p:cNvSpPr>
            <a:spLocks noGrp="1"/>
          </p:cNvSpPr>
          <p:nvPr>
            <p:ph type="sldNum" sz="quarter" idx="12"/>
          </p:nvPr>
        </p:nvSpPr>
        <p:spPr/>
        <p:txBody>
          <a:bodyPr/>
          <a:lstStyle/>
          <a:p>
            <a:fld id="{356A1CFE-FAD5-4B16-8253-97D01193D803}" type="slidenum">
              <a:rPr lang="en-PH" smtClean="0">
                <a:solidFill>
                  <a:prstClr val="black">
                    <a:tint val="75000"/>
                  </a:prstClr>
                </a:solidFill>
              </a:rPr>
              <a:pPr/>
              <a:t>‹#›</a:t>
            </a:fld>
            <a:endParaRPr lang="en-PH">
              <a:solidFill>
                <a:prstClr val="black">
                  <a:tint val="75000"/>
                </a:prstClr>
              </a:solidFill>
            </a:endParaRPr>
          </a:p>
        </p:txBody>
      </p:sp>
    </p:spTree>
    <p:extLst>
      <p:ext uri="{BB962C8B-B14F-4D97-AF65-F5344CB8AC3E}">
        <p14:creationId xmlns:p14="http://schemas.microsoft.com/office/powerpoint/2010/main" val="1850048793"/>
      </p:ext>
    </p:extLst>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88435" y="282298"/>
            <a:ext cx="9383339" cy="512401"/>
          </a:xfrm>
        </p:spPr>
        <p:txBody>
          <a:bodyPr>
            <a:noAutofit/>
          </a:bodyPr>
          <a:lstStyle>
            <a:lvl1pPr>
              <a:defRPr sz="3200" b="1">
                <a:solidFill>
                  <a:srgbClr val="FFFF00"/>
                </a:solidFill>
                <a:latin typeface="Segoe UI" panose="020B0502040204020203" pitchFamily="34" charset="0"/>
                <a:cs typeface="Segoe UI" panose="020B0502040204020203" pitchFamily="34" charset="0"/>
              </a:defRPr>
            </a:lvl1pPr>
          </a:lstStyle>
          <a:p>
            <a:r>
              <a:rPr lang="en-US" dirty="0"/>
              <a:t>Click to edit Master title style</a:t>
            </a:r>
            <a:endParaRPr lang="en-PH" dirty="0"/>
          </a:p>
        </p:txBody>
      </p:sp>
      <p:sp>
        <p:nvSpPr>
          <p:cNvPr id="3" name="Content Placeholder 2"/>
          <p:cNvSpPr>
            <a:spLocks noGrp="1"/>
          </p:cNvSpPr>
          <p:nvPr>
            <p:ph idx="1"/>
          </p:nvPr>
        </p:nvSpPr>
        <p:spPr>
          <a:xfrm>
            <a:off x="298154" y="1156700"/>
            <a:ext cx="10564182" cy="455676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p:cNvSpPr>
            <a:spLocks noGrp="1"/>
          </p:cNvSpPr>
          <p:nvPr>
            <p:ph type="dt" sz="half" idx="10"/>
          </p:nvPr>
        </p:nvSpPr>
        <p:spPr/>
        <p:txBody>
          <a:bodyPr/>
          <a:lstStyle/>
          <a:p>
            <a:fld id="{4DB8A35F-61D6-417E-8CA4-3FFFB03A1EF2}" type="datetimeFigureOut">
              <a:rPr lang="en-PH" smtClean="0">
                <a:solidFill>
                  <a:prstClr val="black">
                    <a:tint val="75000"/>
                  </a:prstClr>
                </a:solidFill>
              </a:rPr>
              <a:pPr/>
              <a:t>17/11/2023</a:t>
            </a:fld>
            <a:endParaRPr lang="en-PH">
              <a:solidFill>
                <a:prstClr val="black">
                  <a:tint val="75000"/>
                </a:prstClr>
              </a:solidFill>
            </a:endParaRPr>
          </a:p>
        </p:txBody>
      </p:sp>
      <p:sp>
        <p:nvSpPr>
          <p:cNvPr id="5" name="Footer Placeholder 4"/>
          <p:cNvSpPr>
            <a:spLocks noGrp="1"/>
          </p:cNvSpPr>
          <p:nvPr>
            <p:ph type="ftr" sz="quarter" idx="11"/>
          </p:nvPr>
        </p:nvSpPr>
        <p:spPr/>
        <p:txBody>
          <a:bodyPr/>
          <a:lstStyle/>
          <a:p>
            <a:endParaRPr lang="en-PH">
              <a:solidFill>
                <a:prstClr val="black">
                  <a:tint val="75000"/>
                </a:prstClr>
              </a:solidFill>
            </a:endParaRPr>
          </a:p>
        </p:txBody>
      </p:sp>
      <p:sp>
        <p:nvSpPr>
          <p:cNvPr id="6" name="Slide Number Placeholder 5"/>
          <p:cNvSpPr>
            <a:spLocks noGrp="1"/>
          </p:cNvSpPr>
          <p:nvPr>
            <p:ph type="sldNum" sz="quarter" idx="12"/>
          </p:nvPr>
        </p:nvSpPr>
        <p:spPr/>
        <p:txBody>
          <a:bodyPr/>
          <a:lstStyle/>
          <a:p>
            <a:fld id="{356A1CFE-FAD5-4B16-8253-97D01193D803}" type="slidenum">
              <a:rPr lang="en-PH" smtClean="0">
                <a:solidFill>
                  <a:prstClr val="black">
                    <a:tint val="75000"/>
                  </a:prstClr>
                </a:solidFill>
              </a:rPr>
              <a:pPr/>
              <a:t>‹#›</a:t>
            </a:fld>
            <a:endParaRPr lang="en-PH">
              <a:solidFill>
                <a:prstClr val="black">
                  <a:tint val="75000"/>
                </a:prstClr>
              </a:solidFill>
            </a:endParaRPr>
          </a:p>
        </p:txBody>
      </p:sp>
    </p:spTree>
    <p:extLst>
      <p:ext uri="{BB962C8B-B14F-4D97-AF65-F5344CB8AC3E}">
        <p14:creationId xmlns:p14="http://schemas.microsoft.com/office/powerpoint/2010/main" val="2921665018"/>
      </p:ext>
    </p:extLst>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PH"/>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DB8A35F-61D6-417E-8CA4-3FFFB03A1EF2}" type="datetimeFigureOut">
              <a:rPr lang="en-PH" smtClean="0">
                <a:solidFill>
                  <a:prstClr val="black">
                    <a:tint val="75000"/>
                  </a:prstClr>
                </a:solidFill>
              </a:rPr>
              <a:pPr/>
              <a:t>17/11/2023</a:t>
            </a:fld>
            <a:endParaRPr lang="en-PH">
              <a:solidFill>
                <a:prstClr val="black">
                  <a:tint val="75000"/>
                </a:prstClr>
              </a:solidFill>
            </a:endParaRPr>
          </a:p>
        </p:txBody>
      </p:sp>
      <p:sp>
        <p:nvSpPr>
          <p:cNvPr id="5" name="Footer Placeholder 4"/>
          <p:cNvSpPr>
            <a:spLocks noGrp="1"/>
          </p:cNvSpPr>
          <p:nvPr>
            <p:ph type="ftr" sz="quarter" idx="11"/>
          </p:nvPr>
        </p:nvSpPr>
        <p:spPr/>
        <p:txBody>
          <a:bodyPr/>
          <a:lstStyle/>
          <a:p>
            <a:endParaRPr lang="en-PH">
              <a:solidFill>
                <a:prstClr val="black">
                  <a:tint val="75000"/>
                </a:prstClr>
              </a:solidFill>
            </a:endParaRPr>
          </a:p>
        </p:txBody>
      </p:sp>
      <p:sp>
        <p:nvSpPr>
          <p:cNvPr id="6" name="Slide Number Placeholder 5"/>
          <p:cNvSpPr>
            <a:spLocks noGrp="1"/>
          </p:cNvSpPr>
          <p:nvPr>
            <p:ph type="sldNum" sz="quarter" idx="12"/>
          </p:nvPr>
        </p:nvSpPr>
        <p:spPr/>
        <p:txBody>
          <a:bodyPr/>
          <a:lstStyle/>
          <a:p>
            <a:fld id="{356A1CFE-FAD5-4B16-8253-97D01193D803}" type="slidenum">
              <a:rPr lang="en-PH" smtClean="0">
                <a:solidFill>
                  <a:prstClr val="black">
                    <a:tint val="75000"/>
                  </a:prstClr>
                </a:solidFill>
              </a:rPr>
              <a:pPr/>
              <a:t>‹#›</a:t>
            </a:fld>
            <a:endParaRPr lang="en-PH">
              <a:solidFill>
                <a:prstClr val="black">
                  <a:tint val="75000"/>
                </a:prstClr>
              </a:solidFill>
            </a:endParaRPr>
          </a:p>
        </p:txBody>
      </p:sp>
    </p:spTree>
    <p:extLst>
      <p:ext uri="{BB962C8B-B14F-4D97-AF65-F5344CB8AC3E}">
        <p14:creationId xmlns:p14="http://schemas.microsoft.com/office/powerpoint/2010/main" val="53621476"/>
      </p:ext>
    </p:extLst>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PH"/>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5" name="Date Placeholder 4"/>
          <p:cNvSpPr>
            <a:spLocks noGrp="1"/>
          </p:cNvSpPr>
          <p:nvPr>
            <p:ph type="dt" sz="half" idx="10"/>
          </p:nvPr>
        </p:nvSpPr>
        <p:spPr/>
        <p:txBody>
          <a:bodyPr/>
          <a:lstStyle/>
          <a:p>
            <a:fld id="{4DB8A35F-61D6-417E-8CA4-3FFFB03A1EF2}" type="datetimeFigureOut">
              <a:rPr lang="en-PH" smtClean="0">
                <a:solidFill>
                  <a:prstClr val="black">
                    <a:tint val="75000"/>
                  </a:prstClr>
                </a:solidFill>
              </a:rPr>
              <a:pPr/>
              <a:t>17/11/2023</a:t>
            </a:fld>
            <a:endParaRPr lang="en-PH">
              <a:solidFill>
                <a:prstClr val="black">
                  <a:tint val="75000"/>
                </a:prstClr>
              </a:solidFill>
            </a:endParaRPr>
          </a:p>
        </p:txBody>
      </p:sp>
      <p:sp>
        <p:nvSpPr>
          <p:cNvPr id="6" name="Footer Placeholder 5"/>
          <p:cNvSpPr>
            <a:spLocks noGrp="1"/>
          </p:cNvSpPr>
          <p:nvPr>
            <p:ph type="ftr" sz="quarter" idx="11"/>
          </p:nvPr>
        </p:nvSpPr>
        <p:spPr/>
        <p:txBody>
          <a:bodyPr/>
          <a:lstStyle/>
          <a:p>
            <a:endParaRPr lang="en-PH">
              <a:solidFill>
                <a:prstClr val="black">
                  <a:tint val="75000"/>
                </a:prstClr>
              </a:solidFill>
            </a:endParaRPr>
          </a:p>
        </p:txBody>
      </p:sp>
      <p:sp>
        <p:nvSpPr>
          <p:cNvPr id="7" name="Slide Number Placeholder 6"/>
          <p:cNvSpPr>
            <a:spLocks noGrp="1"/>
          </p:cNvSpPr>
          <p:nvPr>
            <p:ph type="sldNum" sz="quarter" idx="12"/>
          </p:nvPr>
        </p:nvSpPr>
        <p:spPr/>
        <p:txBody>
          <a:bodyPr/>
          <a:lstStyle/>
          <a:p>
            <a:fld id="{356A1CFE-FAD5-4B16-8253-97D01193D803}" type="slidenum">
              <a:rPr lang="en-PH" smtClean="0">
                <a:solidFill>
                  <a:prstClr val="black">
                    <a:tint val="75000"/>
                  </a:prstClr>
                </a:solidFill>
              </a:rPr>
              <a:pPr/>
              <a:t>‹#›</a:t>
            </a:fld>
            <a:endParaRPr lang="en-PH">
              <a:solidFill>
                <a:prstClr val="black">
                  <a:tint val="75000"/>
                </a:prstClr>
              </a:solidFill>
            </a:endParaRPr>
          </a:p>
        </p:txBody>
      </p:sp>
    </p:spTree>
    <p:extLst>
      <p:ext uri="{BB962C8B-B14F-4D97-AF65-F5344CB8AC3E}">
        <p14:creationId xmlns:p14="http://schemas.microsoft.com/office/powerpoint/2010/main" val="530257324"/>
      </p:ext>
    </p:extLst>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PH"/>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7" name="Date Placeholder 6"/>
          <p:cNvSpPr>
            <a:spLocks noGrp="1"/>
          </p:cNvSpPr>
          <p:nvPr>
            <p:ph type="dt" sz="half" idx="10"/>
          </p:nvPr>
        </p:nvSpPr>
        <p:spPr/>
        <p:txBody>
          <a:bodyPr/>
          <a:lstStyle/>
          <a:p>
            <a:fld id="{4DB8A35F-61D6-417E-8CA4-3FFFB03A1EF2}" type="datetimeFigureOut">
              <a:rPr lang="en-PH" smtClean="0">
                <a:solidFill>
                  <a:prstClr val="black">
                    <a:tint val="75000"/>
                  </a:prstClr>
                </a:solidFill>
              </a:rPr>
              <a:pPr/>
              <a:t>17/11/2023</a:t>
            </a:fld>
            <a:endParaRPr lang="en-PH">
              <a:solidFill>
                <a:prstClr val="black">
                  <a:tint val="75000"/>
                </a:prstClr>
              </a:solidFill>
            </a:endParaRPr>
          </a:p>
        </p:txBody>
      </p:sp>
      <p:sp>
        <p:nvSpPr>
          <p:cNvPr id="8" name="Footer Placeholder 7"/>
          <p:cNvSpPr>
            <a:spLocks noGrp="1"/>
          </p:cNvSpPr>
          <p:nvPr>
            <p:ph type="ftr" sz="quarter" idx="11"/>
          </p:nvPr>
        </p:nvSpPr>
        <p:spPr/>
        <p:txBody>
          <a:bodyPr/>
          <a:lstStyle/>
          <a:p>
            <a:endParaRPr lang="en-PH">
              <a:solidFill>
                <a:prstClr val="black">
                  <a:tint val="75000"/>
                </a:prstClr>
              </a:solidFill>
            </a:endParaRPr>
          </a:p>
        </p:txBody>
      </p:sp>
      <p:sp>
        <p:nvSpPr>
          <p:cNvPr id="9" name="Slide Number Placeholder 8"/>
          <p:cNvSpPr>
            <a:spLocks noGrp="1"/>
          </p:cNvSpPr>
          <p:nvPr>
            <p:ph type="sldNum" sz="quarter" idx="12"/>
          </p:nvPr>
        </p:nvSpPr>
        <p:spPr/>
        <p:txBody>
          <a:bodyPr/>
          <a:lstStyle/>
          <a:p>
            <a:fld id="{356A1CFE-FAD5-4B16-8253-97D01193D803}" type="slidenum">
              <a:rPr lang="en-PH" smtClean="0">
                <a:solidFill>
                  <a:prstClr val="black">
                    <a:tint val="75000"/>
                  </a:prstClr>
                </a:solidFill>
              </a:rPr>
              <a:pPr/>
              <a:t>‹#›</a:t>
            </a:fld>
            <a:endParaRPr lang="en-PH">
              <a:solidFill>
                <a:prstClr val="black">
                  <a:tint val="75000"/>
                </a:prstClr>
              </a:solidFill>
            </a:endParaRPr>
          </a:p>
        </p:txBody>
      </p:sp>
    </p:spTree>
    <p:extLst>
      <p:ext uri="{BB962C8B-B14F-4D97-AF65-F5344CB8AC3E}">
        <p14:creationId xmlns:p14="http://schemas.microsoft.com/office/powerpoint/2010/main" val="4205078549"/>
      </p:ext>
    </p:extLst>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PH"/>
          </a:p>
        </p:txBody>
      </p:sp>
      <p:sp>
        <p:nvSpPr>
          <p:cNvPr id="3" name="Date Placeholder 2"/>
          <p:cNvSpPr>
            <a:spLocks noGrp="1"/>
          </p:cNvSpPr>
          <p:nvPr>
            <p:ph type="dt" sz="half" idx="10"/>
          </p:nvPr>
        </p:nvSpPr>
        <p:spPr/>
        <p:txBody>
          <a:bodyPr/>
          <a:lstStyle/>
          <a:p>
            <a:fld id="{4DB8A35F-61D6-417E-8CA4-3FFFB03A1EF2}" type="datetimeFigureOut">
              <a:rPr lang="en-PH" smtClean="0">
                <a:solidFill>
                  <a:prstClr val="black">
                    <a:tint val="75000"/>
                  </a:prstClr>
                </a:solidFill>
              </a:rPr>
              <a:pPr/>
              <a:t>17/11/2023</a:t>
            </a:fld>
            <a:endParaRPr lang="en-PH">
              <a:solidFill>
                <a:prstClr val="black">
                  <a:tint val="75000"/>
                </a:prstClr>
              </a:solidFill>
            </a:endParaRPr>
          </a:p>
        </p:txBody>
      </p:sp>
      <p:sp>
        <p:nvSpPr>
          <p:cNvPr id="4" name="Footer Placeholder 3"/>
          <p:cNvSpPr>
            <a:spLocks noGrp="1"/>
          </p:cNvSpPr>
          <p:nvPr>
            <p:ph type="ftr" sz="quarter" idx="11"/>
          </p:nvPr>
        </p:nvSpPr>
        <p:spPr/>
        <p:txBody>
          <a:bodyPr/>
          <a:lstStyle/>
          <a:p>
            <a:endParaRPr lang="en-PH">
              <a:solidFill>
                <a:prstClr val="black">
                  <a:tint val="75000"/>
                </a:prstClr>
              </a:solidFill>
            </a:endParaRPr>
          </a:p>
        </p:txBody>
      </p:sp>
      <p:sp>
        <p:nvSpPr>
          <p:cNvPr id="5" name="Slide Number Placeholder 4"/>
          <p:cNvSpPr>
            <a:spLocks noGrp="1"/>
          </p:cNvSpPr>
          <p:nvPr>
            <p:ph type="sldNum" sz="quarter" idx="12"/>
          </p:nvPr>
        </p:nvSpPr>
        <p:spPr/>
        <p:txBody>
          <a:bodyPr/>
          <a:lstStyle/>
          <a:p>
            <a:fld id="{356A1CFE-FAD5-4B16-8253-97D01193D803}" type="slidenum">
              <a:rPr lang="en-PH" smtClean="0">
                <a:solidFill>
                  <a:prstClr val="black">
                    <a:tint val="75000"/>
                  </a:prstClr>
                </a:solidFill>
              </a:rPr>
              <a:pPr/>
              <a:t>‹#›</a:t>
            </a:fld>
            <a:endParaRPr lang="en-PH">
              <a:solidFill>
                <a:prstClr val="black">
                  <a:tint val="75000"/>
                </a:prstClr>
              </a:solidFill>
            </a:endParaRPr>
          </a:p>
        </p:txBody>
      </p:sp>
    </p:spTree>
    <p:extLst>
      <p:ext uri="{BB962C8B-B14F-4D97-AF65-F5344CB8AC3E}">
        <p14:creationId xmlns:p14="http://schemas.microsoft.com/office/powerpoint/2010/main" val="2068875625"/>
      </p:ext>
    </p:extLst>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ontent with Capt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H"/>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DB8A35F-61D6-417E-8CA4-3FFFB03A1EF2}" type="datetimeFigureOut">
              <a:rPr lang="en-PH" smtClean="0">
                <a:solidFill>
                  <a:prstClr val="black">
                    <a:tint val="75000"/>
                  </a:prstClr>
                </a:solidFill>
              </a:rPr>
              <a:pPr/>
              <a:t>17/11/2023</a:t>
            </a:fld>
            <a:endParaRPr lang="en-PH">
              <a:solidFill>
                <a:prstClr val="black">
                  <a:tint val="75000"/>
                </a:prstClr>
              </a:solidFill>
            </a:endParaRPr>
          </a:p>
        </p:txBody>
      </p:sp>
      <p:sp>
        <p:nvSpPr>
          <p:cNvPr id="6" name="Footer Placeholder 5"/>
          <p:cNvSpPr>
            <a:spLocks noGrp="1"/>
          </p:cNvSpPr>
          <p:nvPr>
            <p:ph type="ftr" sz="quarter" idx="11"/>
          </p:nvPr>
        </p:nvSpPr>
        <p:spPr/>
        <p:txBody>
          <a:bodyPr/>
          <a:lstStyle/>
          <a:p>
            <a:endParaRPr lang="en-PH">
              <a:solidFill>
                <a:prstClr val="black">
                  <a:tint val="75000"/>
                </a:prstClr>
              </a:solidFill>
            </a:endParaRPr>
          </a:p>
        </p:txBody>
      </p:sp>
      <p:sp>
        <p:nvSpPr>
          <p:cNvPr id="7" name="Slide Number Placeholder 6"/>
          <p:cNvSpPr>
            <a:spLocks noGrp="1"/>
          </p:cNvSpPr>
          <p:nvPr>
            <p:ph type="sldNum" sz="quarter" idx="12"/>
          </p:nvPr>
        </p:nvSpPr>
        <p:spPr/>
        <p:txBody>
          <a:bodyPr/>
          <a:lstStyle/>
          <a:p>
            <a:fld id="{356A1CFE-FAD5-4B16-8253-97D01193D803}" type="slidenum">
              <a:rPr lang="en-PH" smtClean="0">
                <a:solidFill>
                  <a:prstClr val="black">
                    <a:tint val="75000"/>
                  </a:prstClr>
                </a:solidFill>
              </a:rPr>
              <a:pPr/>
              <a:t>‹#›</a:t>
            </a:fld>
            <a:endParaRPr lang="en-PH">
              <a:solidFill>
                <a:prstClr val="black">
                  <a:tint val="75000"/>
                </a:prstClr>
              </a:solidFill>
            </a:endParaRPr>
          </a:p>
        </p:txBody>
      </p:sp>
    </p:spTree>
    <p:extLst>
      <p:ext uri="{BB962C8B-B14F-4D97-AF65-F5344CB8AC3E}">
        <p14:creationId xmlns:p14="http://schemas.microsoft.com/office/powerpoint/2010/main" val="2563045478"/>
      </p:ext>
    </p:extLst>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H"/>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PH"/>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DB8A35F-61D6-417E-8CA4-3FFFB03A1EF2}" type="datetimeFigureOut">
              <a:rPr lang="en-PH" smtClean="0">
                <a:solidFill>
                  <a:prstClr val="black">
                    <a:tint val="75000"/>
                  </a:prstClr>
                </a:solidFill>
              </a:rPr>
              <a:pPr/>
              <a:t>17/11/2023</a:t>
            </a:fld>
            <a:endParaRPr lang="en-PH">
              <a:solidFill>
                <a:prstClr val="black">
                  <a:tint val="75000"/>
                </a:prstClr>
              </a:solidFill>
            </a:endParaRPr>
          </a:p>
        </p:txBody>
      </p:sp>
      <p:sp>
        <p:nvSpPr>
          <p:cNvPr id="6" name="Footer Placeholder 5"/>
          <p:cNvSpPr>
            <a:spLocks noGrp="1"/>
          </p:cNvSpPr>
          <p:nvPr>
            <p:ph type="ftr" sz="quarter" idx="11"/>
          </p:nvPr>
        </p:nvSpPr>
        <p:spPr/>
        <p:txBody>
          <a:bodyPr/>
          <a:lstStyle/>
          <a:p>
            <a:endParaRPr lang="en-PH">
              <a:solidFill>
                <a:prstClr val="black">
                  <a:tint val="75000"/>
                </a:prstClr>
              </a:solidFill>
            </a:endParaRPr>
          </a:p>
        </p:txBody>
      </p:sp>
      <p:sp>
        <p:nvSpPr>
          <p:cNvPr id="7" name="Slide Number Placeholder 6"/>
          <p:cNvSpPr>
            <a:spLocks noGrp="1"/>
          </p:cNvSpPr>
          <p:nvPr>
            <p:ph type="sldNum" sz="quarter" idx="12"/>
          </p:nvPr>
        </p:nvSpPr>
        <p:spPr/>
        <p:txBody>
          <a:bodyPr/>
          <a:lstStyle/>
          <a:p>
            <a:fld id="{356A1CFE-FAD5-4B16-8253-97D01193D803}" type="slidenum">
              <a:rPr lang="en-PH" smtClean="0">
                <a:solidFill>
                  <a:prstClr val="black">
                    <a:tint val="75000"/>
                  </a:prstClr>
                </a:solidFill>
              </a:rPr>
              <a:pPr/>
              <a:t>‹#›</a:t>
            </a:fld>
            <a:endParaRPr lang="en-PH">
              <a:solidFill>
                <a:prstClr val="black">
                  <a:tint val="75000"/>
                </a:prstClr>
              </a:solidFill>
            </a:endParaRPr>
          </a:p>
        </p:txBody>
      </p:sp>
    </p:spTree>
    <p:extLst>
      <p:ext uri="{BB962C8B-B14F-4D97-AF65-F5344CB8AC3E}">
        <p14:creationId xmlns:p14="http://schemas.microsoft.com/office/powerpoint/2010/main" val="498454393"/>
      </p:ext>
    </p:extLst>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Title and Vertical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PH"/>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p:cNvSpPr>
            <a:spLocks noGrp="1"/>
          </p:cNvSpPr>
          <p:nvPr>
            <p:ph type="dt" sz="half" idx="10"/>
          </p:nvPr>
        </p:nvSpPr>
        <p:spPr/>
        <p:txBody>
          <a:bodyPr/>
          <a:lstStyle/>
          <a:p>
            <a:fld id="{4DB8A35F-61D6-417E-8CA4-3FFFB03A1EF2}" type="datetimeFigureOut">
              <a:rPr lang="en-PH" smtClean="0">
                <a:solidFill>
                  <a:prstClr val="black">
                    <a:tint val="75000"/>
                  </a:prstClr>
                </a:solidFill>
              </a:rPr>
              <a:pPr/>
              <a:t>17/11/2023</a:t>
            </a:fld>
            <a:endParaRPr lang="en-PH">
              <a:solidFill>
                <a:prstClr val="black">
                  <a:tint val="75000"/>
                </a:prstClr>
              </a:solidFill>
            </a:endParaRPr>
          </a:p>
        </p:txBody>
      </p:sp>
      <p:sp>
        <p:nvSpPr>
          <p:cNvPr id="5" name="Footer Placeholder 4"/>
          <p:cNvSpPr>
            <a:spLocks noGrp="1"/>
          </p:cNvSpPr>
          <p:nvPr>
            <p:ph type="ftr" sz="quarter" idx="11"/>
          </p:nvPr>
        </p:nvSpPr>
        <p:spPr/>
        <p:txBody>
          <a:bodyPr/>
          <a:lstStyle/>
          <a:p>
            <a:endParaRPr lang="en-PH">
              <a:solidFill>
                <a:prstClr val="black">
                  <a:tint val="75000"/>
                </a:prstClr>
              </a:solidFill>
            </a:endParaRPr>
          </a:p>
        </p:txBody>
      </p:sp>
      <p:sp>
        <p:nvSpPr>
          <p:cNvPr id="6" name="Slide Number Placeholder 5"/>
          <p:cNvSpPr>
            <a:spLocks noGrp="1"/>
          </p:cNvSpPr>
          <p:nvPr>
            <p:ph type="sldNum" sz="quarter" idx="12"/>
          </p:nvPr>
        </p:nvSpPr>
        <p:spPr/>
        <p:txBody>
          <a:bodyPr/>
          <a:lstStyle/>
          <a:p>
            <a:fld id="{356A1CFE-FAD5-4B16-8253-97D01193D803}" type="slidenum">
              <a:rPr lang="en-PH" smtClean="0">
                <a:solidFill>
                  <a:prstClr val="black">
                    <a:tint val="75000"/>
                  </a:prstClr>
                </a:solidFill>
              </a:rPr>
              <a:pPr/>
              <a:t>‹#›</a:t>
            </a:fld>
            <a:endParaRPr lang="en-PH">
              <a:solidFill>
                <a:prstClr val="black">
                  <a:tint val="75000"/>
                </a:prstClr>
              </a:solidFill>
            </a:endParaRPr>
          </a:p>
        </p:txBody>
      </p:sp>
    </p:spTree>
    <p:extLst>
      <p:ext uri="{BB962C8B-B14F-4D97-AF65-F5344CB8AC3E}">
        <p14:creationId xmlns:p14="http://schemas.microsoft.com/office/powerpoint/2010/main" val="1651308477"/>
      </p:ext>
    </p:extLst>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PH"/>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p:cNvSpPr>
            <a:spLocks noGrp="1"/>
          </p:cNvSpPr>
          <p:nvPr>
            <p:ph type="dt" sz="half" idx="10"/>
          </p:nvPr>
        </p:nvSpPr>
        <p:spPr/>
        <p:txBody>
          <a:bodyPr/>
          <a:lstStyle/>
          <a:p>
            <a:fld id="{4DB8A35F-61D6-417E-8CA4-3FFFB03A1EF2}" type="datetimeFigureOut">
              <a:rPr lang="en-PH" smtClean="0">
                <a:solidFill>
                  <a:prstClr val="black">
                    <a:tint val="75000"/>
                  </a:prstClr>
                </a:solidFill>
              </a:rPr>
              <a:pPr/>
              <a:t>17/11/2023</a:t>
            </a:fld>
            <a:endParaRPr lang="en-PH">
              <a:solidFill>
                <a:prstClr val="black">
                  <a:tint val="75000"/>
                </a:prstClr>
              </a:solidFill>
            </a:endParaRPr>
          </a:p>
        </p:txBody>
      </p:sp>
      <p:sp>
        <p:nvSpPr>
          <p:cNvPr id="5" name="Footer Placeholder 4"/>
          <p:cNvSpPr>
            <a:spLocks noGrp="1"/>
          </p:cNvSpPr>
          <p:nvPr>
            <p:ph type="ftr" sz="quarter" idx="11"/>
          </p:nvPr>
        </p:nvSpPr>
        <p:spPr/>
        <p:txBody>
          <a:bodyPr/>
          <a:lstStyle/>
          <a:p>
            <a:endParaRPr lang="en-PH">
              <a:solidFill>
                <a:prstClr val="black">
                  <a:tint val="75000"/>
                </a:prstClr>
              </a:solidFill>
            </a:endParaRPr>
          </a:p>
        </p:txBody>
      </p:sp>
      <p:sp>
        <p:nvSpPr>
          <p:cNvPr id="6" name="Slide Number Placeholder 5"/>
          <p:cNvSpPr>
            <a:spLocks noGrp="1"/>
          </p:cNvSpPr>
          <p:nvPr>
            <p:ph type="sldNum" sz="quarter" idx="12"/>
          </p:nvPr>
        </p:nvSpPr>
        <p:spPr/>
        <p:txBody>
          <a:bodyPr/>
          <a:lstStyle/>
          <a:p>
            <a:fld id="{356A1CFE-FAD5-4B16-8253-97D01193D803}" type="slidenum">
              <a:rPr lang="en-PH" smtClean="0">
                <a:solidFill>
                  <a:prstClr val="black">
                    <a:tint val="75000"/>
                  </a:prstClr>
                </a:solidFill>
              </a:rPr>
              <a:pPr/>
              <a:t>‹#›</a:t>
            </a:fld>
            <a:endParaRPr lang="en-PH">
              <a:solidFill>
                <a:prstClr val="black">
                  <a:tint val="75000"/>
                </a:prstClr>
              </a:solidFill>
            </a:endParaRPr>
          </a:p>
        </p:txBody>
      </p:sp>
    </p:spTree>
    <p:extLst>
      <p:ext uri="{BB962C8B-B14F-4D97-AF65-F5344CB8AC3E}">
        <p14:creationId xmlns:p14="http://schemas.microsoft.com/office/powerpoint/2010/main" val="4042052804"/>
      </p:ext>
    </p:extLst>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jp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2">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PH"/>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DB8A35F-61D6-417E-8CA4-3FFFB03A1EF2}" type="datetimeFigureOut">
              <a:rPr lang="en-PH" smtClean="0">
                <a:solidFill>
                  <a:prstClr val="black">
                    <a:tint val="75000"/>
                  </a:prstClr>
                </a:solidFill>
              </a:rPr>
              <a:pPr/>
              <a:t>17/11/2023</a:t>
            </a:fld>
            <a:endParaRPr lang="en-PH">
              <a:solidFill>
                <a:prstClr val="black">
                  <a:tint val="75000"/>
                </a:prstClr>
              </a:solidFill>
            </a:endParaRP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PH">
              <a:solidFill>
                <a:prstClr val="black">
                  <a:tint val="75000"/>
                </a:prstClr>
              </a:solidFill>
            </a:endParaRP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56A1CFE-FAD5-4B16-8253-97D01193D803}" type="slidenum">
              <a:rPr lang="en-PH" smtClean="0">
                <a:solidFill>
                  <a:prstClr val="black">
                    <a:tint val="75000"/>
                  </a:prstClr>
                </a:solidFill>
              </a:rPr>
              <a:pPr/>
              <a:t>‹#›</a:t>
            </a:fld>
            <a:endParaRPr lang="en-PH">
              <a:solidFill>
                <a:prstClr val="black">
                  <a:tint val="75000"/>
                </a:prstClr>
              </a:solidFill>
            </a:endParaRPr>
          </a:p>
        </p:txBody>
      </p:sp>
    </p:spTree>
    <p:extLst>
      <p:ext uri="{BB962C8B-B14F-4D97-AF65-F5344CB8AC3E}">
        <p14:creationId xmlns:p14="http://schemas.microsoft.com/office/powerpoint/2010/main" val="3624386725"/>
      </p:ext>
    </p:extLst>
  </p:cSld>
  <p:clrMap bg1="lt1" tx1="dk1" bg2="lt2" tx2="dk2" accent1="accent1" accent2="accent2" accent3="accent3" accent4="accent4" accent5="accent5" accent6="accent6" hlink="hlink" folHlink="folHlink"/>
  <p:sldLayoutIdLst>
    <p:sldLayoutId id="2147483827" r:id="rId1"/>
    <p:sldLayoutId id="2147483828" r:id="rId2"/>
    <p:sldLayoutId id="2147483829" r:id="rId3"/>
    <p:sldLayoutId id="2147483830" r:id="rId4"/>
    <p:sldLayoutId id="2147483831" r:id="rId5"/>
    <p:sldLayoutId id="2147483832" r:id="rId6"/>
    <p:sldLayoutId id="2147483834" r:id="rId7"/>
    <p:sldLayoutId id="2147483835" r:id="rId8"/>
    <p:sldLayoutId id="2147483836" r:id="rId9"/>
    <p:sldLayoutId id="2147483837" r:id="rId10"/>
  </p:sldLayoutIdLst>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0.jpeg"/></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3">
            <a:alphaModFix/>
          </a:blip>
          <a:stretch>
            <a:fillRect/>
          </a:stretch>
        </a:blipFill>
        <a:effectLst/>
      </p:bgPr>
    </p:bg>
    <p:spTree>
      <p:nvGrpSpPr>
        <p:cNvPr id="1" name="Shape 11"/>
        <p:cNvGrpSpPr/>
        <p:nvPr/>
      </p:nvGrpSpPr>
      <p:grpSpPr>
        <a:xfrm>
          <a:off x="0" y="0"/>
          <a:ext cx="0" cy="0"/>
          <a:chOff x="0" y="0"/>
          <a:chExt cx="0" cy="0"/>
        </a:xfrm>
      </p:grpSpPr>
      <p:sp>
        <p:nvSpPr>
          <p:cNvPr id="12" name="Shape 12"/>
          <p:cNvSpPr txBox="1">
            <a:spLocks noGrp="1"/>
          </p:cNvSpPr>
          <p:nvPr>
            <p:ph type="ctrTitle"/>
          </p:nvPr>
        </p:nvSpPr>
        <p:spPr>
          <a:xfrm>
            <a:off x="284766" y="846685"/>
            <a:ext cx="6530102" cy="711200"/>
          </a:xfrm>
          <a:prstGeom prst="rect">
            <a:avLst/>
          </a:prstGeom>
          <a:noFill/>
          <a:ln>
            <a:noFill/>
          </a:ln>
        </p:spPr>
        <p:txBody>
          <a:bodyPr wrap="square" lIns="91425" tIns="45700" rIns="91425" bIns="45700" anchor="b" anchorCtr="0">
            <a:noAutofit/>
          </a:bodyPr>
          <a:lstStyle/>
          <a:p>
            <a:pPr lvl="0" indent="-203200" algn="l">
              <a:spcBef>
                <a:spcPts val="0"/>
              </a:spcBef>
              <a:buClr>
                <a:srgbClr val="FFFF00"/>
              </a:buClr>
              <a:buSzPct val="100000"/>
            </a:pPr>
            <a:r>
              <a:rPr lang="en-US" sz="4000" b="1" dirty="0">
                <a:solidFill>
                  <a:srgbClr val="FFFF00"/>
                </a:solidFill>
                <a:latin typeface="Segoe UI" panose="020B0502040204020203" pitchFamily="34" charset="0"/>
                <a:ea typeface="Arial"/>
                <a:cs typeface="Segoe UI" panose="020B0502040204020203" pitchFamily="34" charset="0"/>
                <a:sym typeface="Arial"/>
              </a:rPr>
              <a:t>REAL-TIME BASKETBALL SCOREBOARD</a:t>
            </a:r>
            <a:endParaRPr lang="en-PH" sz="4000" b="1" dirty="0">
              <a:solidFill>
                <a:srgbClr val="FFFF00"/>
              </a:solidFill>
              <a:latin typeface="Segoe UI" panose="020B0502040204020203" pitchFamily="34" charset="0"/>
              <a:ea typeface="Arial"/>
              <a:cs typeface="Segoe UI" panose="020B0502040204020203" pitchFamily="34" charset="0"/>
              <a:sym typeface="Arial"/>
            </a:endParaRPr>
          </a:p>
        </p:txBody>
      </p:sp>
      <p:sp>
        <p:nvSpPr>
          <p:cNvPr id="13" name="Shape 13"/>
          <p:cNvSpPr txBox="1">
            <a:spLocks noGrp="1"/>
          </p:cNvSpPr>
          <p:nvPr>
            <p:ph type="subTitle" idx="1"/>
          </p:nvPr>
        </p:nvSpPr>
        <p:spPr>
          <a:xfrm>
            <a:off x="284766" y="1557885"/>
            <a:ext cx="6034670" cy="1095521"/>
          </a:xfrm>
          <a:prstGeom prst="rect">
            <a:avLst/>
          </a:prstGeom>
          <a:noFill/>
          <a:ln>
            <a:noFill/>
          </a:ln>
        </p:spPr>
        <p:txBody>
          <a:bodyPr wrap="square" lIns="91425" tIns="45700" rIns="91425" bIns="45700" anchor="t" anchorCtr="0">
            <a:noAutofit/>
          </a:bodyPr>
          <a:lstStyle/>
          <a:p>
            <a:pPr lvl="0" indent="-127000" algn="l">
              <a:spcBef>
                <a:spcPts val="0"/>
              </a:spcBef>
              <a:buClr>
                <a:schemeClr val="lt1"/>
              </a:buClr>
              <a:buSzPct val="100000"/>
            </a:pPr>
            <a:r>
              <a:rPr lang="en-GB" sz="3200" b="1" dirty="0">
                <a:solidFill>
                  <a:schemeClr val="lt1"/>
                </a:solidFill>
                <a:latin typeface="Segoe UI" panose="020B0502040204020203" pitchFamily="34" charset="0"/>
                <a:ea typeface="Arial"/>
                <a:cs typeface="Segoe UI" panose="020B0502040204020203" pitchFamily="34" charset="0"/>
                <a:sym typeface="Arial"/>
              </a:rPr>
              <a:t>Experiment 1</a:t>
            </a:r>
          </a:p>
        </p:txBody>
      </p:sp>
      <p:sp>
        <p:nvSpPr>
          <p:cNvPr id="8" name="Text Placeholder 2">
            <a:extLst>
              <a:ext uri="{FF2B5EF4-FFF2-40B4-BE49-F238E27FC236}">
                <a16:creationId xmlns:a16="http://schemas.microsoft.com/office/drawing/2014/main" id="{BB0E7A66-65F8-4D09-A464-3721AFFC3633}"/>
              </a:ext>
            </a:extLst>
          </p:cNvPr>
          <p:cNvSpPr txBox="1">
            <a:spLocks/>
          </p:cNvSpPr>
          <p:nvPr/>
        </p:nvSpPr>
        <p:spPr>
          <a:xfrm>
            <a:off x="147702" y="5904349"/>
            <a:ext cx="6949070" cy="770513"/>
          </a:xfrm>
          <a:prstGeom prst="rect">
            <a:avLst/>
          </a:prstGeom>
          <a:noFill/>
          <a:ln>
            <a:noFill/>
          </a:ln>
          <a:effectLst>
            <a:reflection blurRad="88900" endPos="0" dist="50800" dir="5400000" sy="-100000" algn="bl" rotWithShape="0"/>
          </a:effectLst>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baseline="0">
                <a:solidFill>
                  <a:schemeClr val="bg2"/>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bg2"/>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400" kern="1200">
                <a:solidFill>
                  <a:schemeClr val="bg2"/>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400" kern="1200">
                <a:solidFill>
                  <a:schemeClr val="bg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lnSpc>
                <a:spcPct val="110000"/>
              </a:lnSpc>
              <a:spcBef>
                <a:spcPts val="200"/>
              </a:spcBef>
              <a:spcAft>
                <a:spcPts val="200"/>
              </a:spcAft>
            </a:pPr>
            <a:r>
              <a:rPr lang="en-PH" sz="1800" b="1" dirty="0">
                <a:solidFill>
                  <a:schemeClr val="bg1"/>
                </a:solidFill>
                <a:latin typeface="Segoe UI" panose="020B0502040204020203" pitchFamily="34" charset="0"/>
                <a:cs typeface="Segoe UI" panose="020B0502040204020203" pitchFamily="34" charset="0"/>
              </a:rPr>
              <a:t>Computer Engineering Department</a:t>
            </a:r>
          </a:p>
          <a:p>
            <a:pPr algn="l">
              <a:lnSpc>
                <a:spcPct val="110000"/>
              </a:lnSpc>
              <a:spcBef>
                <a:spcPts val="200"/>
              </a:spcBef>
              <a:spcAft>
                <a:spcPts val="200"/>
              </a:spcAft>
            </a:pPr>
            <a:r>
              <a:rPr lang="en-PH" sz="1800" b="1" dirty="0">
                <a:solidFill>
                  <a:schemeClr val="bg1"/>
                </a:solidFill>
                <a:latin typeface="Segoe UI" panose="020B0502040204020203" pitchFamily="34" charset="0"/>
                <a:cs typeface="Segoe UI" panose="020B0502040204020203" pitchFamily="34" charset="0"/>
              </a:rPr>
              <a:t>School of Electrical, Electronics, and Computer Engineering</a:t>
            </a:r>
          </a:p>
        </p:txBody>
      </p:sp>
      <p:pic>
        <p:nvPicPr>
          <p:cNvPr id="3" name="Picture 2" descr="A picture containing object, measure, clock, cup&#10;&#10;Description automatically generated">
            <a:extLst>
              <a:ext uri="{FF2B5EF4-FFF2-40B4-BE49-F238E27FC236}">
                <a16:creationId xmlns:a16="http://schemas.microsoft.com/office/drawing/2014/main" id="{93681FFB-7892-473D-BA03-7308FEE223ED}"/>
              </a:ext>
            </a:extLst>
          </p:cNvPr>
          <p:cNvPicPr>
            <a:picLocks noChangeAspect="1"/>
          </p:cNvPicPr>
          <p:nvPr/>
        </p:nvPicPr>
        <p:blipFill>
          <a:blip r:embed="rId4"/>
          <a:stretch>
            <a:fillRect/>
          </a:stretch>
        </p:blipFill>
        <p:spPr>
          <a:xfrm>
            <a:off x="10017600" y="2834255"/>
            <a:ext cx="1531272" cy="1531272"/>
          </a:xfrm>
          <a:prstGeom prst="rect">
            <a:avLst/>
          </a:prstGeom>
        </p:spPr>
      </p:pic>
      <p:sp>
        <p:nvSpPr>
          <p:cNvPr id="6" name="Text Placeholder 2">
            <a:extLst>
              <a:ext uri="{FF2B5EF4-FFF2-40B4-BE49-F238E27FC236}">
                <a16:creationId xmlns:a16="http://schemas.microsoft.com/office/drawing/2014/main" id="{DE44DF05-07A0-4892-8981-CB6440644483}"/>
              </a:ext>
            </a:extLst>
          </p:cNvPr>
          <p:cNvSpPr txBox="1">
            <a:spLocks/>
          </p:cNvSpPr>
          <p:nvPr/>
        </p:nvSpPr>
        <p:spPr>
          <a:xfrm>
            <a:off x="284766" y="3741893"/>
            <a:ext cx="4191731" cy="1382244"/>
          </a:xfrm>
          <a:prstGeom prst="rect">
            <a:avLst/>
          </a:prstGeom>
          <a:noFill/>
          <a:ln>
            <a:noFill/>
          </a:ln>
          <a:effectLst>
            <a:reflection blurRad="88900" endPos="0" dist="50800" dir="5400000" sy="-100000" algn="bl" rotWithShape="0"/>
          </a:effectLst>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baseline="0">
                <a:solidFill>
                  <a:schemeClr val="bg2"/>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bg2"/>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400" kern="1200">
                <a:solidFill>
                  <a:schemeClr val="bg2"/>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400" kern="1200">
                <a:solidFill>
                  <a:schemeClr val="bg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lnSpc>
                <a:spcPct val="110000"/>
              </a:lnSpc>
              <a:spcBef>
                <a:spcPts val="200"/>
              </a:spcBef>
              <a:spcAft>
                <a:spcPts val="200"/>
              </a:spcAft>
            </a:pPr>
            <a:r>
              <a:rPr lang="en-PH" sz="2000" b="1" dirty="0">
                <a:solidFill>
                  <a:schemeClr val="bg1"/>
                </a:solidFill>
                <a:latin typeface="Segoe UI" panose="020B0502040204020203" pitchFamily="34" charset="0"/>
                <a:cs typeface="Segoe UI" panose="020B0502040204020203" pitchFamily="34" charset="0"/>
              </a:rPr>
              <a:t>Raphael S. Nano</a:t>
            </a:r>
          </a:p>
          <a:p>
            <a:pPr algn="l">
              <a:lnSpc>
                <a:spcPct val="110000"/>
              </a:lnSpc>
              <a:spcBef>
                <a:spcPts val="200"/>
              </a:spcBef>
              <a:spcAft>
                <a:spcPts val="200"/>
              </a:spcAft>
            </a:pPr>
            <a:r>
              <a:rPr lang="en-PH" sz="2000" b="1" dirty="0">
                <a:solidFill>
                  <a:schemeClr val="bg1"/>
                </a:solidFill>
                <a:latin typeface="Segoe UI" panose="020B0502040204020203" pitchFamily="34" charset="0"/>
                <a:cs typeface="Segoe UI" panose="020B0502040204020203" pitchFamily="34" charset="0"/>
              </a:rPr>
              <a:t>CPE161P / A1</a:t>
            </a:r>
          </a:p>
        </p:txBody>
      </p:sp>
    </p:spTree>
    <p:extLst>
      <p:ext uri="{BB962C8B-B14F-4D97-AF65-F5344CB8AC3E}">
        <p14:creationId xmlns:p14="http://schemas.microsoft.com/office/powerpoint/2010/main" val="1898775135"/>
      </p:ext>
    </p:extLst>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C0BE44-DEA0-C8F1-B220-4F56E5330E48}"/>
              </a:ext>
            </a:extLst>
          </p:cNvPr>
          <p:cNvSpPr>
            <a:spLocks noGrp="1"/>
          </p:cNvSpPr>
          <p:nvPr>
            <p:ph type="title"/>
          </p:nvPr>
        </p:nvSpPr>
        <p:spPr>
          <a:xfrm>
            <a:off x="288435" y="282298"/>
            <a:ext cx="10123648" cy="512401"/>
          </a:xfrm>
        </p:spPr>
        <p:txBody>
          <a:bodyPr/>
          <a:lstStyle/>
          <a:p>
            <a:r>
              <a:rPr lang="en-US" dirty="0"/>
              <a:t>Introduction: Real-Time Basketball Scoreboard</a:t>
            </a:r>
            <a:endParaRPr lang="en-PH" dirty="0"/>
          </a:p>
        </p:txBody>
      </p:sp>
      <p:sp>
        <p:nvSpPr>
          <p:cNvPr id="3" name="Content Placeholder 2">
            <a:extLst>
              <a:ext uri="{FF2B5EF4-FFF2-40B4-BE49-F238E27FC236}">
                <a16:creationId xmlns:a16="http://schemas.microsoft.com/office/drawing/2014/main" id="{A1D19F78-2EA6-6CC1-752D-C8DA5962ED05}"/>
              </a:ext>
            </a:extLst>
          </p:cNvPr>
          <p:cNvSpPr>
            <a:spLocks noGrp="1"/>
          </p:cNvSpPr>
          <p:nvPr>
            <p:ph idx="1"/>
          </p:nvPr>
        </p:nvSpPr>
        <p:spPr/>
        <p:txBody>
          <a:bodyPr>
            <a:normAutofit/>
          </a:bodyPr>
          <a:lstStyle/>
          <a:p>
            <a:pPr algn="just">
              <a:buFont typeface="Wingdings" panose="05000000000000000000" pitchFamily="2" charset="2"/>
              <a:buChar char="Ø"/>
            </a:pPr>
            <a:r>
              <a:rPr lang="en-US" dirty="0"/>
              <a:t> It is a sport played on a rectangular court by two teams of five players each, generally indoors. </a:t>
            </a:r>
          </a:p>
          <a:p>
            <a:pPr algn="just">
              <a:buFont typeface="Wingdings" panose="05000000000000000000" pitchFamily="2" charset="2"/>
              <a:buChar char="Ø"/>
            </a:pPr>
            <a:r>
              <a:rPr lang="en-US" dirty="0"/>
              <a:t> Each side attempts to score by tossing the ball through the opposing goal, which is an elevated horizontal hoop and net known as a basket. </a:t>
            </a:r>
          </a:p>
          <a:p>
            <a:pPr algn="just">
              <a:buFont typeface="Wingdings" panose="05000000000000000000" pitchFamily="2" charset="2"/>
              <a:buChar char="Ø"/>
            </a:pPr>
            <a:r>
              <a:rPr lang="en-US" dirty="0"/>
              <a:t> If the shooter scores within the 3-point line, their team gets 2 points. Free throws, on the other hand, gives them 1 point. </a:t>
            </a:r>
            <a:endParaRPr lang="en-PH" dirty="0"/>
          </a:p>
        </p:txBody>
      </p:sp>
    </p:spTree>
    <p:extLst>
      <p:ext uri="{BB962C8B-B14F-4D97-AF65-F5344CB8AC3E}">
        <p14:creationId xmlns:p14="http://schemas.microsoft.com/office/powerpoint/2010/main" val="1438935798"/>
      </p:ext>
    </p:extLst>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6A6651-8300-9B1E-D82E-D9BDEDD2C7B5}"/>
              </a:ext>
            </a:extLst>
          </p:cNvPr>
          <p:cNvSpPr>
            <a:spLocks noGrp="1"/>
          </p:cNvSpPr>
          <p:nvPr>
            <p:ph type="title"/>
          </p:nvPr>
        </p:nvSpPr>
        <p:spPr/>
        <p:txBody>
          <a:bodyPr/>
          <a:lstStyle/>
          <a:p>
            <a:r>
              <a:rPr lang="en-US" dirty="0"/>
              <a:t>Objectives</a:t>
            </a:r>
            <a:endParaRPr lang="en-PH" dirty="0"/>
          </a:p>
        </p:txBody>
      </p:sp>
      <p:sp>
        <p:nvSpPr>
          <p:cNvPr id="3" name="Content Placeholder 2">
            <a:extLst>
              <a:ext uri="{FF2B5EF4-FFF2-40B4-BE49-F238E27FC236}">
                <a16:creationId xmlns:a16="http://schemas.microsoft.com/office/drawing/2014/main" id="{024FD49A-96B4-5E3D-262C-6DE9E8C540E0}"/>
              </a:ext>
            </a:extLst>
          </p:cNvPr>
          <p:cNvSpPr>
            <a:spLocks noGrp="1"/>
          </p:cNvSpPr>
          <p:nvPr>
            <p:ph idx="1"/>
          </p:nvPr>
        </p:nvSpPr>
        <p:spPr>
          <a:xfrm>
            <a:off x="298153" y="1156700"/>
            <a:ext cx="11528661" cy="4556765"/>
          </a:xfrm>
        </p:spPr>
        <p:txBody>
          <a:bodyPr>
            <a:normAutofit/>
          </a:bodyPr>
          <a:lstStyle/>
          <a:p>
            <a:pPr marL="342900" indent="-342900" algn="just">
              <a:spcAft>
                <a:spcPts val="1200"/>
              </a:spcAft>
              <a:buAutoNum type="arabicPeriod"/>
            </a:pPr>
            <a:r>
              <a:rPr lang="en-US" sz="2400" dirty="0">
                <a:solidFill>
                  <a:srgbClr val="262626"/>
                </a:solidFill>
                <a:effectLst/>
                <a:latin typeface="Open Sans" panose="020B0606030504020204" pitchFamily="34" charset="0"/>
                <a:ea typeface="Times New Roman" panose="02020603050405020304" pitchFamily="18" charset="0"/>
              </a:rPr>
              <a:t>To demonstrate how a score board for a basketball game works in real-time.</a:t>
            </a:r>
          </a:p>
          <a:p>
            <a:pPr marL="342900" indent="-342900" algn="just">
              <a:spcAft>
                <a:spcPts val="1200"/>
              </a:spcAft>
              <a:buAutoNum type="arabicPeriod"/>
            </a:pPr>
            <a:r>
              <a:rPr lang="en-US" sz="2400" dirty="0">
                <a:solidFill>
                  <a:srgbClr val="262626"/>
                </a:solidFill>
                <a:latin typeface="Open Sans" panose="020B0606030504020204" pitchFamily="34" charset="0"/>
              </a:rPr>
              <a:t>To be able to apply what you have learned in logic circuits and switching theory, microprocessors, and CPE160P.</a:t>
            </a:r>
          </a:p>
          <a:p>
            <a:pPr marL="342900" indent="-342900" algn="just">
              <a:spcAft>
                <a:spcPts val="1200"/>
              </a:spcAft>
              <a:buAutoNum type="arabicPeriod"/>
            </a:pPr>
            <a:r>
              <a:rPr lang="en-US" sz="2400" dirty="0">
                <a:solidFill>
                  <a:srgbClr val="262626"/>
                </a:solidFill>
                <a:latin typeface="Open Sans" panose="020B0606030504020204" pitchFamily="34" charset="0"/>
              </a:rPr>
              <a:t>To be able to apply real-time embedded systems using the Arduino kit.</a:t>
            </a:r>
            <a:endParaRPr lang="en-PH" sz="3600" dirty="0"/>
          </a:p>
        </p:txBody>
      </p:sp>
    </p:spTree>
    <p:extLst>
      <p:ext uri="{BB962C8B-B14F-4D97-AF65-F5344CB8AC3E}">
        <p14:creationId xmlns:p14="http://schemas.microsoft.com/office/powerpoint/2010/main" val="3318308284"/>
      </p:ext>
    </p:extLst>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7181D8-5970-A98E-D2DD-7FB6C53A66D8}"/>
              </a:ext>
            </a:extLst>
          </p:cNvPr>
          <p:cNvSpPr>
            <a:spLocks noGrp="1"/>
          </p:cNvSpPr>
          <p:nvPr>
            <p:ph type="title"/>
          </p:nvPr>
        </p:nvSpPr>
        <p:spPr/>
        <p:txBody>
          <a:bodyPr/>
          <a:lstStyle/>
          <a:p>
            <a:r>
              <a:rPr lang="en-US" dirty="0"/>
              <a:t>Materials</a:t>
            </a:r>
            <a:endParaRPr lang="en-PH" dirty="0"/>
          </a:p>
        </p:txBody>
      </p:sp>
      <p:sp>
        <p:nvSpPr>
          <p:cNvPr id="3" name="Content Placeholder 2">
            <a:extLst>
              <a:ext uri="{FF2B5EF4-FFF2-40B4-BE49-F238E27FC236}">
                <a16:creationId xmlns:a16="http://schemas.microsoft.com/office/drawing/2014/main" id="{20EB3153-534E-FE9A-3AE5-29ADD83AF1F8}"/>
              </a:ext>
            </a:extLst>
          </p:cNvPr>
          <p:cNvSpPr>
            <a:spLocks noGrp="1"/>
          </p:cNvSpPr>
          <p:nvPr>
            <p:ph idx="1"/>
          </p:nvPr>
        </p:nvSpPr>
        <p:spPr/>
        <p:txBody>
          <a:bodyPr>
            <a:normAutofit/>
          </a:bodyPr>
          <a:lstStyle/>
          <a:p>
            <a:pPr marL="0" indent="0">
              <a:buNone/>
            </a:pPr>
            <a:r>
              <a:rPr lang="en-PH" sz="2400" dirty="0">
                <a:solidFill>
                  <a:srgbClr val="262626"/>
                </a:solidFill>
                <a:effectLst/>
                <a:latin typeface="Open Sans" panose="020B0606030504020204" pitchFamily="34" charset="0"/>
                <a:ea typeface="Times New Roman" panose="02020603050405020304" pitchFamily="18" charset="0"/>
              </a:rPr>
              <a:t>Hardware</a:t>
            </a:r>
          </a:p>
          <a:p>
            <a:pPr marL="0" indent="0">
              <a:buNone/>
            </a:pPr>
            <a:endParaRPr lang="en-PH" sz="2400" dirty="0">
              <a:solidFill>
                <a:srgbClr val="262626"/>
              </a:solidFill>
              <a:effectLst/>
              <a:latin typeface="Open Sans" panose="020B0606030504020204" pitchFamily="34" charset="0"/>
              <a:ea typeface="Times New Roman" panose="02020603050405020304" pitchFamily="18" charset="0"/>
            </a:endParaRPr>
          </a:p>
          <a:p>
            <a:pPr>
              <a:buFont typeface="Wingdings" panose="05000000000000000000" pitchFamily="2" charset="2"/>
              <a:buChar char="Ø"/>
            </a:pPr>
            <a:r>
              <a:rPr lang="en-PH" sz="2400" dirty="0">
                <a:solidFill>
                  <a:srgbClr val="262626"/>
                </a:solidFill>
                <a:effectLst/>
                <a:latin typeface="Open Sans" panose="020B0606030504020204" pitchFamily="34" charset="0"/>
                <a:ea typeface="Times New Roman" panose="02020603050405020304" pitchFamily="18" charset="0"/>
              </a:rPr>
              <a:t> Arduino Kit</a:t>
            </a:r>
            <a:endParaRPr lang="en-PH" sz="2400" dirty="0">
              <a:effectLst/>
              <a:latin typeface="Times New Roman" panose="02020603050405020304" pitchFamily="18" charset="0"/>
              <a:ea typeface="Times New Roman" panose="02020603050405020304" pitchFamily="18" charset="0"/>
            </a:endParaRPr>
          </a:p>
          <a:p>
            <a:pPr>
              <a:buFont typeface="Wingdings" panose="05000000000000000000" pitchFamily="2" charset="2"/>
              <a:buChar char="Ø"/>
            </a:pPr>
            <a:r>
              <a:rPr lang="en-PH" sz="2400" dirty="0">
                <a:solidFill>
                  <a:srgbClr val="262626"/>
                </a:solidFill>
                <a:effectLst/>
                <a:latin typeface="Open Sans" panose="020B0606030504020204" pitchFamily="34" charset="0"/>
                <a:ea typeface="Times New Roman" panose="02020603050405020304" pitchFamily="18" charset="0"/>
              </a:rPr>
              <a:t> Arduino Uno</a:t>
            </a:r>
          </a:p>
          <a:p>
            <a:pPr>
              <a:buFont typeface="Wingdings" panose="05000000000000000000" pitchFamily="2" charset="2"/>
              <a:buChar char="Ø"/>
            </a:pPr>
            <a:r>
              <a:rPr lang="en-PH" sz="2400" dirty="0">
                <a:solidFill>
                  <a:srgbClr val="262626"/>
                </a:solidFill>
                <a:latin typeface="Open Sans" panose="020B0606030504020204" pitchFamily="34" charset="0"/>
                <a:ea typeface="Times New Roman" panose="02020603050405020304" pitchFamily="18" charset="0"/>
              </a:rPr>
              <a:t> 4-Digit Seven Segment Display</a:t>
            </a:r>
          </a:p>
          <a:p>
            <a:pPr>
              <a:buFont typeface="Wingdings" panose="05000000000000000000" pitchFamily="2" charset="2"/>
              <a:buChar char="Ø"/>
            </a:pPr>
            <a:r>
              <a:rPr lang="en-PH" sz="2400" dirty="0">
                <a:solidFill>
                  <a:srgbClr val="262626"/>
                </a:solidFill>
                <a:latin typeface="Open Sans" panose="020B0606030504020204" pitchFamily="34" charset="0"/>
              </a:rPr>
              <a:t> 5 switch buttons</a:t>
            </a:r>
          </a:p>
          <a:p>
            <a:pPr>
              <a:buFont typeface="Wingdings" panose="05000000000000000000" pitchFamily="2" charset="2"/>
              <a:buChar char="Ø"/>
            </a:pPr>
            <a:r>
              <a:rPr lang="en-PH" sz="2400" dirty="0">
                <a:solidFill>
                  <a:srgbClr val="262626"/>
                </a:solidFill>
                <a:latin typeface="Open Sans" panose="020B0606030504020204" pitchFamily="34" charset="0"/>
              </a:rPr>
              <a:t> Breadboard</a:t>
            </a:r>
            <a:endParaRPr lang="en-PH" dirty="0"/>
          </a:p>
        </p:txBody>
      </p:sp>
      <p:pic>
        <p:nvPicPr>
          <p:cNvPr id="6" name="Picture 5">
            <a:extLst>
              <a:ext uri="{FF2B5EF4-FFF2-40B4-BE49-F238E27FC236}">
                <a16:creationId xmlns:a16="http://schemas.microsoft.com/office/drawing/2014/main" id="{0BB17A32-821A-A333-D02A-21720056EDCA}"/>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096000" y="1909367"/>
            <a:ext cx="5388636" cy="3039265"/>
          </a:xfrm>
          <a:prstGeom prst="rect">
            <a:avLst/>
          </a:prstGeom>
        </p:spPr>
      </p:pic>
    </p:spTree>
    <p:extLst>
      <p:ext uri="{BB962C8B-B14F-4D97-AF65-F5344CB8AC3E}">
        <p14:creationId xmlns:p14="http://schemas.microsoft.com/office/powerpoint/2010/main" val="994008893"/>
      </p:ext>
    </p:extLst>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7181D8-5970-A98E-D2DD-7FB6C53A66D8}"/>
              </a:ext>
            </a:extLst>
          </p:cNvPr>
          <p:cNvSpPr>
            <a:spLocks noGrp="1"/>
          </p:cNvSpPr>
          <p:nvPr>
            <p:ph type="title"/>
          </p:nvPr>
        </p:nvSpPr>
        <p:spPr/>
        <p:txBody>
          <a:bodyPr/>
          <a:lstStyle/>
          <a:p>
            <a:r>
              <a:rPr lang="en-US" dirty="0"/>
              <a:t>Materials</a:t>
            </a:r>
            <a:endParaRPr lang="en-PH" dirty="0"/>
          </a:p>
        </p:txBody>
      </p:sp>
      <p:sp>
        <p:nvSpPr>
          <p:cNvPr id="3" name="Content Placeholder 2">
            <a:extLst>
              <a:ext uri="{FF2B5EF4-FFF2-40B4-BE49-F238E27FC236}">
                <a16:creationId xmlns:a16="http://schemas.microsoft.com/office/drawing/2014/main" id="{20EB3153-534E-FE9A-3AE5-29ADD83AF1F8}"/>
              </a:ext>
            </a:extLst>
          </p:cNvPr>
          <p:cNvSpPr>
            <a:spLocks noGrp="1"/>
          </p:cNvSpPr>
          <p:nvPr>
            <p:ph idx="1"/>
          </p:nvPr>
        </p:nvSpPr>
        <p:spPr/>
        <p:txBody>
          <a:bodyPr>
            <a:normAutofit/>
          </a:bodyPr>
          <a:lstStyle/>
          <a:p>
            <a:pPr marL="0" indent="0">
              <a:buNone/>
            </a:pPr>
            <a:r>
              <a:rPr lang="en-PH" sz="2400" dirty="0">
                <a:solidFill>
                  <a:srgbClr val="262626"/>
                </a:solidFill>
                <a:effectLst/>
                <a:latin typeface="Open Sans" panose="020B0606030504020204" pitchFamily="34" charset="0"/>
                <a:ea typeface="Times New Roman" panose="02020603050405020304" pitchFamily="18" charset="0"/>
              </a:rPr>
              <a:t>Software Libraries</a:t>
            </a:r>
          </a:p>
          <a:p>
            <a:pPr marL="0" indent="0">
              <a:buNone/>
            </a:pPr>
            <a:endParaRPr lang="en-PH" sz="2400" dirty="0">
              <a:solidFill>
                <a:srgbClr val="262626"/>
              </a:solidFill>
              <a:effectLst/>
              <a:latin typeface="Open Sans" panose="020B0606030504020204" pitchFamily="34" charset="0"/>
              <a:ea typeface="Times New Roman" panose="02020603050405020304" pitchFamily="18" charset="0"/>
            </a:endParaRPr>
          </a:p>
          <a:p>
            <a:pPr>
              <a:buFont typeface="Wingdings" panose="05000000000000000000" pitchFamily="2" charset="2"/>
              <a:buChar char="Ø"/>
            </a:pPr>
            <a:r>
              <a:rPr lang="en-PH" sz="2400" dirty="0">
                <a:solidFill>
                  <a:srgbClr val="262626"/>
                </a:solidFill>
                <a:effectLst/>
                <a:latin typeface="Open Sans" panose="020B0606030504020204" pitchFamily="34" charset="0"/>
                <a:ea typeface="Times New Roman" panose="02020603050405020304" pitchFamily="18" charset="0"/>
              </a:rPr>
              <a:t> </a:t>
            </a:r>
            <a:r>
              <a:rPr lang="en-PH" sz="2400" dirty="0" err="1">
                <a:solidFill>
                  <a:srgbClr val="262626"/>
                </a:solidFill>
                <a:effectLst/>
                <a:latin typeface="Open Sans" panose="020B0606030504020204" pitchFamily="34" charset="0"/>
                <a:ea typeface="Times New Roman" panose="02020603050405020304" pitchFamily="18" charset="0"/>
              </a:rPr>
              <a:t>Sevseg.h</a:t>
            </a:r>
            <a:endParaRPr lang="en-PH" sz="2400" dirty="0">
              <a:effectLst/>
              <a:latin typeface="Times New Roman" panose="02020603050405020304" pitchFamily="18" charset="0"/>
              <a:ea typeface="Times New Roman" panose="02020603050405020304" pitchFamily="18" charset="0"/>
            </a:endParaRPr>
          </a:p>
          <a:p>
            <a:pPr>
              <a:buFont typeface="Wingdings" panose="05000000000000000000" pitchFamily="2" charset="2"/>
              <a:buChar char="Ø"/>
            </a:pPr>
            <a:endParaRPr lang="en-PH" dirty="0"/>
          </a:p>
        </p:txBody>
      </p:sp>
      <p:pic>
        <p:nvPicPr>
          <p:cNvPr id="5" name="Picture 4">
            <a:extLst>
              <a:ext uri="{FF2B5EF4-FFF2-40B4-BE49-F238E27FC236}">
                <a16:creationId xmlns:a16="http://schemas.microsoft.com/office/drawing/2014/main" id="{5508B0CE-E4C5-494E-1379-CD9ED3455E31}"/>
              </a:ext>
            </a:extLst>
          </p:cNvPr>
          <p:cNvPicPr>
            <a:picLocks noChangeAspect="1"/>
          </p:cNvPicPr>
          <p:nvPr/>
        </p:nvPicPr>
        <p:blipFill>
          <a:blip r:embed="rId3"/>
          <a:stretch>
            <a:fillRect/>
          </a:stretch>
        </p:blipFill>
        <p:spPr>
          <a:xfrm>
            <a:off x="6308964" y="2501002"/>
            <a:ext cx="4553372" cy="1855995"/>
          </a:xfrm>
          <a:prstGeom prst="rect">
            <a:avLst/>
          </a:prstGeom>
        </p:spPr>
      </p:pic>
    </p:spTree>
    <p:extLst>
      <p:ext uri="{BB962C8B-B14F-4D97-AF65-F5344CB8AC3E}">
        <p14:creationId xmlns:p14="http://schemas.microsoft.com/office/powerpoint/2010/main" val="4214434680"/>
      </p:ext>
    </p:extLst>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065873-699C-F40C-2689-5D3AF5211A24}"/>
              </a:ext>
            </a:extLst>
          </p:cNvPr>
          <p:cNvSpPr>
            <a:spLocks noGrp="1"/>
          </p:cNvSpPr>
          <p:nvPr>
            <p:ph type="title"/>
          </p:nvPr>
        </p:nvSpPr>
        <p:spPr/>
        <p:txBody>
          <a:bodyPr/>
          <a:lstStyle/>
          <a:p>
            <a:r>
              <a:rPr lang="en-US" dirty="0"/>
              <a:t>Discussion: Real-Time Basketball Scoreboard</a:t>
            </a:r>
            <a:endParaRPr lang="en-PH" dirty="0"/>
          </a:p>
        </p:txBody>
      </p:sp>
      <p:sp>
        <p:nvSpPr>
          <p:cNvPr id="3" name="Content Placeholder 2">
            <a:extLst>
              <a:ext uri="{FF2B5EF4-FFF2-40B4-BE49-F238E27FC236}">
                <a16:creationId xmlns:a16="http://schemas.microsoft.com/office/drawing/2014/main" id="{5E063ACE-958C-A417-12FB-E89D27E6F798}"/>
              </a:ext>
            </a:extLst>
          </p:cNvPr>
          <p:cNvSpPr>
            <a:spLocks noGrp="1"/>
          </p:cNvSpPr>
          <p:nvPr>
            <p:ph idx="1"/>
          </p:nvPr>
        </p:nvSpPr>
        <p:spPr>
          <a:xfrm>
            <a:off x="288436" y="1186177"/>
            <a:ext cx="6293520" cy="5085227"/>
          </a:xfrm>
        </p:spPr>
        <p:txBody>
          <a:bodyPr>
            <a:normAutofit/>
          </a:bodyPr>
          <a:lstStyle/>
          <a:p>
            <a:pPr algn="just">
              <a:spcAft>
                <a:spcPts val="600"/>
              </a:spcAft>
              <a:buFont typeface="Wingdings" panose="05000000000000000000" pitchFamily="2" charset="2"/>
              <a:buChar char="Ø"/>
            </a:pPr>
            <a:r>
              <a:rPr lang="en-US" sz="2400" dirty="0">
                <a:latin typeface="Open Sans" panose="020B0606030504020204" pitchFamily="34" charset="0"/>
                <a:ea typeface="Open Sans" panose="020B0606030504020204" pitchFamily="34" charset="0"/>
                <a:cs typeface="Open Sans" panose="020B0606030504020204" pitchFamily="34" charset="0"/>
              </a:rPr>
              <a:t> Two Main Functions</a:t>
            </a:r>
            <a:endParaRPr lang="en-PH" sz="2000" dirty="0">
              <a:latin typeface="Open Sans" panose="020B0606030504020204" pitchFamily="34" charset="0"/>
              <a:ea typeface="Open Sans" panose="020B0606030504020204" pitchFamily="34" charset="0"/>
              <a:cs typeface="Open Sans" panose="020B0606030504020204" pitchFamily="34" charset="0"/>
            </a:endParaRPr>
          </a:p>
          <a:p>
            <a:pPr marL="457200" indent="-457200" algn="just">
              <a:spcAft>
                <a:spcPts val="600"/>
              </a:spcAft>
              <a:buFont typeface="+mj-lt"/>
              <a:buAutoNum type="arabicPeriod"/>
            </a:pPr>
            <a:r>
              <a:rPr lang="en-US" sz="2400" dirty="0">
                <a:latin typeface="Open Sans" panose="020B0606030504020204" pitchFamily="34" charset="0"/>
                <a:ea typeface="Open Sans" panose="020B0606030504020204" pitchFamily="34" charset="0"/>
                <a:cs typeface="Open Sans" panose="020B0606030504020204" pitchFamily="34" charset="0"/>
              </a:rPr>
              <a:t>Team1() function</a:t>
            </a:r>
          </a:p>
          <a:p>
            <a:pPr marL="457200" indent="-457200" algn="just">
              <a:spcAft>
                <a:spcPts val="600"/>
              </a:spcAft>
              <a:buFont typeface="+mj-lt"/>
              <a:buAutoNum type="arabicPeriod"/>
            </a:pPr>
            <a:r>
              <a:rPr lang="en-US" sz="2400" dirty="0">
                <a:latin typeface="Open Sans" panose="020B0606030504020204" pitchFamily="34" charset="0"/>
                <a:ea typeface="Open Sans" panose="020B0606030504020204" pitchFamily="34" charset="0"/>
                <a:cs typeface="Open Sans" panose="020B0606030504020204" pitchFamily="34" charset="0"/>
              </a:rPr>
              <a:t>Team2() function</a:t>
            </a:r>
          </a:p>
          <a:p>
            <a:pPr marL="457200" indent="-457200" algn="just">
              <a:spcAft>
                <a:spcPts val="600"/>
              </a:spcAft>
              <a:buFont typeface="+mj-lt"/>
              <a:buAutoNum type="arabicPeriod"/>
            </a:pPr>
            <a:endParaRPr lang="en-US" sz="2400" dirty="0">
              <a:latin typeface="Open Sans" panose="020B0606030504020204" pitchFamily="34" charset="0"/>
              <a:ea typeface="Open Sans" panose="020B0606030504020204" pitchFamily="34" charset="0"/>
              <a:cs typeface="Open Sans" panose="020B0606030504020204" pitchFamily="34" charset="0"/>
            </a:endParaRPr>
          </a:p>
          <a:p>
            <a:pPr algn="just">
              <a:spcAft>
                <a:spcPts val="600"/>
              </a:spcAft>
              <a:buFont typeface="Wingdings" panose="05000000000000000000" pitchFamily="2" charset="2"/>
              <a:buChar char="Ø"/>
            </a:pPr>
            <a:r>
              <a:rPr lang="en-US" sz="2400" dirty="0">
                <a:latin typeface="Open Sans" panose="020B0606030504020204" pitchFamily="34" charset="0"/>
                <a:ea typeface="Open Sans" panose="020B0606030504020204" pitchFamily="34" charset="0"/>
                <a:cs typeface="Open Sans" panose="020B0606030504020204" pitchFamily="34" charset="0"/>
              </a:rPr>
              <a:t> Separate functions, same purpose, only different digits to be considered</a:t>
            </a:r>
          </a:p>
        </p:txBody>
      </p:sp>
      <p:pic>
        <p:nvPicPr>
          <p:cNvPr id="4" name="Picture 3">
            <a:extLst>
              <a:ext uri="{FF2B5EF4-FFF2-40B4-BE49-F238E27FC236}">
                <a16:creationId xmlns:a16="http://schemas.microsoft.com/office/drawing/2014/main" id="{E1FC9A1C-BC45-91B3-0AE5-C94515E6E9A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92739" y="1186176"/>
            <a:ext cx="2688974" cy="4730400"/>
          </a:xfrm>
          <a:prstGeom prst="rect">
            <a:avLst/>
          </a:prstGeom>
        </p:spPr>
      </p:pic>
      <p:pic>
        <p:nvPicPr>
          <p:cNvPr id="5" name="Picture 4">
            <a:extLst>
              <a:ext uri="{FF2B5EF4-FFF2-40B4-BE49-F238E27FC236}">
                <a16:creationId xmlns:a16="http://schemas.microsoft.com/office/drawing/2014/main" id="{EFF609C3-6D06-9FD1-5E43-0B8F74D0C1F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644639" y="1186176"/>
            <a:ext cx="2395843" cy="4731287"/>
          </a:xfrm>
          <a:prstGeom prst="rect">
            <a:avLst/>
          </a:prstGeom>
        </p:spPr>
      </p:pic>
    </p:spTree>
    <p:extLst>
      <p:ext uri="{BB962C8B-B14F-4D97-AF65-F5344CB8AC3E}">
        <p14:creationId xmlns:p14="http://schemas.microsoft.com/office/powerpoint/2010/main" val="4219391028"/>
      </p:ext>
    </p:extLst>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065873-699C-F40C-2689-5D3AF5211A24}"/>
              </a:ext>
            </a:extLst>
          </p:cNvPr>
          <p:cNvSpPr>
            <a:spLocks noGrp="1"/>
          </p:cNvSpPr>
          <p:nvPr>
            <p:ph type="title"/>
          </p:nvPr>
        </p:nvSpPr>
        <p:spPr/>
        <p:txBody>
          <a:bodyPr/>
          <a:lstStyle/>
          <a:p>
            <a:r>
              <a:rPr lang="en-US" dirty="0"/>
              <a:t>Discussion: Real-Time Basketball Scoreboard</a:t>
            </a:r>
            <a:endParaRPr lang="en-PH" dirty="0"/>
          </a:p>
        </p:txBody>
      </p:sp>
      <p:sp>
        <p:nvSpPr>
          <p:cNvPr id="3" name="Content Placeholder 2">
            <a:extLst>
              <a:ext uri="{FF2B5EF4-FFF2-40B4-BE49-F238E27FC236}">
                <a16:creationId xmlns:a16="http://schemas.microsoft.com/office/drawing/2014/main" id="{5E063ACE-958C-A417-12FB-E89D27E6F798}"/>
              </a:ext>
            </a:extLst>
          </p:cNvPr>
          <p:cNvSpPr>
            <a:spLocks noGrp="1"/>
          </p:cNvSpPr>
          <p:nvPr>
            <p:ph idx="1"/>
          </p:nvPr>
        </p:nvSpPr>
        <p:spPr>
          <a:xfrm>
            <a:off x="288435" y="1186177"/>
            <a:ext cx="5807565" cy="4998963"/>
          </a:xfrm>
        </p:spPr>
        <p:txBody>
          <a:bodyPr>
            <a:normAutofit/>
          </a:bodyPr>
          <a:lstStyle/>
          <a:p>
            <a:pPr algn="just">
              <a:spcAft>
                <a:spcPts val="600"/>
              </a:spcAft>
              <a:buFont typeface="Wingdings" panose="05000000000000000000" pitchFamily="2" charset="2"/>
              <a:buChar char="Ø"/>
            </a:pPr>
            <a:r>
              <a:rPr lang="en-US" sz="2400" dirty="0">
                <a:latin typeface="Open Sans" panose="020B0606030504020204" pitchFamily="34" charset="0"/>
                <a:ea typeface="Open Sans" panose="020B0606030504020204" pitchFamily="34" charset="0"/>
                <a:cs typeface="Open Sans" panose="020B0606030504020204" pitchFamily="34" charset="0"/>
              </a:rPr>
              <a:t> The handler must be able to adjust the points of the teams by 1s, 2s, or 3s, depending on the shot made by the player. </a:t>
            </a:r>
          </a:p>
          <a:p>
            <a:pPr algn="just">
              <a:spcAft>
                <a:spcPts val="600"/>
              </a:spcAft>
              <a:buFont typeface="Wingdings" panose="05000000000000000000" pitchFamily="2" charset="2"/>
              <a:buChar char="Ø"/>
            </a:pPr>
            <a:endParaRPr lang="en-US" sz="2400" dirty="0">
              <a:latin typeface="Open Sans" panose="020B0606030504020204" pitchFamily="34" charset="0"/>
              <a:ea typeface="Open Sans" panose="020B0606030504020204" pitchFamily="34" charset="0"/>
              <a:cs typeface="Open Sans" panose="020B0606030504020204" pitchFamily="34" charset="0"/>
            </a:endParaRPr>
          </a:p>
          <a:p>
            <a:pPr algn="just">
              <a:spcAft>
                <a:spcPts val="600"/>
              </a:spcAft>
              <a:buFont typeface="Wingdings" panose="05000000000000000000" pitchFamily="2" charset="2"/>
              <a:buChar char="Ø"/>
            </a:pPr>
            <a:r>
              <a:rPr lang="en-US" sz="2400" dirty="0">
                <a:latin typeface="Open Sans" panose="020B0606030504020204" pitchFamily="34" charset="0"/>
                <a:ea typeface="Open Sans" panose="020B0606030504020204" pitchFamily="34" charset="0"/>
                <a:cs typeface="Open Sans" panose="020B0606030504020204" pitchFamily="34" charset="0"/>
              </a:rPr>
              <a:t> The 5</a:t>
            </a:r>
            <a:r>
              <a:rPr lang="en-US" sz="2400" baseline="30000" dirty="0">
                <a:latin typeface="Open Sans" panose="020B0606030504020204" pitchFamily="34" charset="0"/>
                <a:ea typeface="Open Sans" panose="020B0606030504020204" pitchFamily="34" charset="0"/>
                <a:cs typeface="Open Sans" panose="020B0606030504020204" pitchFamily="34" charset="0"/>
              </a:rPr>
              <a:t>th</a:t>
            </a:r>
            <a:r>
              <a:rPr lang="en-US" sz="2400" dirty="0">
                <a:latin typeface="Open Sans" panose="020B0606030504020204" pitchFamily="34" charset="0"/>
                <a:ea typeface="Open Sans" panose="020B0606030504020204" pitchFamily="34" charset="0"/>
                <a:cs typeface="Open Sans" panose="020B0606030504020204" pitchFamily="34" charset="0"/>
              </a:rPr>
              <a:t> button serves as a switch from one team to another. </a:t>
            </a:r>
          </a:p>
          <a:p>
            <a:pPr algn="just">
              <a:spcAft>
                <a:spcPts val="600"/>
              </a:spcAft>
              <a:buFont typeface="Wingdings" panose="05000000000000000000" pitchFamily="2" charset="2"/>
              <a:buChar char="Ø"/>
            </a:pPr>
            <a:endParaRPr lang="en-US" sz="2400" dirty="0">
              <a:latin typeface="Open Sans" panose="020B0606030504020204" pitchFamily="34" charset="0"/>
              <a:ea typeface="Open Sans" panose="020B0606030504020204" pitchFamily="34" charset="0"/>
              <a:cs typeface="Open Sans" panose="020B0606030504020204" pitchFamily="34" charset="0"/>
            </a:endParaRPr>
          </a:p>
          <a:p>
            <a:pPr algn="just">
              <a:spcAft>
                <a:spcPts val="600"/>
              </a:spcAft>
              <a:buFont typeface="Wingdings" panose="05000000000000000000" pitchFamily="2" charset="2"/>
              <a:buChar char="Ø"/>
            </a:pPr>
            <a:r>
              <a:rPr lang="en-US" sz="2400" dirty="0">
                <a:latin typeface="Open Sans" panose="020B0606030504020204" pitchFamily="34" charset="0"/>
                <a:ea typeface="Open Sans" panose="020B0606030504020204" pitchFamily="34" charset="0"/>
                <a:cs typeface="Open Sans" panose="020B0606030504020204" pitchFamily="34" charset="0"/>
              </a:rPr>
              <a:t> There is also the 4th button, which handles the decrementing of the points.</a:t>
            </a:r>
          </a:p>
        </p:txBody>
      </p:sp>
      <p:pic>
        <p:nvPicPr>
          <p:cNvPr id="5" name="Picture 4">
            <a:extLst>
              <a:ext uri="{FF2B5EF4-FFF2-40B4-BE49-F238E27FC236}">
                <a16:creationId xmlns:a16="http://schemas.microsoft.com/office/drawing/2014/main" id="{043462C0-77EF-AAB9-244D-917A99363E30}"/>
              </a:ext>
            </a:extLst>
          </p:cNvPr>
          <p:cNvPicPr>
            <a:picLocks noChangeAspect="1"/>
          </p:cNvPicPr>
          <p:nvPr/>
        </p:nvPicPr>
        <p:blipFill rotWithShape="1">
          <a:blip r:embed="rId3">
            <a:extLst>
              <a:ext uri="{28A0092B-C50C-407E-A947-70E740481C1C}">
                <a14:useLocalDpi xmlns:a14="http://schemas.microsoft.com/office/drawing/2010/main" val="0"/>
              </a:ext>
            </a:extLst>
          </a:blip>
          <a:srcRect r="25866"/>
          <a:stretch/>
        </p:blipFill>
        <p:spPr>
          <a:xfrm>
            <a:off x="8816299" y="3519577"/>
            <a:ext cx="3226175" cy="2454465"/>
          </a:xfrm>
          <a:prstGeom prst="rect">
            <a:avLst/>
          </a:prstGeom>
          <a:ln w="28575">
            <a:solidFill>
              <a:schemeClr val="tx1"/>
            </a:solidFill>
          </a:ln>
        </p:spPr>
      </p:pic>
      <p:pic>
        <p:nvPicPr>
          <p:cNvPr id="7" name="Picture 6">
            <a:extLst>
              <a:ext uri="{FF2B5EF4-FFF2-40B4-BE49-F238E27FC236}">
                <a16:creationId xmlns:a16="http://schemas.microsoft.com/office/drawing/2014/main" id="{700F0294-E050-C8C7-0FCF-0EB4EFDAB00C}"/>
              </a:ext>
            </a:extLst>
          </p:cNvPr>
          <p:cNvPicPr>
            <a:picLocks noChangeAspect="1"/>
          </p:cNvPicPr>
          <p:nvPr/>
        </p:nvPicPr>
        <p:blipFill rotWithShape="1">
          <a:blip r:embed="rId4">
            <a:extLst>
              <a:ext uri="{28A0092B-C50C-407E-A947-70E740481C1C}">
                <a14:useLocalDpi xmlns:a14="http://schemas.microsoft.com/office/drawing/2010/main" val="0"/>
              </a:ext>
            </a:extLst>
          </a:blip>
          <a:srcRect r="21646"/>
          <a:stretch/>
        </p:blipFill>
        <p:spPr>
          <a:xfrm>
            <a:off x="6376493" y="1186177"/>
            <a:ext cx="3523594" cy="2536370"/>
          </a:xfrm>
          <a:prstGeom prst="rect">
            <a:avLst/>
          </a:prstGeom>
          <a:ln w="28575">
            <a:solidFill>
              <a:schemeClr val="tx1"/>
            </a:solidFill>
          </a:ln>
        </p:spPr>
      </p:pic>
    </p:spTree>
    <p:extLst>
      <p:ext uri="{BB962C8B-B14F-4D97-AF65-F5344CB8AC3E}">
        <p14:creationId xmlns:p14="http://schemas.microsoft.com/office/powerpoint/2010/main" val="995182205"/>
      </p:ext>
    </p:extLst>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065873-699C-F40C-2689-5D3AF5211A24}"/>
              </a:ext>
            </a:extLst>
          </p:cNvPr>
          <p:cNvSpPr>
            <a:spLocks noGrp="1"/>
          </p:cNvSpPr>
          <p:nvPr>
            <p:ph type="title"/>
          </p:nvPr>
        </p:nvSpPr>
        <p:spPr/>
        <p:txBody>
          <a:bodyPr/>
          <a:lstStyle/>
          <a:p>
            <a:r>
              <a:rPr lang="en-US" dirty="0"/>
              <a:t>Discussion: Real-Time Basketball Scoreboard</a:t>
            </a:r>
            <a:endParaRPr lang="en-PH" dirty="0"/>
          </a:p>
        </p:txBody>
      </p:sp>
      <p:sp>
        <p:nvSpPr>
          <p:cNvPr id="3" name="Content Placeholder 2">
            <a:extLst>
              <a:ext uri="{FF2B5EF4-FFF2-40B4-BE49-F238E27FC236}">
                <a16:creationId xmlns:a16="http://schemas.microsoft.com/office/drawing/2014/main" id="{5E063ACE-958C-A417-12FB-E89D27E6F798}"/>
              </a:ext>
            </a:extLst>
          </p:cNvPr>
          <p:cNvSpPr>
            <a:spLocks noGrp="1"/>
          </p:cNvSpPr>
          <p:nvPr>
            <p:ph idx="1"/>
          </p:nvPr>
        </p:nvSpPr>
        <p:spPr>
          <a:xfrm>
            <a:off x="288435" y="1186177"/>
            <a:ext cx="5807565" cy="4998963"/>
          </a:xfrm>
        </p:spPr>
        <p:txBody>
          <a:bodyPr>
            <a:normAutofit/>
          </a:bodyPr>
          <a:lstStyle/>
          <a:p>
            <a:pPr algn="just">
              <a:spcAft>
                <a:spcPts val="600"/>
              </a:spcAft>
              <a:buFont typeface="Wingdings" panose="05000000000000000000" pitchFamily="2" charset="2"/>
              <a:buChar char="Ø"/>
            </a:pPr>
            <a:r>
              <a:rPr lang="en-US" sz="2400" dirty="0">
                <a:latin typeface="Open Sans" panose="020B0606030504020204" pitchFamily="34" charset="0"/>
                <a:ea typeface="Open Sans" panose="020B0606030504020204" pitchFamily="34" charset="0"/>
                <a:cs typeface="Open Sans" panose="020B0606030504020204" pitchFamily="34" charset="0"/>
              </a:rPr>
              <a:t> Number of digits, the digit pins, the segment pins, and other hardware configuration was first programmed in the initialization stage</a:t>
            </a:r>
          </a:p>
          <a:p>
            <a:pPr algn="just">
              <a:spcAft>
                <a:spcPts val="600"/>
              </a:spcAft>
              <a:buFont typeface="Wingdings" panose="05000000000000000000" pitchFamily="2" charset="2"/>
              <a:buChar char="Ø"/>
            </a:pPr>
            <a:r>
              <a:rPr lang="en-US" sz="2400" dirty="0">
                <a:latin typeface="Open Sans" panose="020B0606030504020204" pitchFamily="34" charset="0"/>
                <a:ea typeface="Open Sans" panose="020B0606030504020204" pitchFamily="34" charset="0"/>
                <a:cs typeface="Open Sans" panose="020B0606030504020204" pitchFamily="34" charset="0"/>
              </a:rPr>
              <a:t> Only the functions </a:t>
            </a:r>
            <a:r>
              <a:rPr lang="en-US" sz="2400" dirty="0" err="1">
                <a:latin typeface="Open Sans" panose="020B0606030504020204" pitchFamily="34" charset="0"/>
                <a:ea typeface="Open Sans" panose="020B0606030504020204" pitchFamily="34" charset="0"/>
                <a:cs typeface="Open Sans" panose="020B0606030504020204" pitchFamily="34" charset="0"/>
              </a:rPr>
              <a:t>setNumber</a:t>
            </a:r>
            <a:r>
              <a:rPr lang="en-US" sz="2400" dirty="0">
                <a:latin typeface="Open Sans" panose="020B0606030504020204" pitchFamily="34" charset="0"/>
                <a:ea typeface="Open Sans" panose="020B0606030504020204" pitchFamily="34" charset="0"/>
                <a:cs typeface="Open Sans" panose="020B0606030504020204" pitchFamily="34" charset="0"/>
              </a:rPr>
              <a:t>() and </a:t>
            </a:r>
            <a:r>
              <a:rPr lang="en-US" sz="2400" dirty="0" err="1">
                <a:latin typeface="Open Sans" panose="020B0606030504020204" pitchFamily="34" charset="0"/>
                <a:ea typeface="Open Sans" panose="020B0606030504020204" pitchFamily="34" charset="0"/>
                <a:cs typeface="Open Sans" panose="020B0606030504020204" pitchFamily="34" charset="0"/>
              </a:rPr>
              <a:t>refreshDisplay</a:t>
            </a:r>
            <a:r>
              <a:rPr lang="en-US" sz="2400" dirty="0">
                <a:latin typeface="Open Sans" panose="020B0606030504020204" pitchFamily="34" charset="0"/>
                <a:ea typeface="Open Sans" panose="020B0606030504020204" pitchFamily="34" charset="0"/>
                <a:cs typeface="Open Sans" panose="020B0606030504020204" pitchFamily="34" charset="0"/>
              </a:rPr>
              <a:t>() were used</a:t>
            </a:r>
          </a:p>
          <a:p>
            <a:pPr algn="just">
              <a:spcAft>
                <a:spcPts val="600"/>
              </a:spcAft>
              <a:buFont typeface="Wingdings" panose="05000000000000000000" pitchFamily="2" charset="2"/>
              <a:buChar char="Ø"/>
            </a:pPr>
            <a:r>
              <a:rPr lang="en-US" sz="2400" dirty="0">
                <a:latin typeface="Open Sans" panose="020B0606030504020204" pitchFamily="34" charset="0"/>
                <a:ea typeface="Open Sans" panose="020B0606030504020204" pitchFamily="34" charset="0"/>
                <a:cs typeface="Open Sans" panose="020B0606030504020204" pitchFamily="34" charset="0"/>
              </a:rPr>
              <a:t> The loop of the program itself begins by refreshing the seven segment display, then checks the value of the 5</a:t>
            </a:r>
            <a:r>
              <a:rPr lang="en-US" sz="2400" baseline="30000" dirty="0">
                <a:latin typeface="Open Sans" panose="020B0606030504020204" pitchFamily="34" charset="0"/>
                <a:ea typeface="Open Sans" panose="020B0606030504020204" pitchFamily="34" charset="0"/>
                <a:cs typeface="Open Sans" panose="020B0606030504020204" pitchFamily="34" charset="0"/>
              </a:rPr>
              <a:t>th</a:t>
            </a:r>
            <a:r>
              <a:rPr lang="en-US" sz="2400" dirty="0">
                <a:latin typeface="Open Sans" panose="020B0606030504020204" pitchFamily="34" charset="0"/>
                <a:ea typeface="Open Sans" panose="020B0606030504020204" pitchFamily="34" charset="0"/>
                <a:cs typeface="Open Sans" panose="020B0606030504020204" pitchFamily="34" charset="0"/>
              </a:rPr>
              <a:t> button and adjusts the value if changed.</a:t>
            </a:r>
          </a:p>
        </p:txBody>
      </p:sp>
      <p:pic>
        <p:nvPicPr>
          <p:cNvPr id="6" name="Picture 5">
            <a:extLst>
              <a:ext uri="{FF2B5EF4-FFF2-40B4-BE49-F238E27FC236}">
                <a16:creationId xmlns:a16="http://schemas.microsoft.com/office/drawing/2014/main" id="{EE7A1F3F-E655-8D17-8042-DF583417F562}"/>
              </a:ext>
            </a:extLst>
          </p:cNvPr>
          <p:cNvPicPr>
            <a:picLocks noChangeAspect="1"/>
          </p:cNvPicPr>
          <p:nvPr/>
        </p:nvPicPr>
        <p:blipFill>
          <a:blip r:embed="rId3"/>
          <a:stretch>
            <a:fillRect/>
          </a:stretch>
        </p:blipFill>
        <p:spPr>
          <a:xfrm>
            <a:off x="6830478" y="1186177"/>
            <a:ext cx="4724809" cy="1707028"/>
          </a:xfrm>
          <a:prstGeom prst="rect">
            <a:avLst/>
          </a:prstGeom>
        </p:spPr>
      </p:pic>
      <p:pic>
        <p:nvPicPr>
          <p:cNvPr id="9" name="Picture 8">
            <a:extLst>
              <a:ext uri="{FF2B5EF4-FFF2-40B4-BE49-F238E27FC236}">
                <a16:creationId xmlns:a16="http://schemas.microsoft.com/office/drawing/2014/main" id="{50A09AC2-CC04-AA98-8A82-1938CD4C2903}"/>
              </a:ext>
            </a:extLst>
          </p:cNvPr>
          <p:cNvPicPr>
            <a:picLocks noChangeAspect="1"/>
          </p:cNvPicPr>
          <p:nvPr/>
        </p:nvPicPr>
        <p:blipFill>
          <a:blip r:embed="rId4"/>
          <a:stretch>
            <a:fillRect/>
          </a:stretch>
        </p:blipFill>
        <p:spPr>
          <a:xfrm>
            <a:off x="7779249" y="3237196"/>
            <a:ext cx="2827265" cy="2613887"/>
          </a:xfrm>
          <a:prstGeom prst="rect">
            <a:avLst/>
          </a:prstGeom>
        </p:spPr>
      </p:pic>
    </p:spTree>
    <p:extLst>
      <p:ext uri="{BB962C8B-B14F-4D97-AF65-F5344CB8AC3E}">
        <p14:creationId xmlns:p14="http://schemas.microsoft.com/office/powerpoint/2010/main" val="3624120021"/>
      </p:ext>
    </p:extLst>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620D87-3C2B-E0E7-BF4C-034764EEB910}"/>
              </a:ext>
            </a:extLst>
          </p:cNvPr>
          <p:cNvSpPr>
            <a:spLocks noGrp="1"/>
          </p:cNvSpPr>
          <p:nvPr>
            <p:ph type="title"/>
          </p:nvPr>
        </p:nvSpPr>
        <p:spPr/>
        <p:txBody>
          <a:bodyPr/>
          <a:lstStyle/>
          <a:p>
            <a:r>
              <a:rPr lang="en-US" dirty="0"/>
              <a:t>Conclusion</a:t>
            </a:r>
            <a:endParaRPr lang="en-PH" dirty="0"/>
          </a:p>
        </p:txBody>
      </p:sp>
      <p:sp>
        <p:nvSpPr>
          <p:cNvPr id="3" name="Content Placeholder 2">
            <a:extLst>
              <a:ext uri="{FF2B5EF4-FFF2-40B4-BE49-F238E27FC236}">
                <a16:creationId xmlns:a16="http://schemas.microsoft.com/office/drawing/2014/main" id="{C7CCB3A3-7EAD-78B9-B327-F3EEF871EAA5}"/>
              </a:ext>
            </a:extLst>
          </p:cNvPr>
          <p:cNvSpPr>
            <a:spLocks noGrp="1"/>
          </p:cNvSpPr>
          <p:nvPr>
            <p:ph idx="1"/>
          </p:nvPr>
        </p:nvSpPr>
        <p:spPr>
          <a:xfrm>
            <a:off x="298154" y="1156700"/>
            <a:ext cx="10320963" cy="5062945"/>
          </a:xfrm>
        </p:spPr>
        <p:txBody>
          <a:bodyPr>
            <a:normAutofit fontScale="92500" lnSpcReduction="20000"/>
          </a:bodyPr>
          <a:lstStyle/>
          <a:p>
            <a:pPr algn="just">
              <a:spcAft>
                <a:spcPts val="1200"/>
              </a:spcAft>
              <a:buFont typeface="Wingdings" panose="05000000000000000000" pitchFamily="2" charset="2"/>
              <a:buChar char="Ø"/>
            </a:pPr>
            <a:r>
              <a:rPr lang="en-US" dirty="0"/>
              <a:t> The real-time basketball scoreboard basically works by scoring 1, 2, or 3 points by using three buttons.</a:t>
            </a:r>
          </a:p>
          <a:p>
            <a:pPr algn="just">
              <a:spcAft>
                <a:spcPts val="1200"/>
              </a:spcAft>
              <a:buFont typeface="Wingdings" panose="05000000000000000000" pitchFamily="2" charset="2"/>
              <a:buChar char="Ø"/>
            </a:pPr>
            <a:r>
              <a:rPr lang="en-US" dirty="0"/>
              <a:t> A 4th button would be held first in order to decrement the points using the first three buttons as well. </a:t>
            </a:r>
          </a:p>
          <a:p>
            <a:pPr algn="just">
              <a:spcAft>
                <a:spcPts val="1200"/>
              </a:spcAft>
              <a:buFont typeface="Wingdings" panose="05000000000000000000" pitchFamily="2" charset="2"/>
              <a:buChar char="Ø"/>
            </a:pPr>
            <a:r>
              <a:rPr lang="en-US" dirty="0"/>
              <a:t> To score points for the second team, the 5th button should be pressed once to switch teams. </a:t>
            </a:r>
          </a:p>
          <a:p>
            <a:pPr algn="just">
              <a:spcAft>
                <a:spcPts val="1200"/>
              </a:spcAft>
              <a:buFont typeface="Wingdings" panose="05000000000000000000" pitchFamily="2" charset="2"/>
              <a:buChar char="Ø"/>
            </a:pPr>
            <a:r>
              <a:rPr lang="en-US" dirty="0"/>
              <a:t> Through series connections, pin layouts, and sensor and motor triggering, the usage of microprocessors, logic circuits, and switching theory is illustrated.</a:t>
            </a:r>
          </a:p>
          <a:p>
            <a:pPr algn="just">
              <a:spcAft>
                <a:spcPts val="1200"/>
              </a:spcAft>
              <a:buFont typeface="Wingdings" panose="05000000000000000000" pitchFamily="2" charset="2"/>
              <a:buChar char="Ø"/>
            </a:pPr>
            <a:r>
              <a:rPr lang="en-US" dirty="0"/>
              <a:t>The real-time scoreboard for a basketball game was successfully developed and presented in a basic handshaking as a consequence of employing many variables, modules, and calling such functions to construct an embedded system.</a:t>
            </a:r>
            <a:endParaRPr lang="en-PH" dirty="0"/>
          </a:p>
        </p:txBody>
      </p:sp>
    </p:spTree>
    <p:extLst>
      <p:ext uri="{BB962C8B-B14F-4D97-AF65-F5344CB8AC3E}">
        <p14:creationId xmlns:p14="http://schemas.microsoft.com/office/powerpoint/2010/main" val="1564585344"/>
      </p:ext>
    </p:extLst>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fade">
                                      <p:cBhvr>
                                        <p:cTn id="11" dur="500"/>
                                        <p:tgtEl>
                                          <p:spTgt spid="3">
                                            <p:txEl>
                                              <p:pRg st="1" end="1"/>
                                            </p:txEl>
                                          </p:spTgt>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fade">
                                      <p:cBhvr>
                                        <p:cTn id="20" dur="500"/>
                                        <p:tgtEl>
                                          <p:spTgt spid="3">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Effect transition="in" filter="fade">
                                      <p:cBhvr>
                                        <p:cTn id="25"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theme/theme1.xml><?xml version="1.0" encoding="utf-8"?>
<a:theme xmlns:a="http://schemas.openxmlformats.org/drawingml/2006/main" name="2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045B03F0E29F341B8FA8A02C69678F2" ma:contentTypeVersion="16" ma:contentTypeDescription="Create a new document." ma:contentTypeScope="" ma:versionID="573093756d776e3dbf04c8eb240bd85a">
  <xsd:schema xmlns:xsd="http://www.w3.org/2001/XMLSchema" xmlns:xs="http://www.w3.org/2001/XMLSchema" xmlns:p="http://schemas.microsoft.com/office/2006/metadata/properties" xmlns:ns2="1ea434b8-4dc5-44f7-bb31-0866ee440822" xmlns:ns3="d90711d2-37bb-4b26-8b23-51c02972fe26" targetNamespace="http://schemas.microsoft.com/office/2006/metadata/properties" ma:root="true" ma:fieldsID="00a48d9f954b4b23e62df43abd264511" ns2:_="" ns3:_="">
    <xsd:import namespace="1ea434b8-4dc5-44f7-bb31-0866ee440822"/>
    <xsd:import namespace="d90711d2-37bb-4b26-8b23-51c02972fe26"/>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2:MediaServiceAutoKeyPoints" minOccurs="0"/>
                <xsd:element ref="ns2:MediaServiceKeyPoints" minOccurs="0"/>
                <xsd:element ref="ns2:MediaLengthInSeconds" minOccurs="0"/>
                <xsd:element ref="ns2:MediaServiceLocation" minOccurs="0"/>
                <xsd:element ref="ns3:SharedWithUsers" minOccurs="0"/>
                <xsd:element ref="ns3:SharedWithDetails" minOccurs="0"/>
                <xsd:element ref="ns2:lcf76f155ced4ddcb4097134ff3c332f" minOccurs="0"/>
                <xsd:element ref="ns3: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ea434b8-4dc5-44f7-bb31-0866ee44082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DateTaken" ma:index="14" nillable="true" ma:displayName="MediaServiceDateTaken" ma:hidden="true" ma:internalName="MediaServiceDateTaken" ma:readOnly="true">
      <xsd:simpleType>
        <xsd:restriction base="dms:Text"/>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LengthInSeconds" ma:index="17" nillable="true" ma:displayName="Length (seconds)" ma:internalName="MediaLengthInSeconds" ma:readOnly="true">
      <xsd:simpleType>
        <xsd:restriction base="dms:Unknown"/>
      </xsd:simpleType>
    </xsd:element>
    <xsd:element name="MediaServiceLocation" ma:index="18" nillable="true" ma:displayName="Location" ma:internalName="MediaServiceLocation" ma:readOnly="true">
      <xsd:simpleType>
        <xsd:restriction base="dms:Text"/>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908379bb-b442-46b3-b8c0-8817e2eba016"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d90711d2-37bb-4b26-8b23-51c02972fe26" elementFormDefault="qualified">
    <xsd:import namespace="http://schemas.microsoft.com/office/2006/documentManagement/types"/>
    <xsd:import namespace="http://schemas.microsoft.com/office/infopath/2007/PartnerControls"/>
    <xsd:element name="SharedWithUsers" ma:index="19"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0"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bf5686e5-f3f9-4684-9809-4e223b1b0fd7}" ma:internalName="TaxCatchAll" ma:showField="CatchAllData" ma:web="d90711d2-37bb-4b26-8b23-51c02972fe26">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haredWithUsers xmlns="d90711d2-37bb-4b26-8b23-51c02972fe26">
      <UserInfo>
        <DisplayName/>
        <AccountId xsi:nil="true"/>
        <AccountType/>
      </UserInfo>
    </SharedWithUsers>
    <lcf76f155ced4ddcb4097134ff3c332f xmlns="1ea434b8-4dc5-44f7-bb31-0866ee440822">
      <Terms xmlns="http://schemas.microsoft.com/office/infopath/2007/PartnerControls"/>
    </lcf76f155ced4ddcb4097134ff3c332f>
    <TaxCatchAll xmlns="d90711d2-37bb-4b26-8b23-51c02972fe26"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6C7BBEC2-693C-4BAB-A217-B3E9F464271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ea434b8-4dc5-44f7-bb31-0866ee440822"/>
    <ds:schemaRef ds:uri="d90711d2-37bb-4b26-8b23-51c02972fe2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1EFBD36D-DAE8-46CB-B778-7C1B43AD43BF}">
  <ds:schemaRefs>
    <ds:schemaRef ds:uri="http://purl.org/dc/terms/"/>
    <ds:schemaRef ds:uri="http://schemas.microsoft.com/office/2006/documentManagement/types"/>
    <ds:schemaRef ds:uri="92cb724c-d654-454f-915d-237124a8a1a9"/>
    <ds:schemaRef ds:uri="http://purl.org/dc/dcmitype/"/>
    <ds:schemaRef ds:uri="http://purl.org/dc/elements/1.1/"/>
    <ds:schemaRef ds:uri="http://www.w3.org/XML/1998/namespace"/>
    <ds:schemaRef ds:uri="http://schemas.microsoft.com/office/infopath/2007/PartnerControls"/>
    <ds:schemaRef ds:uri="http://schemas.openxmlformats.org/package/2006/metadata/core-properties"/>
    <ds:schemaRef ds:uri="4b30f15d-6c4d-47ed-bde6-797b56236eb0"/>
    <ds:schemaRef ds:uri="http://schemas.microsoft.com/office/2006/metadata/properties"/>
    <ds:schemaRef ds:uri="d90711d2-37bb-4b26-8b23-51c02972fe26"/>
    <ds:schemaRef ds:uri="1ea434b8-4dc5-44f7-bb31-0866ee440822"/>
  </ds:schemaRefs>
</ds:datastoreItem>
</file>

<file path=customXml/itemProps3.xml><?xml version="1.0" encoding="utf-8"?>
<ds:datastoreItem xmlns:ds="http://schemas.openxmlformats.org/officeDocument/2006/customXml" ds:itemID="{DA769C6F-6ADF-412F-8F70-2DD1A151B0C3}">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3749</TotalTime>
  <Words>1231</Words>
  <Application>Microsoft Office PowerPoint</Application>
  <PresentationFormat>Widescreen</PresentationFormat>
  <Paragraphs>70</Paragraphs>
  <Slides>9</Slides>
  <Notes>8</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9</vt:i4>
      </vt:variant>
    </vt:vector>
  </HeadingPairs>
  <TitlesOfParts>
    <vt:vector size="17" baseType="lpstr">
      <vt:lpstr>Arial</vt:lpstr>
      <vt:lpstr>Calibri</vt:lpstr>
      <vt:lpstr>Calibri Light</vt:lpstr>
      <vt:lpstr>Open Sans</vt:lpstr>
      <vt:lpstr>Segoe UI</vt:lpstr>
      <vt:lpstr>Times New Roman</vt:lpstr>
      <vt:lpstr>Wingdings</vt:lpstr>
      <vt:lpstr>2_Office Theme</vt:lpstr>
      <vt:lpstr>REAL-TIME BASKETBALL SCOREBOARD</vt:lpstr>
      <vt:lpstr>Introduction: Real-Time Basketball Scoreboard</vt:lpstr>
      <vt:lpstr>Objectives</vt:lpstr>
      <vt:lpstr>Materials</vt:lpstr>
      <vt:lpstr>Materials</vt:lpstr>
      <vt:lpstr>Discussion: Real-Time Basketball Scoreboard</vt:lpstr>
      <vt:lpstr>Discussion: Real-Time Basketball Scoreboard</vt:lpstr>
      <vt:lpstr>Discussion: Real-Time Basketball Scoreboard</vt:lpstr>
      <vt:lpstr>Conclusion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orientation will start in</dc:title>
  <dc:subject/>
  <dc:creator>Jessica Pauline L. Faigones</dc:creator>
  <cp:keywords/>
  <dc:description/>
  <cp:lastModifiedBy>Raphael Nano</cp:lastModifiedBy>
  <cp:revision>304</cp:revision>
  <dcterms:created xsi:type="dcterms:W3CDTF">2020-06-10T07:30:38Z</dcterms:created>
  <dcterms:modified xsi:type="dcterms:W3CDTF">2023-11-17T07:21:32Z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rder">
    <vt:r8>182800</vt:r8>
  </property>
  <property fmtid="{D5CDD505-2E9C-101B-9397-08002B2CF9AE}" pid="3" name="ContentTypeId">
    <vt:lpwstr>0x0101000045B03F0E29F341B8FA8A02C69678F2</vt:lpwstr>
  </property>
  <property fmtid="{D5CDD505-2E9C-101B-9397-08002B2CF9AE}" pid="4" name="ComplianceAssetId">
    <vt:lpwstr/>
  </property>
</Properties>
</file>