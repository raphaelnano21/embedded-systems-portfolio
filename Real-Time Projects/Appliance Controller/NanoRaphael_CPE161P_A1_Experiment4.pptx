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8"/>
  </p:notesMasterIdLst>
  <p:handoutMasterIdLst>
    <p:handoutMasterId r:id="rId19"/>
  </p:handoutMasterIdLst>
  <p:sldIdLst>
    <p:sldId id="881" r:id="rId5"/>
    <p:sldId id="943" r:id="rId6"/>
    <p:sldId id="944" r:id="rId7"/>
    <p:sldId id="945" r:id="rId8"/>
    <p:sldId id="956" r:id="rId9"/>
    <p:sldId id="954" r:id="rId10"/>
    <p:sldId id="960" r:id="rId11"/>
    <p:sldId id="961" r:id="rId12"/>
    <p:sldId id="963" r:id="rId13"/>
    <p:sldId id="964" r:id="rId14"/>
    <p:sldId id="965" r:id="rId15"/>
    <p:sldId id="949" r:id="rId16"/>
    <p:sldId id="9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onis A. Padilla" initials="DAP" lastIdx="1" clrIdx="0">
    <p:extLst>
      <p:ext uri="{19B8F6BF-5375-455C-9EA6-DF929625EA0E}">
        <p15:presenceInfo xmlns:p15="http://schemas.microsoft.com/office/powerpoint/2012/main" userId="S::dapadilla@mapua.edu.ph::22fd53f7-3725-4d55-add0-dfc6f0ea2c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E1261C"/>
    <a:srgbClr val="F9F9F9"/>
    <a:srgbClr val="CCA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0898" autoAdjust="0"/>
  </p:normalViewPr>
  <p:slideViewPr>
    <p:cSldViewPr snapToGrid="0">
      <p:cViewPr varScale="1">
        <p:scale>
          <a:sx n="81" d="100"/>
          <a:sy n="81" d="100"/>
        </p:scale>
        <p:origin x="835" y="53"/>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24" d="100"/>
          <a:sy n="124" d="100"/>
        </p:scale>
        <p:origin x="40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F2D7B-A1C4-422F-8BEC-B2ADA9B38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4CB62-60B8-42ED-B41D-1204D6EC34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84004C-1C80-46E0-9113-8DACE1C8170C}" type="datetimeFigureOut">
              <a:rPr lang="en-US" smtClean="0"/>
              <a:t>12/8/2023</a:t>
            </a:fld>
            <a:endParaRPr lang="en-US"/>
          </a:p>
        </p:txBody>
      </p:sp>
      <p:sp>
        <p:nvSpPr>
          <p:cNvPr id="4" name="Footer Placeholder 3">
            <a:extLst>
              <a:ext uri="{FF2B5EF4-FFF2-40B4-BE49-F238E27FC236}">
                <a16:creationId xmlns:a16="http://schemas.microsoft.com/office/drawing/2014/main" id="{CA98C740-DCA6-4653-8D38-299256130F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7E7C8-7A32-480E-8E8D-D8E4B9A035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14B00-5376-4F9D-B569-068DF0409359}" type="slidenum">
              <a:rPr lang="en-US" smtClean="0"/>
              <a:t>‹#›</a:t>
            </a:fld>
            <a:endParaRPr lang="en-US"/>
          </a:p>
        </p:txBody>
      </p:sp>
    </p:spTree>
    <p:extLst>
      <p:ext uri="{BB962C8B-B14F-4D97-AF65-F5344CB8AC3E}">
        <p14:creationId xmlns:p14="http://schemas.microsoft.com/office/powerpoint/2010/main" val="3222357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E3EBA-9407-2244-8D2E-48917138C0BF}" type="datetimeFigureOut">
              <a:rPr lang="en-US" smtClean="0"/>
              <a:t>12/8/2023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4D408-4DFC-BF47-8641-93FB6C18070A}" type="slidenum">
              <a:rPr lang="en-US" smtClean="0"/>
              <a:t>‹#›</a:t>
            </a:fld>
            <a:endParaRPr lang="en-US"/>
          </a:p>
        </p:txBody>
      </p:sp>
    </p:spTree>
    <p:extLst>
      <p:ext uri="{BB962C8B-B14F-4D97-AF65-F5344CB8AC3E}">
        <p14:creationId xmlns:p14="http://schemas.microsoft.com/office/powerpoint/2010/main" val="48265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to everyone! My name is Raphael S. Nano from section A1 for CPE161P, presenting experiment 1 – the Real-time basketball scoreboard.</a:t>
            </a:r>
          </a:p>
        </p:txBody>
      </p:sp>
      <p:sp>
        <p:nvSpPr>
          <p:cNvPr id="4" name="Slide Number Placeholder 3"/>
          <p:cNvSpPr>
            <a:spLocks noGrp="1"/>
          </p:cNvSpPr>
          <p:nvPr>
            <p:ph type="sldNum" sz="quarter" idx="10"/>
          </p:nvPr>
        </p:nvSpPr>
        <p:spPr/>
        <p:txBody>
          <a:bodyPr/>
          <a:lstStyle/>
          <a:p>
            <a:fld id="{2EB4D408-4DFC-BF47-8641-93FB6C18070A}" type="slidenum">
              <a:rPr lang="en-US" smtClean="0"/>
              <a:t>1</a:t>
            </a:fld>
            <a:endParaRPr lang="en-US"/>
          </a:p>
        </p:txBody>
      </p:sp>
    </p:spTree>
    <p:extLst>
      <p:ext uri="{BB962C8B-B14F-4D97-AF65-F5344CB8AC3E}">
        <p14:creationId xmlns:p14="http://schemas.microsoft.com/office/powerpoint/2010/main" val="1557724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Basketball is a sport played on a rectangular court by two teams of five players each, generally indoors. Each side attempts to score by tossing the ball through the opposing goal, which is an elevated horizontal hoop and net known as a basket. Shooting at different areas of the court would mean different points. If the shooter scores while outside the 3-point line, their team gets 3 points. If the shooter scores within the 3-point line, their team gets 2 points. Free throws, on the other hand, gives them 1 point. Knowing that, a real-time basketball scoreboard will be constructed and programmed, wherein 1, 2, or 3 points could be added or deducted every time a ball went in the basket.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2</a:t>
            </a:fld>
            <a:endParaRPr lang="en-US"/>
          </a:p>
        </p:txBody>
      </p:sp>
    </p:spTree>
    <p:extLst>
      <p:ext uri="{BB962C8B-B14F-4D97-AF65-F5344CB8AC3E}">
        <p14:creationId xmlns:p14="http://schemas.microsoft.com/office/powerpoint/2010/main" val="37962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of this experiment are the following:</a:t>
            </a:r>
          </a:p>
          <a:p>
            <a:r>
              <a:rPr lang="en-US" dirty="0"/>
              <a:t>1. To demonstrate how a score board for a basketball game works in real-time.</a:t>
            </a:r>
          </a:p>
          <a:p>
            <a:r>
              <a:rPr lang="en-US" dirty="0"/>
              <a:t>2. To be able to apply what you have learned in logic circuits and switching theory, microprocessors, and CPE160P.</a:t>
            </a:r>
          </a:p>
          <a:p>
            <a:r>
              <a:rPr lang="en-US" dirty="0"/>
              <a:t>3. To be able to apply real-time embedded systems using the Arduino kit.</a:t>
            </a:r>
          </a:p>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3</a:t>
            </a:fld>
            <a:endParaRPr lang="en-US"/>
          </a:p>
        </p:txBody>
      </p:sp>
    </p:spTree>
    <p:extLst>
      <p:ext uri="{BB962C8B-B14F-4D97-AF65-F5344CB8AC3E}">
        <p14:creationId xmlns:p14="http://schemas.microsoft.com/office/powerpoint/2010/main" val="393152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materials utilized to construct the real-time basketball scoreboard are the Arduino UNO, the 4-digit seven segment display, and 5 switch buttons.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4</a:t>
            </a:fld>
            <a:endParaRPr lang="en-US"/>
          </a:p>
        </p:txBody>
      </p:sp>
    </p:spTree>
    <p:extLst>
      <p:ext uri="{BB962C8B-B14F-4D97-AF65-F5344CB8AC3E}">
        <p14:creationId xmlns:p14="http://schemas.microsoft.com/office/powerpoint/2010/main" val="747230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external library, only the </a:t>
            </a:r>
            <a:r>
              <a:rPr lang="en-US" dirty="0" err="1"/>
              <a:t>SevSeg.h</a:t>
            </a:r>
            <a:r>
              <a:rPr lang="en-US" dirty="0"/>
              <a:t> was used, which is for the seven segment display.</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5</a:t>
            </a:fld>
            <a:endParaRPr lang="en-US"/>
          </a:p>
        </p:txBody>
      </p:sp>
    </p:spTree>
    <p:extLst>
      <p:ext uri="{BB962C8B-B14F-4D97-AF65-F5344CB8AC3E}">
        <p14:creationId xmlns:p14="http://schemas.microsoft.com/office/powerpoint/2010/main" val="118630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6</a:t>
            </a:fld>
            <a:endParaRPr lang="en-US"/>
          </a:p>
        </p:txBody>
      </p:sp>
    </p:spTree>
    <p:extLst>
      <p:ext uri="{BB962C8B-B14F-4D97-AF65-F5344CB8AC3E}">
        <p14:creationId xmlns:p14="http://schemas.microsoft.com/office/powerpoint/2010/main" val="242250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7</a:t>
            </a:fld>
            <a:endParaRPr lang="en-US"/>
          </a:p>
        </p:txBody>
      </p:sp>
    </p:spTree>
    <p:extLst>
      <p:ext uri="{BB962C8B-B14F-4D97-AF65-F5344CB8AC3E}">
        <p14:creationId xmlns:p14="http://schemas.microsoft.com/office/powerpoint/2010/main" val="408680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8</a:t>
            </a:fld>
            <a:endParaRPr lang="en-US"/>
          </a:p>
        </p:txBody>
      </p:sp>
    </p:spTree>
    <p:extLst>
      <p:ext uri="{BB962C8B-B14F-4D97-AF65-F5344CB8AC3E}">
        <p14:creationId xmlns:p14="http://schemas.microsoft.com/office/powerpoint/2010/main" val="1748653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9</a:t>
            </a:fld>
            <a:endParaRPr lang="en-US"/>
          </a:p>
        </p:txBody>
      </p:sp>
    </p:spTree>
    <p:extLst>
      <p:ext uri="{BB962C8B-B14F-4D97-AF65-F5344CB8AC3E}">
        <p14:creationId xmlns:p14="http://schemas.microsoft.com/office/powerpoint/2010/main" val="3291013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10</a:t>
            </a:fld>
            <a:endParaRPr lang="en-US"/>
          </a:p>
        </p:txBody>
      </p:sp>
    </p:spTree>
    <p:extLst>
      <p:ext uri="{BB962C8B-B14F-4D97-AF65-F5344CB8AC3E}">
        <p14:creationId xmlns:p14="http://schemas.microsoft.com/office/powerpoint/2010/main" val="4250195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11</a:t>
            </a:fld>
            <a:endParaRPr lang="en-US"/>
          </a:p>
        </p:txBody>
      </p:sp>
    </p:spTree>
    <p:extLst>
      <p:ext uri="{BB962C8B-B14F-4D97-AF65-F5344CB8AC3E}">
        <p14:creationId xmlns:p14="http://schemas.microsoft.com/office/powerpoint/2010/main" val="23950364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8500487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8435" y="282298"/>
            <a:ext cx="9383339" cy="512401"/>
          </a:xfrm>
        </p:spPr>
        <p:txBody>
          <a:bodyPr>
            <a:noAutofit/>
          </a:bodyPr>
          <a:lstStyle>
            <a:lvl1pPr>
              <a:defRPr sz="3200" b="1">
                <a:solidFill>
                  <a:srgbClr val="FFFF00"/>
                </a:solidFill>
                <a:latin typeface="Segoe UI" panose="020B0502040204020203" pitchFamily="34" charset="0"/>
                <a:cs typeface="Segoe UI" panose="020B0502040204020203" pitchFamily="34" charset="0"/>
              </a:defRPr>
            </a:lvl1pPr>
          </a:lstStyle>
          <a:p>
            <a:r>
              <a:rPr lang="en-US" dirty="0"/>
              <a:t>Click to edit Master title style</a:t>
            </a:r>
            <a:endParaRPr lang="en-PH" dirty="0"/>
          </a:p>
        </p:txBody>
      </p:sp>
      <p:sp>
        <p:nvSpPr>
          <p:cNvPr id="3" name="Content Placeholder 2"/>
          <p:cNvSpPr>
            <a:spLocks noGrp="1"/>
          </p:cNvSpPr>
          <p:nvPr>
            <p:ph idx="1"/>
          </p:nvPr>
        </p:nvSpPr>
        <p:spPr>
          <a:xfrm>
            <a:off x="298154" y="1156700"/>
            <a:ext cx="10564182" cy="4556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9216650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6214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02573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8" name="Footer Placeholder 7"/>
          <p:cNvSpPr>
            <a:spLocks noGrp="1"/>
          </p:cNvSpPr>
          <p:nvPr>
            <p:ph type="ftr" sz="quarter" idx="11"/>
          </p:nvPr>
        </p:nvSpPr>
        <p:spPr/>
        <p:txBody>
          <a:bodyPr/>
          <a:lstStyle/>
          <a:p>
            <a:endParaRPr lang="en-PH">
              <a:solidFill>
                <a:prstClr val="black">
                  <a:tint val="75000"/>
                </a:prstClr>
              </a:solidFill>
            </a:endParaRPr>
          </a:p>
        </p:txBody>
      </p:sp>
      <p:sp>
        <p:nvSpPr>
          <p:cNvPr id="9" name="Slide Number Placeholder 8"/>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2050785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4" name="Footer Placeholder 3"/>
          <p:cNvSpPr>
            <a:spLocks noGrp="1"/>
          </p:cNvSpPr>
          <p:nvPr>
            <p:ph type="ftr" sz="quarter" idx="11"/>
          </p:nvPr>
        </p:nvSpPr>
        <p:spPr/>
        <p:txBody>
          <a:bodyPr/>
          <a:lstStyle/>
          <a:p>
            <a:endParaRPr lang="en-PH">
              <a:solidFill>
                <a:prstClr val="black">
                  <a:tint val="75000"/>
                </a:prstClr>
              </a:solidFill>
            </a:endParaRPr>
          </a:p>
        </p:txBody>
      </p:sp>
      <p:sp>
        <p:nvSpPr>
          <p:cNvPr id="5" name="Slide Number Placeholder 4"/>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0688756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5630454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984543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651308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04205280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8A35F-61D6-417E-8CA4-3FFFB03A1EF2}" type="datetimeFigureOut">
              <a:rPr lang="en-PH" smtClean="0">
                <a:solidFill>
                  <a:prstClr val="black">
                    <a:tint val="75000"/>
                  </a:prstClr>
                </a:solidFill>
              </a:rPr>
              <a:pPr/>
              <a:t>08/12/2023</a:t>
            </a:fld>
            <a:endParaRPr lang="en-PH">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36243867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4" r:id="rId7"/>
    <p:sldLayoutId id="2147483835" r:id="rId8"/>
    <p:sldLayoutId id="2147483836" r:id="rId9"/>
    <p:sldLayoutId id="2147483837" r:id="rId10"/>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284766" y="846685"/>
            <a:ext cx="6812006" cy="711200"/>
          </a:xfrm>
          <a:prstGeom prst="rect">
            <a:avLst/>
          </a:prstGeom>
          <a:noFill/>
          <a:ln>
            <a:noFill/>
          </a:ln>
        </p:spPr>
        <p:txBody>
          <a:bodyPr wrap="square" lIns="91425" tIns="45700" rIns="91425" bIns="45700" anchor="b" anchorCtr="0">
            <a:noAutofit/>
          </a:bodyPr>
          <a:lstStyle/>
          <a:p>
            <a:pPr lvl="0" indent="-203200" algn="l">
              <a:spcBef>
                <a:spcPts val="0"/>
              </a:spcBef>
              <a:buClr>
                <a:srgbClr val="FFFF00"/>
              </a:buClr>
              <a:buSzPct val="100000"/>
            </a:pPr>
            <a:r>
              <a:rPr lang="en-US" sz="4000" b="1" dirty="0">
                <a:solidFill>
                  <a:srgbClr val="FFFF00"/>
                </a:solidFill>
                <a:latin typeface="Segoe UI" panose="020B0502040204020203" pitchFamily="34" charset="0"/>
                <a:ea typeface="Arial"/>
                <a:cs typeface="Segoe UI" panose="020B0502040204020203" pitchFamily="34" charset="0"/>
                <a:sym typeface="Arial"/>
              </a:rPr>
              <a:t>APPLIANCE CONTROLLER</a:t>
            </a:r>
            <a:endParaRPr lang="en-PH" sz="4000" b="1" dirty="0">
              <a:solidFill>
                <a:srgbClr val="FFFF00"/>
              </a:solidFill>
              <a:latin typeface="Segoe UI" panose="020B0502040204020203" pitchFamily="34" charset="0"/>
              <a:ea typeface="Arial"/>
              <a:cs typeface="Segoe UI" panose="020B0502040204020203" pitchFamily="34" charset="0"/>
              <a:sym typeface="Arial"/>
            </a:endParaRPr>
          </a:p>
        </p:txBody>
      </p:sp>
      <p:sp>
        <p:nvSpPr>
          <p:cNvPr id="13" name="Shape 13"/>
          <p:cNvSpPr txBox="1">
            <a:spLocks noGrp="1"/>
          </p:cNvSpPr>
          <p:nvPr>
            <p:ph type="subTitle" idx="1"/>
          </p:nvPr>
        </p:nvSpPr>
        <p:spPr>
          <a:xfrm>
            <a:off x="284766" y="1557885"/>
            <a:ext cx="6034670" cy="1095521"/>
          </a:xfrm>
          <a:prstGeom prst="rect">
            <a:avLst/>
          </a:prstGeom>
          <a:noFill/>
          <a:ln>
            <a:noFill/>
          </a:ln>
        </p:spPr>
        <p:txBody>
          <a:bodyPr wrap="square" lIns="91425" tIns="45700" rIns="91425" bIns="45700" anchor="t" anchorCtr="0">
            <a:noAutofit/>
          </a:bodyPr>
          <a:lstStyle/>
          <a:p>
            <a:pPr lvl="0" indent="-127000" algn="l">
              <a:spcBef>
                <a:spcPts val="0"/>
              </a:spcBef>
              <a:buClr>
                <a:schemeClr val="lt1"/>
              </a:buClr>
              <a:buSzPct val="100000"/>
            </a:pPr>
            <a:r>
              <a:rPr lang="en-GB" sz="3200" b="1" dirty="0">
                <a:solidFill>
                  <a:schemeClr val="lt1"/>
                </a:solidFill>
                <a:latin typeface="Segoe UI" panose="020B0502040204020203" pitchFamily="34" charset="0"/>
                <a:ea typeface="Arial"/>
                <a:cs typeface="Segoe UI" panose="020B0502040204020203" pitchFamily="34" charset="0"/>
                <a:sym typeface="Arial"/>
              </a:rPr>
              <a:t>Experiment 4</a:t>
            </a:r>
          </a:p>
        </p:txBody>
      </p:sp>
      <p:sp>
        <p:nvSpPr>
          <p:cNvPr id="8" name="Text Placeholder 2">
            <a:extLst>
              <a:ext uri="{FF2B5EF4-FFF2-40B4-BE49-F238E27FC236}">
                <a16:creationId xmlns:a16="http://schemas.microsoft.com/office/drawing/2014/main" id="{BB0E7A66-65F8-4D09-A464-3721AFFC3633}"/>
              </a:ext>
            </a:extLst>
          </p:cNvPr>
          <p:cNvSpPr txBox="1">
            <a:spLocks/>
          </p:cNvSpPr>
          <p:nvPr/>
        </p:nvSpPr>
        <p:spPr>
          <a:xfrm>
            <a:off x="147702" y="5904349"/>
            <a:ext cx="6949070" cy="770513"/>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Computer Engineering Department</a:t>
            </a:r>
          </a:p>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School of Electrical, Electronics, and Computer Engineering</a:t>
            </a:r>
          </a:p>
        </p:txBody>
      </p:sp>
      <p:pic>
        <p:nvPicPr>
          <p:cNvPr id="3" name="Picture 2" descr="A picture containing object, measure, clock, cup&#10;&#10;Description automatically generated">
            <a:extLst>
              <a:ext uri="{FF2B5EF4-FFF2-40B4-BE49-F238E27FC236}">
                <a16:creationId xmlns:a16="http://schemas.microsoft.com/office/drawing/2014/main" id="{93681FFB-7892-473D-BA03-7308FEE223ED}"/>
              </a:ext>
            </a:extLst>
          </p:cNvPr>
          <p:cNvPicPr>
            <a:picLocks noChangeAspect="1"/>
          </p:cNvPicPr>
          <p:nvPr/>
        </p:nvPicPr>
        <p:blipFill>
          <a:blip r:embed="rId4"/>
          <a:stretch>
            <a:fillRect/>
          </a:stretch>
        </p:blipFill>
        <p:spPr>
          <a:xfrm>
            <a:off x="10017600" y="2834255"/>
            <a:ext cx="1531272" cy="1531272"/>
          </a:xfrm>
          <a:prstGeom prst="rect">
            <a:avLst/>
          </a:prstGeom>
        </p:spPr>
      </p:pic>
      <p:sp>
        <p:nvSpPr>
          <p:cNvPr id="6" name="Text Placeholder 2">
            <a:extLst>
              <a:ext uri="{FF2B5EF4-FFF2-40B4-BE49-F238E27FC236}">
                <a16:creationId xmlns:a16="http://schemas.microsoft.com/office/drawing/2014/main" id="{DE44DF05-07A0-4892-8981-CB6440644483}"/>
              </a:ext>
            </a:extLst>
          </p:cNvPr>
          <p:cNvSpPr txBox="1">
            <a:spLocks/>
          </p:cNvSpPr>
          <p:nvPr/>
        </p:nvSpPr>
        <p:spPr>
          <a:xfrm>
            <a:off x="284766" y="3741893"/>
            <a:ext cx="4191731" cy="1382244"/>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Raphael S. Nano</a:t>
            </a:r>
          </a:p>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CPE161P / A1</a:t>
            </a:r>
          </a:p>
        </p:txBody>
      </p:sp>
    </p:spTree>
    <p:extLst>
      <p:ext uri="{BB962C8B-B14F-4D97-AF65-F5344CB8AC3E}">
        <p14:creationId xmlns:p14="http://schemas.microsoft.com/office/powerpoint/2010/main" val="189877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123648" cy="512401"/>
          </a:xfrm>
        </p:spPr>
        <p:txBody>
          <a:bodyPr/>
          <a:lstStyle/>
          <a:p>
            <a:r>
              <a:rPr lang="en-US" dirty="0"/>
              <a:t>Introduction: Appliance Controller</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t> Appliance controllers highlight a wide variety of features</a:t>
            </a:r>
          </a:p>
          <a:p>
            <a:pPr algn="just">
              <a:buFont typeface="Wingdings" panose="05000000000000000000" pitchFamily="2" charset="2"/>
              <a:buChar char="Ø"/>
            </a:pPr>
            <a:r>
              <a:rPr lang="en-US" dirty="0"/>
              <a:t> They augment convenience, along with their ability to promote cost-effectiveness and energy efficiency</a:t>
            </a:r>
          </a:p>
          <a:p>
            <a:pPr algn="just">
              <a:buFont typeface="Wingdings" panose="05000000000000000000" pitchFamily="2" charset="2"/>
              <a:buChar char="Ø"/>
            </a:pPr>
            <a:r>
              <a:rPr lang="en-US" dirty="0"/>
              <a:t>it is important to highlight the capabilities of an appliance controller and their processes of construction in order to further develop its functionality</a:t>
            </a:r>
            <a:endParaRPr lang="en-PH" dirty="0"/>
          </a:p>
        </p:txBody>
      </p:sp>
    </p:spTree>
    <p:extLst>
      <p:ext uri="{BB962C8B-B14F-4D97-AF65-F5344CB8AC3E}">
        <p14:creationId xmlns:p14="http://schemas.microsoft.com/office/powerpoint/2010/main" val="1438935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6651-8300-9B1E-D82E-D9BDEDD2C7B5}"/>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024FD49A-96B4-5E3D-262C-6DE9E8C540E0}"/>
              </a:ext>
            </a:extLst>
          </p:cNvPr>
          <p:cNvSpPr>
            <a:spLocks noGrp="1"/>
          </p:cNvSpPr>
          <p:nvPr>
            <p:ph idx="1"/>
          </p:nvPr>
        </p:nvSpPr>
        <p:spPr>
          <a:xfrm>
            <a:off x="298153" y="1156700"/>
            <a:ext cx="11528661" cy="4556765"/>
          </a:xfrm>
        </p:spPr>
        <p:txBody>
          <a:bodyPr>
            <a:normAutofit/>
          </a:bodyPr>
          <a:lstStyle/>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demonstrate how an appliance controller works in real-time.</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apply what you have learned in logic circuits and switching theory, microprocessors, and CPE160P.</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apply real-time embedded systems using the </a:t>
            </a:r>
            <a:r>
              <a:rPr lang="en-US" sz="2400" dirty="0">
                <a:solidFill>
                  <a:srgbClr val="262626"/>
                </a:solidFill>
                <a:latin typeface="Open Sans" panose="020B0606030504020204" pitchFamily="34" charset="0"/>
                <a:ea typeface="Times New Roman" panose="02020603050405020304" pitchFamily="18" charset="0"/>
              </a:rPr>
              <a:t>A</a:t>
            </a:r>
            <a:r>
              <a:rPr lang="en-US" sz="2400" dirty="0">
                <a:solidFill>
                  <a:srgbClr val="262626"/>
                </a:solidFill>
                <a:effectLst/>
                <a:latin typeface="Open Sans" panose="020B0606030504020204" pitchFamily="34" charset="0"/>
                <a:ea typeface="Times New Roman" panose="02020603050405020304" pitchFamily="18" charset="0"/>
              </a:rPr>
              <a:t>rduino kit.</a:t>
            </a:r>
            <a:endParaRPr lang="en-PH" sz="3600" dirty="0"/>
          </a:p>
        </p:txBody>
      </p:sp>
    </p:spTree>
    <p:extLst>
      <p:ext uri="{BB962C8B-B14F-4D97-AF65-F5344CB8AC3E}">
        <p14:creationId xmlns:p14="http://schemas.microsoft.com/office/powerpoint/2010/main" val="3318308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Hardware</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a:solidFill>
                  <a:srgbClr val="262626"/>
                </a:solidFill>
                <a:effectLst/>
                <a:latin typeface="Open Sans" panose="020B0606030504020204" pitchFamily="34" charset="0"/>
                <a:ea typeface="Open Sans" panose="020B0606030504020204" pitchFamily="34" charset="0"/>
                <a:cs typeface="Open Sans" panose="020B0606030504020204" pitchFamily="34" charset="0"/>
              </a:rPr>
              <a:t>Arduino Uno</a:t>
            </a:r>
          </a:p>
          <a:p>
            <a:pPr>
              <a:buFont typeface="Wingdings" panose="05000000000000000000" pitchFamily="2" charset="2"/>
              <a:buChar char="Ø"/>
            </a:pPr>
            <a:r>
              <a:rPr lang="en-PH" sz="2400" dirty="0">
                <a:solidFill>
                  <a:srgbClr val="262626"/>
                </a:solidFill>
                <a:latin typeface="Open Sans" panose="020B0606030504020204" pitchFamily="34" charset="0"/>
                <a:ea typeface="Open Sans" panose="020B0606030504020204" pitchFamily="34" charset="0"/>
                <a:cs typeface="Open Sans" panose="020B0606030504020204" pitchFamily="34" charset="0"/>
              </a:rPr>
              <a:t> Infrared Remote</a:t>
            </a:r>
          </a:p>
          <a:p>
            <a:pPr>
              <a:buFont typeface="Wingdings" panose="05000000000000000000" pitchFamily="2" charset="2"/>
              <a:buChar char="Ø"/>
            </a:pPr>
            <a:r>
              <a:rPr lang="en-PH" sz="2400" dirty="0">
                <a:solidFill>
                  <a:srgbClr val="262626"/>
                </a:solidFill>
                <a:latin typeface="Open Sans" panose="020B0606030504020204" pitchFamily="34" charset="0"/>
                <a:ea typeface="Open Sans" panose="020B0606030504020204" pitchFamily="34" charset="0"/>
                <a:cs typeface="Open Sans" panose="020B0606030504020204" pitchFamily="34" charset="0"/>
              </a:rPr>
              <a:t> TSOP1838 IR receiver sensor</a:t>
            </a:r>
          </a:p>
          <a:p>
            <a:pPr>
              <a:buFont typeface="Wingdings" panose="05000000000000000000" pitchFamily="2" charset="2"/>
              <a:buChar char="Ø"/>
            </a:pPr>
            <a:r>
              <a:rPr lang="en-PH" sz="2400" dirty="0">
                <a:latin typeface="Open Sans" panose="020B0606030504020204" pitchFamily="34" charset="0"/>
                <a:ea typeface="Open Sans" panose="020B0606030504020204" pitchFamily="34" charset="0"/>
                <a:cs typeface="Open Sans" panose="020B0606030504020204" pitchFamily="34" charset="0"/>
              </a:rPr>
              <a:t> 28BYJ-48 stepper motor</a:t>
            </a:r>
          </a:p>
          <a:p>
            <a:pPr>
              <a:buFont typeface="Wingdings" panose="05000000000000000000" pitchFamily="2" charset="2"/>
              <a:buChar char="Ø"/>
            </a:pPr>
            <a:r>
              <a:rPr lang="en-PH" sz="2400" dirty="0">
                <a:latin typeface="Open Sans" panose="020B0606030504020204" pitchFamily="34" charset="0"/>
                <a:ea typeface="Open Sans" panose="020B0606030504020204" pitchFamily="34" charset="0"/>
                <a:cs typeface="Open Sans" panose="020B0606030504020204" pitchFamily="34" charset="0"/>
              </a:rPr>
              <a:t> SG90 servo motor</a:t>
            </a:r>
          </a:p>
          <a:p>
            <a:pPr>
              <a:buFont typeface="Wingdings" panose="05000000000000000000" pitchFamily="2" charset="2"/>
              <a:buChar char="Ø"/>
            </a:pPr>
            <a:r>
              <a:rPr lang="en-PH" sz="2400" dirty="0">
                <a:latin typeface="Open Sans" panose="020B0606030504020204" pitchFamily="34" charset="0"/>
                <a:ea typeface="Open Sans" panose="020B0606030504020204" pitchFamily="34" charset="0"/>
                <a:cs typeface="Open Sans" panose="020B0606030504020204" pitchFamily="34" charset="0"/>
              </a:rPr>
              <a:t> Passive buzzer</a:t>
            </a:r>
          </a:p>
          <a:p>
            <a:pPr>
              <a:buFont typeface="Wingdings" panose="05000000000000000000" pitchFamily="2" charset="2"/>
              <a:buChar char="Ø"/>
            </a:pPr>
            <a:r>
              <a:rPr lang="en-PH" sz="2400" dirty="0">
                <a:latin typeface="Open Sans" panose="020B0606030504020204" pitchFamily="34" charset="0"/>
                <a:ea typeface="Open Sans" panose="020B0606030504020204" pitchFamily="34" charset="0"/>
                <a:cs typeface="Open Sans" panose="020B0606030504020204" pitchFamily="34" charset="0"/>
              </a:rPr>
              <a:t> 3 LEDs</a:t>
            </a:r>
          </a:p>
        </p:txBody>
      </p:sp>
      <p:pic>
        <p:nvPicPr>
          <p:cNvPr id="5" name="Picture 4">
            <a:extLst>
              <a:ext uri="{FF2B5EF4-FFF2-40B4-BE49-F238E27FC236}">
                <a16:creationId xmlns:a16="http://schemas.microsoft.com/office/drawing/2014/main" id="{3069FF89-F6DC-4C55-DCFE-F7F69C1D0BEE}"/>
              </a:ext>
            </a:extLst>
          </p:cNvPr>
          <p:cNvPicPr>
            <a:picLocks noChangeAspect="1"/>
          </p:cNvPicPr>
          <p:nvPr/>
        </p:nvPicPr>
        <p:blipFill>
          <a:blip r:embed="rId3">
            <a:extLst>
              <a:ext uri="{28A0092B-C50C-407E-A947-70E740481C1C}">
                <a14:useLocalDpi xmlns:a14="http://schemas.microsoft.com/office/drawing/2010/main" val="0"/>
              </a:ext>
            </a:extLst>
          </a:blip>
          <a:srcRect l="3071" r="3071"/>
          <a:stretch/>
        </p:blipFill>
        <p:spPr>
          <a:xfrm>
            <a:off x="4930219" y="1503575"/>
            <a:ext cx="6410227" cy="3850850"/>
          </a:xfrm>
          <a:prstGeom prst="rect">
            <a:avLst/>
          </a:prstGeom>
        </p:spPr>
      </p:pic>
    </p:spTree>
    <p:extLst>
      <p:ext uri="{BB962C8B-B14F-4D97-AF65-F5344CB8AC3E}">
        <p14:creationId xmlns:p14="http://schemas.microsoft.com/office/powerpoint/2010/main" val="99400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Software Libraries</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IRremote.h</a:t>
            </a: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Stepper.h</a:t>
            </a: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Servo.h</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PH" dirty="0"/>
          </a:p>
        </p:txBody>
      </p:sp>
      <p:pic>
        <p:nvPicPr>
          <p:cNvPr id="5" name="Picture 4">
            <a:extLst>
              <a:ext uri="{FF2B5EF4-FFF2-40B4-BE49-F238E27FC236}">
                <a16:creationId xmlns:a16="http://schemas.microsoft.com/office/drawing/2014/main" id="{5508B0CE-E4C5-494E-1379-CD9ED3455E3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431513" y="2755393"/>
            <a:ext cx="4553372" cy="1347213"/>
          </a:xfrm>
          <a:prstGeom prst="rect">
            <a:avLst/>
          </a:prstGeom>
        </p:spPr>
      </p:pic>
    </p:spTree>
    <p:extLst>
      <p:ext uri="{BB962C8B-B14F-4D97-AF65-F5344CB8AC3E}">
        <p14:creationId xmlns:p14="http://schemas.microsoft.com/office/powerpoint/2010/main" val="4214434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Appliance Controller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6" y="1186177"/>
            <a:ext cx="6781667" cy="508522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IR remote will be used as the controller, wherein it includes the control to every appliance (e.g., stepper motor, servo motor, buzzer, LEDs). </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operations simply turns the appliance ON and OFF with the use of the numbers on the remote and the pause/play button.</a:t>
            </a:r>
          </a:p>
        </p:txBody>
      </p:sp>
      <p:pic>
        <p:nvPicPr>
          <p:cNvPr id="5" name="Picture 4">
            <a:extLst>
              <a:ext uri="{FF2B5EF4-FFF2-40B4-BE49-F238E27FC236}">
                <a16:creationId xmlns:a16="http://schemas.microsoft.com/office/drawing/2014/main" id="{D962B410-FD9E-B2E0-7978-B77892E88A82}"/>
              </a:ext>
            </a:extLst>
          </p:cNvPr>
          <p:cNvPicPr>
            <a:picLocks noChangeAspect="1"/>
          </p:cNvPicPr>
          <p:nvPr/>
        </p:nvPicPr>
        <p:blipFill rotWithShape="1">
          <a:blip r:embed="rId3">
            <a:extLst>
              <a:ext uri="{28A0092B-C50C-407E-A947-70E740481C1C}">
                <a14:useLocalDpi xmlns:a14="http://schemas.microsoft.com/office/drawing/2010/main" val="0"/>
              </a:ext>
            </a:extLst>
          </a:blip>
          <a:srcRect l="5464" r="5464"/>
          <a:stretch/>
        </p:blipFill>
        <p:spPr>
          <a:xfrm>
            <a:off x="7284812" y="1803163"/>
            <a:ext cx="4344505" cy="3251674"/>
          </a:xfrm>
          <a:prstGeom prst="rect">
            <a:avLst/>
          </a:prstGeom>
        </p:spPr>
      </p:pic>
    </p:spTree>
    <p:extLst>
      <p:ext uri="{BB962C8B-B14F-4D97-AF65-F5344CB8AC3E}">
        <p14:creationId xmlns:p14="http://schemas.microsoft.com/office/powerpoint/2010/main" val="4219391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Appliance Controller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065229"/>
            <a:ext cx="6249382" cy="5156462"/>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switch case inside a remote() function was utilized to determine the value of the button pressed in the remote</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0 : 22</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1: 12</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2: 24</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3: 94</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4 : 8</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5 : 28</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Pause/Play : 67</a:t>
            </a:r>
          </a:p>
        </p:txBody>
      </p:sp>
      <p:pic>
        <p:nvPicPr>
          <p:cNvPr id="6" name="Picture 5">
            <a:extLst>
              <a:ext uri="{FF2B5EF4-FFF2-40B4-BE49-F238E27FC236}">
                <a16:creationId xmlns:a16="http://schemas.microsoft.com/office/drawing/2014/main" id="{6B4EEC83-93A7-B4C2-028A-02014699D5BA}"/>
              </a:ext>
            </a:extLst>
          </p:cNvPr>
          <p:cNvPicPr>
            <a:picLocks noChangeAspect="1"/>
          </p:cNvPicPr>
          <p:nvPr/>
        </p:nvPicPr>
        <p:blipFill>
          <a:blip r:embed="rId3"/>
          <a:stretch>
            <a:fillRect/>
          </a:stretch>
        </p:blipFill>
        <p:spPr>
          <a:xfrm>
            <a:off x="7843219" y="1181811"/>
            <a:ext cx="3657110" cy="4909158"/>
          </a:xfrm>
          <a:prstGeom prst="rect">
            <a:avLst/>
          </a:prstGeom>
        </p:spPr>
      </p:pic>
    </p:spTree>
    <p:extLst>
      <p:ext uri="{BB962C8B-B14F-4D97-AF65-F5344CB8AC3E}">
        <p14:creationId xmlns:p14="http://schemas.microsoft.com/office/powerpoint/2010/main" val="2726006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
                                        <p:tgtEl>
                                          <p:spTgt spid="3">
                                            <p:txEl>
                                              <p:pRg st="1" end="1"/>
                                            </p:txEl>
                                          </p:spTgt>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
                                        <p:tgtEl>
                                          <p:spTgt spid="3">
                                            <p:txEl>
                                              <p:pRg st="2" end="2"/>
                                            </p:txEl>
                                          </p:spTgt>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00"/>
                                        <p:tgtEl>
                                          <p:spTgt spid="3">
                                            <p:txEl>
                                              <p:pRg st="3" end="3"/>
                                            </p:txEl>
                                          </p:spTgt>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
                                        <p:tgtEl>
                                          <p:spTgt spid="3">
                                            <p:txEl>
                                              <p:pRg st="4" end="4"/>
                                            </p:txEl>
                                          </p:spTgt>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
                                        <p:tgtEl>
                                          <p:spTgt spid="3">
                                            <p:txEl>
                                              <p:pRg st="5" end="5"/>
                                            </p:txEl>
                                          </p:spTgt>
                                        </p:tgtEl>
                                      </p:cBhvr>
                                    </p:animEffect>
                                  </p:childTnLst>
                                </p:cTn>
                              </p:par>
                            </p:childTnLst>
                          </p:cTn>
                        </p:par>
                        <p:par>
                          <p:cTn id="28" fill="hold">
                            <p:stCondLst>
                              <p:cond delay="1200"/>
                            </p:stCondLst>
                            <p:childTnLst>
                              <p:par>
                                <p:cTn id="29" presetID="10" presetClass="entr" presetSubtype="0"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200"/>
                                        <p:tgtEl>
                                          <p:spTgt spid="3">
                                            <p:txEl>
                                              <p:pRg st="6" end="6"/>
                                            </p:txEl>
                                          </p:spTgt>
                                        </p:tgtEl>
                                      </p:cBhvr>
                                    </p:animEffect>
                                  </p:childTnLst>
                                </p:cTn>
                              </p:par>
                            </p:childTnLst>
                          </p:cTn>
                        </p:par>
                        <p:par>
                          <p:cTn id="32" fill="hold">
                            <p:stCondLst>
                              <p:cond delay="1400"/>
                            </p:stCondLst>
                            <p:childTnLst>
                              <p:par>
                                <p:cTn id="33" presetID="10" presetClass="entr" presetSubtype="0"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2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Appliance Controller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244339"/>
            <a:ext cx="6249382" cy="4651868"/>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1 is assigned to the stepper motor : stepper motor continuously rotates </a:t>
            </a:r>
          </a:p>
          <a:p>
            <a:pPr marL="0" indent="0" algn="just">
              <a:spcAft>
                <a:spcPts val="600"/>
              </a:spcAf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2 is assigned to the servo motor :  it writes 180 degrees and 0 degrees every after 500 </a:t>
            </a:r>
            <a:r>
              <a:rPr lang="en-US" sz="2400" dirty="0" err="1">
                <a:latin typeface="Open Sans" panose="020B0606030504020204" pitchFamily="34" charset="0"/>
                <a:ea typeface="Open Sans" panose="020B0606030504020204" pitchFamily="34" charset="0"/>
                <a:cs typeface="Open Sans" panose="020B0606030504020204" pitchFamily="34" charset="0"/>
              </a:rPr>
              <a:t>ms</a:t>
            </a:r>
            <a:endParaRPr lang="en-US" sz="2400" dirty="0">
              <a:latin typeface="Open Sans" panose="020B0606030504020204" pitchFamily="34" charset="0"/>
              <a:ea typeface="Open Sans" panose="020B0606030504020204" pitchFamily="34" charset="0"/>
              <a:cs typeface="Open Sans" panose="020B0606030504020204" pitchFamily="34" charset="0"/>
            </a:endParaRPr>
          </a:p>
          <a:p>
            <a:pPr marL="0" indent="0" algn="just">
              <a:spcAft>
                <a:spcPts val="600"/>
              </a:spcAf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3 is assigned to the passive buzzer : a separate </a:t>
            </a:r>
            <a:r>
              <a:rPr lang="en-US" sz="2400" dirty="0" err="1">
                <a:latin typeface="Open Sans" panose="020B0606030504020204" pitchFamily="34" charset="0"/>
                <a:ea typeface="Open Sans" panose="020B0606030504020204" pitchFamily="34" charset="0"/>
                <a:cs typeface="Open Sans" panose="020B0606030504020204" pitchFamily="34" charset="0"/>
              </a:rPr>
              <a:t>playTone</a:t>
            </a:r>
            <a:r>
              <a:rPr lang="en-US" sz="2400" dirty="0">
                <a:latin typeface="Open Sans" panose="020B0606030504020204" pitchFamily="34" charset="0"/>
                <a:ea typeface="Open Sans" panose="020B0606030504020204" pitchFamily="34" charset="0"/>
                <a:cs typeface="Open Sans" panose="020B0606030504020204" pitchFamily="34" charset="0"/>
              </a:rPr>
              <a:t>() function is created</a:t>
            </a:r>
          </a:p>
        </p:txBody>
      </p:sp>
      <p:pic>
        <p:nvPicPr>
          <p:cNvPr id="4" name="Picture 3">
            <a:extLst>
              <a:ext uri="{FF2B5EF4-FFF2-40B4-BE49-F238E27FC236}">
                <a16:creationId xmlns:a16="http://schemas.microsoft.com/office/drawing/2014/main" id="{8F9E9DF0-4EDE-9EEE-8AFB-C8B73C8599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4119" y="1244339"/>
            <a:ext cx="3115310" cy="1181100"/>
          </a:xfrm>
          <a:prstGeom prst="rect">
            <a:avLst/>
          </a:prstGeom>
        </p:spPr>
      </p:pic>
      <p:pic>
        <p:nvPicPr>
          <p:cNvPr id="5" name="Picture 4">
            <a:extLst>
              <a:ext uri="{FF2B5EF4-FFF2-40B4-BE49-F238E27FC236}">
                <a16:creationId xmlns:a16="http://schemas.microsoft.com/office/drawing/2014/main" id="{3C1D9339-29C8-D45D-C576-CF7DE6A8B7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6546" y="2551119"/>
            <a:ext cx="2370455" cy="1510665"/>
          </a:xfrm>
          <a:prstGeom prst="rect">
            <a:avLst/>
          </a:prstGeom>
        </p:spPr>
      </p:pic>
      <p:pic>
        <p:nvPicPr>
          <p:cNvPr id="7" name="Picture 6">
            <a:extLst>
              <a:ext uri="{FF2B5EF4-FFF2-40B4-BE49-F238E27FC236}">
                <a16:creationId xmlns:a16="http://schemas.microsoft.com/office/drawing/2014/main" id="{714430AE-5AFE-CEC8-8C0E-AFAB085DD5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45245" y="4187464"/>
            <a:ext cx="2853055" cy="1134110"/>
          </a:xfrm>
          <a:prstGeom prst="rect">
            <a:avLst/>
          </a:prstGeom>
        </p:spPr>
      </p:pic>
    </p:spTree>
    <p:extLst>
      <p:ext uri="{BB962C8B-B14F-4D97-AF65-F5344CB8AC3E}">
        <p14:creationId xmlns:p14="http://schemas.microsoft.com/office/powerpoint/2010/main" val="17899330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200"/>
                                        <p:tgtEl>
                                          <p:spTgt spid="3">
                                            <p:txEl>
                                              <p:pRg st="2" end="2"/>
                                            </p:txEl>
                                          </p:spTgt>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2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Appliance Controller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2111604"/>
            <a:ext cx="6249382" cy="3836709"/>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For passive buzzer, frequency was controlled and duration was specified</a:t>
            </a:r>
          </a:p>
          <a:p>
            <a:pPr marL="0" indent="0" algn="just">
              <a:spcAft>
                <a:spcPts val="600"/>
              </a:spcAf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Pin is triggered HIGH and LOW in order to turn it ON and OFF, respectively</a:t>
            </a:r>
          </a:p>
        </p:txBody>
      </p:sp>
      <p:pic>
        <p:nvPicPr>
          <p:cNvPr id="4" name="Picture 3">
            <a:extLst>
              <a:ext uri="{FF2B5EF4-FFF2-40B4-BE49-F238E27FC236}">
                <a16:creationId xmlns:a16="http://schemas.microsoft.com/office/drawing/2014/main" id="{19556D5F-AA9F-76E2-1208-EF2967BB1D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3963" y="2750185"/>
            <a:ext cx="4486910" cy="1357630"/>
          </a:xfrm>
          <a:prstGeom prst="rect">
            <a:avLst/>
          </a:prstGeom>
        </p:spPr>
      </p:pic>
    </p:spTree>
    <p:extLst>
      <p:ext uri="{BB962C8B-B14F-4D97-AF65-F5344CB8AC3E}">
        <p14:creationId xmlns:p14="http://schemas.microsoft.com/office/powerpoint/2010/main" val="2704762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2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Appliance Controller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244339"/>
            <a:ext cx="6249382" cy="4651868"/>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 pattern of lights turn ON through a process of 1-2-3, ALL-ALL, 3-2-1. </a:t>
            </a:r>
          </a:p>
          <a:p>
            <a:pPr algn="just">
              <a:spcAft>
                <a:spcPts val="600"/>
              </a:spcAft>
              <a:buFont typeface="Wingdings" panose="05000000000000000000" pitchFamily="2" charset="2"/>
              <a:buChar char="Ø"/>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It is assigned to button 4.</a:t>
            </a:r>
          </a:p>
        </p:txBody>
      </p:sp>
      <p:pic>
        <p:nvPicPr>
          <p:cNvPr id="6" name="Picture 5">
            <a:extLst>
              <a:ext uri="{FF2B5EF4-FFF2-40B4-BE49-F238E27FC236}">
                <a16:creationId xmlns:a16="http://schemas.microsoft.com/office/drawing/2014/main" id="{3DECB576-4563-EF4F-A23E-CFD2C530C2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37819" y="1392147"/>
            <a:ext cx="2633499" cy="4073706"/>
          </a:xfrm>
          <a:prstGeom prst="rect">
            <a:avLst/>
          </a:prstGeom>
          <a:noFill/>
        </p:spPr>
      </p:pic>
      <p:pic>
        <p:nvPicPr>
          <p:cNvPr id="8" name="Picture 7">
            <a:extLst>
              <a:ext uri="{FF2B5EF4-FFF2-40B4-BE49-F238E27FC236}">
                <a16:creationId xmlns:a16="http://schemas.microsoft.com/office/drawing/2014/main" id="{F5F185D7-CC5B-4F93-2A75-4D5B4F4343B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332536" y="1390653"/>
            <a:ext cx="2662760" cy="4075200"/>
          </a:xfrm>
          <a:prstGeom prst="rect">
            <a:avLst/>
          </a:prstGeom>
          <a:noFill/>
        </p:spPr>
      </p:pic>
    </p:spTree>
    <p:extLst>
      <p:ext uri="{BB962C8B-B14F-4D97-AF65-F5344CB8AC3E}">
        <p14:creationId xmlns:p14="http://schemas.microsoft.com/office/powerpoint/2010/main" val="8213332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2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Appliance Controller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880465"/>
            <a:ext cx="6249382" cy="4015741"/>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To activate all, the loop simply contains a repeat of all of the codes utilized for each of the components</a:t>
            </a:r>
          </a:p>
          <a:p>
            <a:pPr marL="0" indent="0" algn="just">
              <a:spcAft>
                <a:spcPts val="600"/>
              </a:spcAf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5 is assigned to the activation of all the components at once</a:t>
            </a:r>
          </a:p>
        </p:txBody>
      </p:sp>
      <p:pic>
        <p:nvPicPr>
          <p:cNvPr id="4" name="Picture 3">
            <a:extLst>
              <a:ext uri="{FF2B5EF4-FFF2-40B4-BE49-F238E27FC236}">
                <a16:creationId xmlns:a16="http://schemas.microsoft.com/office/drawing/2014/main" id="{A1B041DF-61D2-2459-D0AF-228EB0B564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9306" y="1421130"/>
            <a:ext cx="3093720" cy="4015740"/>
          </a:xfrm>
          <a:prstGeom prst="rect">
            <a:avLst/>
          </a:prstGeom>
        </p:spPr>
      </p:pic>
    </p:spTree>
    <p:extLst>
      <p:ext uri="{BB962C8B-B14F-4D97-AF65-F5344CB8AC3E}">
        <p14:creationId xmlns:p14="http://schemas.microsoft.com/office/powerpoint/2010/main" val="30480858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2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marL="0" indent="0" algn="just">
              <a:spcAft>
                <a:spcPts val="1200"/>
              </a:spcAft>
              <a:buNone/>
            </a:pPr>
            <a:r>
              <a:rPr lang="en-US" dirty="0">
                <a:latin typeface="Open Sans" panose="020B0606030504020204" pitchFamily="34" charset="0"/>
                <a:ea typeface="Open Sans" panose="020B0606030504020204" pitchFamily="34" charset="0"/>
                <a:cs typeface="Open Sans" panose="020B0606030504020204" pitchFamily="34" charset="0"/>
              </a:rPr>
              <a:t>The appliance controller works by:</a:t>
            </a:r>
          </a:p>
          <a:p>
            <a:pPr lvl="1" algn="just">
              <a:spcAft>
                <a:spcPts val="1200"/>
              </a:spcAf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the use of buttons 1 - 4 for stepper motor, servo motor, buzzer, and LEDs, respectively</a:t>
            </a:r>
          </a:p>
          <a:p>
            <a:pPr lvl="1" algn="just">
              <a:spcAft>
                <a:spcPts val="1200"/>
              </a:spcAf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each component can be stopped or reset using the pause/play button</a:t>
            </a:r>
          </a:p>
          <a:p>
            <a:pPr lvl="1" algn="just">
              <a:spcAft>
                <a:spcPts val="1200"/>
              </a:spcAf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all of them will activate at once using button 5 as the trigger</a:t>
            </a:r>
            <a:endParaRPr lang="en-PH"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64585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
                                        <p:tgtEl>
                                          <p:spTgt spid="3">
                                            <p:txEl>
                                              <p:pRg st="1" end="1"/>
                                            </p:txEl>
                                          </p:spTgt>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
                                        <p:tgtEl>
                                          <p:spTgt spid="3">
                                            <p:txEl>
                                              <p:pRg st="2" end="2"/>
                                            </p:txEl>
                                          </p:spTgt>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algn="just">
              <a:spcAft>
                <a:spcPts val="1200"/>
              </a:spcAft>
              <a:buFont typeface="Wingdings" panose="05000000000000000000" pitchFamily="2" charset="2"/>
              <a:buChar char="Ø"/>
            </a:pPr>
            <a:r>
              <a:rPr lang="en-US" dirty="0"/>
              <a:t> The usage of microprocessors, logic circuits, and switching theory, as well as the lessons in CPE160P, was shown utilizing the connections of, motors, buzzers, and output activation, as the second aim was met</a:t>
            </a:r>
          </a:p>
          <a:p>
            <a:pPr algn="just">
              <a:spcAft>
                <a:spcPts val="1200"/>
              </a:spcAft>
              <a:buFont typeface="Wingdings" panose="05000000000000000000" pitchFamily="2" charset="2"/>
              <a:buChar char="Ø"/>
            </a:pPr>
            <a:r>
              <a:rPr lang="en-US" dirty="0"/>
              <a:t> The appliance controller was successfully built using the Arduino kit and demonstrated in a basic handshaking by employing various variables, modules, and invoking such functions to develop an embedded system.</a:t>
            </a:r>
            <a:endParaRPr lang="en-PH" dirty="0"/>
          </a:p>
          <a:p>
            <a:pPr algn="just">
              <a:spcAft>
                <a:spcPts val="1200"/>
              </a:spcAft>
              <a:buFont typeface="Wingdings" panose="05000000000000000000" pitchFamily="2" charset="2"/>
              <a:buChar char="Ø"/>
            </a:pPr>
            <a:endParaRPr lang="en-PH" dirty="0"/>
          </a:p>
        </p:txBody>
      </p:sp>
    </p:spTree>
    <p:extLst>
      <p:ext uri="{BB962C8B-B14F-4D97-AF65-F5344CB8AC3E}">
        <p14:creationId xmlns:p14="http://schemas.microsoft.com/office/powerpoint/2010/main" val="2166552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90711d2-37bb-4b26-8b23-51c02972fe26">
      <UserInfo>
        <DisplayName/>
        <AccountId xsi:nil="true"/>
        <AccountType/>
      </UserInfo>
    </SharedWithUsers>
    <lcf76f155ced4ddcb4097134ff3c332f xmlns="1ea434b8-4dc5-44f7-bb31-0866ee440822">
      <Terms xmlns="http://schemas.microsoft.com/office/infopath/2007/PartnerControls"/>
    </lcf76f155ced4ddcb4097134ff3c332f>
    <TaxCatchAll xmlns="d90711d2-37bb-4b26-8b23-51c02972fe2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045B03F0E29F341B8FA8A02C69678F2" ma:contentTypeVersion="16" ma:contentTypeDescription="Create a new document." ma:contentTypeScope="" ma:versionID="573093756d776e3dbf04c8eb240bd85a">
  <xsd:schema xmlns:xsd="http://www.w3.org/2001/XMLSchema" xmlns:xs="http://www.w3.org/2001/XMLSchema" xmlns:p="http://schemas.microsoft.com/office/2006/metadata/properties" xmlns:ns2="1ea434b8-4dc5-44f7-bb31-0866ee440822" xmlns:ns3="d90711d2-37bb-4b26-8b23-51c02972fe26" targetNamespace="http://schemas.microsoft.com/office/2006/metadata/properties" ma:root="true" ma:fieldsID="00a48d9f954b4b23e62df43abd264511" ns2:_="" ns3:_="">
    <xsd:import namespace="1ea434b8-4dc5-44f7-bb31-0866ee440822"/>
    <xsd:import namespace="d90711d2-37bb-4b26-8b23-51c02972fe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434b8-4dc5-44f7-bb31-0866ee440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08379bb-b442-46b3-b8c0-8817e2eba01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0711d2-37bb-4b26-8b23-51c02972fe2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5686e5-f3f9-4684-9809-4e223b1b0fd7}" ma:internalName="TaxCatchAll" ma:showField="CatchAllData" ma:web="d90711d2-37bb-4b26-8b23-51c02972fe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FBD36D-DAE8-46CB-B778-7C1B43AD43BF}">
  <ds:schemaRefs>
    <ds:schemaRef ds:uri="http://purl.org/dc/terms/"/>
    <ds:schemaRef ds:uri="http://schemas.microsoft.com/office/2006/documentManagement/types"/>
    <ds:schemaRef ds:uri="92cb724c-d654-454f-915d-237124a8a1a9"/>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4b30f15d-6c4d-47ed-bde6-797b56236eb0"/>
    <ds:schemaRef ds:uri="http://schemas.microsoft.com/office/2006/metadata/properties"/>
    <ds:schemaRef ds:uri="d90711d2-37bb-4b26-8b23-51c02972fe26"/>
    <ds:schemaRef ds:uri="1ea434b8-4dc5-44f7-bb31-0866ee440822"/>
  </ds:schemaRefs>
</ds:datastoreItem>
</file>

<file path=customXml/itemProps2.xml><?xml version="1.0" encoding="utf-8"?>
<ds:datastoreItem xmlns:ds="http://schemas.openxmlformats.org/officeDocument/2006/customXml" ds:itemID="{6C7BBEC2-693C-4BAB-A217-B3E9F4642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434b8-4dc5-44f7-bb31-0866ee440822"/>
    <ds:schemaRef ds:uri="d90711d2-37bb-4b26-8b23-51c02972fe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769C6F-6ADF-412F-8F70-2DD1A151B0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4108</TotalTime>
  <Words>1671</Words>
  <Application>Microsoft Office PowerPoint</Application>
  <PresentationFormat>Widescreen</PresentationFormat>
  <Paragraphs>99</Paragraphs>
  <Slides>13</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Open Sans</vt:lpstr>
      <vt:lpstr>Segoe UI</vt:lpstr>
      <vt:lpstr>Times New Roman</vt:lpstr>
      <vt:lpstr>Wingdings</vt:lpstr>
      <vt:lpstr>2_Office Theme</vt:lpstr>
      <vt:lpstr>APPLIANCE CONTROLLER</vt:lpstr>
      <vt:lpstr>Introduction: Appliance Controller</vt:lpstr>
      <vt:lpstr>Objectives</vt:lpstr>
      <vt:lpstr>Materials</vt:lpstr>
      <vt:lpstr>Materials</vt:lpstr>
      <vt:lpstr>Discussion: Appliance Controller</vt:lpstr>
      <vt:lpstr>Discussion: Appliance Controller</vt:lpstr>
      <vt:lpstr>Discussion: Appliance Controller</vt:lpstr>
      <vt:lpstr>Discussion: Appliance Controller</vt:lpstr>
      <vt:lpstr>Discussion: Appliance Controller</vt:lpstr>
      <vt:lpstr>Discussion: Appliance Controller</vt:lpstr>
      <vt:lpstr>Conclusion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orientation will start in</dc:title>
  <dc:subject/>
  <dc:creator>Jessica Pauline L. Faigones</dc:creator>
  <cp:keywords/>
  <dc:description/>
  <cp:lastModifiedBy>Raphael Nano</cp:lastModifiedBy>
  <cp:revision>317</cp:revision>
  <dcterms:created xsi:type="dcterms:W3CDTF">2020-06-10T07:30:38Z</dcterms:created>
  <dcterms:modified xsi:type="dcterms:W3CDTF">2023-12-08T13:11:03Z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182800</vt:r8>
  </property>
  <property fmtid="{D5CDD505-2E9C-101B-9397-08002B2CF9AE}" pid="3" name="ContentTypeId">
    <vt:lpwstr>0x0101000045B03F0E29F341B8FA8A02C69678F2</vt:lpwstr>
  </property>
  <property fmtid="{D5CDD505-2E9C-101B-9397-08002B2CF9AE}" pid="4" name="ComplianceAssetId">
    <vt:lpwstr/>
  </property>
</Properties>
</file>