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6"/>
  </p:notesMasterIdLst>
  <p:handoutMasterIdLst>
    <p:handoutMasterId r:id="rId17"/>
  </p:handoutMasterIdLst>
  <p:sldIdLst>
    <p:sldId id="881" r:id="rId5"/>
    <p:sldId id="943" r:id="rId6"/>
    <p:sldId id="944" r:id="rId7"/>
    <p:sldId id="945" r:id="rId8"/>
    <p:sldId id="956" r:id="rId9"/>
    <p:sldId id="954" r:id="rId10"/>
    <p:sldId id="960" r:id="rId11"/>
    <p:sldId id="961" r:id="rId12"/>
    <p:sldId id="963" r:id="rId13"/>
    <p:sldId id="949" r:id="rId14"/>
    <p:sldId id="9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0898" autoAdjust="0"/>
  </p:normalViewPr>
  <p:slideViewPr>
    <p:cSldViewPr snapToGrid="0">
      <p:cViewPr varScale="1">
        <p:scale>
          <a:sx n="81" d="100"/>
          <a:sy n="81" d="100"/>
        </p:scale>
        <p:origin x="1003"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11/24/2023</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11/24/2023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to everyone! My name is Raphael S. Nano from section A1 for CPE161P, presenting experiment 1 – the Real-time basketball scoreboard.</a:t>
            </a:r>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is a sport played on a rectangular court by two teams of five players each, generally indoors. Each side attempts to score by tossing the ball through the opposing goal, which is an elevated horizontal hoop and net known as a basket. Shooting at different areas of the court would mean different points. If the shooter scores while outside the 3-point line, their team gets 3 points. If the shooter scores within the 3-point line, their team gets 2 points. Free throws, on the other hand, gives them 1 point. Knowing that, a real-time basketball scoreboard will be constructed and programmed, wherein 1, 2, or 3 points could be added or deducted every time a ball went in the basket.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this experiment are the following:</a:t>
            </a:r>
          </a:p>
          <a:p>
            <a:r>
              <a:rPr lang="en-US" dirty="0"/>
              <a:t>1. To demonstrate how a score board for a basketball game works in real-time.</a:t>
            </a:r>
          </a:p>
          <a:p>
            <a:r>
              <a:rPr lang="en-US" dirty="0"/>
              <a:t>2. To be able to apply what you have learned in logic circuits and switching theory, microprocessors, and CPE160P.</a:t>
            </a:r>
          </a:p>
          <a:p>
            <a:r>
              <a:rPr lang="en-US" dirty="0"/>
              <a:t>3. To be able to apply real-time embedded systems using the Arduino kit.</a:t>
            </a:r>
          </a:p>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utilized to construct the real-time basketball scoreboard are the Arduino UNO, the 4-digit seven segment display, and 5 switch buttons.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external library, only the </a:t>
            </a:r>
            <a:r>
              <a:rPr lang="en-US" dirty="0" err="1"/>
              <a:t>SevSeg.h</a:t>
            </a:r>
            <a:r>
              <a:rPr lang="en-US" dirty="0"/>
              <a:t> was used, which is for the seven segment display.</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408680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1748653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9</a:t>
            </a:fld>
            <a:endParaRPr lang="en-US"/>
          </a:p>
        </p:txBody>
      </p:sp>
    </p:spTree>
    <p:extLst>
      <p:ext uri="{BB962C8B-B14F-4D97-AF65-F5344CB8AC3E}">
        <p14:creationId xmlns:p14="http://schemas.microsoft.com/office/powerpoint/2010/main" val="3291013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24/11/2023</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812006"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REAL-TIME TRAFFIC LIGHT</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2</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CPE161P / A1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Real-Time Traffic Light</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an upgrade to traditional traffic lights because of the adjustments of the time when buttons are pressed</a:t>
            </a:r>
          </a:p>
          <a:p>
            <a:pPr algn="just">
              <a:buFont typeface="Wingdings" panose="05000000000000000000" pitchFamily="2" charset="2"/>
              <a:buChar char="Ø"/>
            </a:pPr>
            <a:r>
              <a:rPr lang="en-US" dirty="0"/>
              <a:t> this could possibly solve traffic jams, crime detection, and the safety of the people</a:t>
            </a:r>
          </a:p>
          <a:p>
            <a:pPr algn="just">
              <a:buFont typeface="Wingdings" panose="05000000000000000000" pitchFamily="2" charset="2"/>
              <a:buChar char="Ø"/>
            </a:pPr>
            <a:r>
              <a:rPr lang="en-US" dirty="0"/>
              <a:t> Traffic lights are examples of a firm real-time embedded system</a:t>
            </a:r>
            <a:endParaRPr lang="en-PH" dirty="0"/>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demonstrate how a traffic light works in real-time.</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apply what you have learned in logic circuits and switching theory, microprocessors, and CPE160P.</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real-time embedded system using the </a:t>
            </a:r>
            <a:r>
              <a:rPr lang="en-US" sz="2400" dirty="0">
                <a:solidFill>
                  <a:srgbClr val="262626"/>
                </a:solidFill>
                <a:latin typeface="Open Sans" panose="020B0606030504020204" pitchFamily="34" charset="0"/>
                <a:ea typeface="Times New Roman" panose="02020603050405020304" pitchFamily="18" charset="0"/>
              </a:rPr>
              <a:t>A</a:t>
            </a:r>
            <a:r>
              <a:rPr lang="en-US" sz="2400" dirty="0">
                <a:solidFill>
                  <a:srgbClr val="262626"/>
                </a:solidFill>
                <a:effectLst/>
                <a:latin typeface="Open Sans" panose="020B0606030504020204" pitchFamily="34" charset="0"/>
                <a:ea typeface="Times New Roman" panose="02020603050405020304" pitchFamily="18" charset="0"/>
              </a:rPr>
              <a:t>rduino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Hardware</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Kit</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4-Digit Seven Segment Display</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3 LEDs</a:t>
            </a:r>
          </a:p>
          <a:p>
            <a:pPr>
              <a:buFont typeface="Wingdings" panose="05000000000000000000" pitchFamily="2" charset="2"/>
              <a:buChar char="Ø"/>
            </a:pPr>
            <a:r>
              <a:rPr lang="en-PH" sz="2400" dirty="0">
                <a:solidFill>
                  <a:srgbClr val="262626"/>
                </a:solidFill>
                <a:latin typeface="Open Sans" panose="020B0606030504020204" pitchFamily="34" charset="0"/>
              </a:rPr>
              <a:t> Ultrasonic distance sensor</a:t>
            </a:r>
          </a:p>
          <a:p>
            <a:pPr>
              <a:buFont typeface="Wingdings" panose="05000000000000000000" pitchFamily="2" charset="2"/>
              <a:buChar char="Ø"/>
            </a:pPr>
            <a:r>
              <a:rPr lang="en-PH" sz="2400" dirty="0">
                <a:solidFill>
                  <a:srgbClr val="262626"/>
                </a:solidFill>
                <a:latin typeface="Open Sans" panose="020B0606030504020204" pitchFamily="34" charset="0"/>
              </a:rPr>
              <a:t> Passive buzzer</a:t>
            </a:r>
            <a:endParaRPr lang="en-PH" dirty="0"/>
          </a:p>
        </p:txBody>
      </p:sp>
      <p:pic>
        <p:nvPicPr>
          <p:cNvPr id="5" name="Picture 4">
            <a:extLst>
              <a:ext uri="{FF2B5EF4-FFF2-40B4-BE49-F238E27FC236}">
                <a16:creationId xmlns:a16="http://schemas.microsoft.com/office/drawing/2014/main" id="{3069FF89-F6DC-4C55-DCFE-F7F69C1D0BEE}"/>
              </a:ext>
            </a:extLst>
          </p:cNvPr>
          <p:cNvPicPr>
            <a:picLocks noChangeAspect="1"/>
          </p:cNvPicPr>
          <p:nvPr/>
        </p:nvPicPr>
        <p:blipFill rotWithShape="1">
          <a:blip r:embed="rId3">
            <a:extLst>
              <a:ext uri="{28A0092B-C50C-407E-A947-70E740481C1C}">
                <a14:useLocalDpi xmlns:a14="http://schemas.microsoft.com/office/drawing/2010/main" val="0"/>
              </a:ext>
            </a:extLst>
          </a:blip>
          <a:srcRect l="13119" r="6481"/>
          <a:stretch/>
        </p:blipFill>
        <p:spPr>
          <a:xfrm>
            <a:off x="5851033" y="1503575"/>
            <a:ext cx="5489413" cy="3850850"/>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Software Libraries</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Sevseg.h</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PH" dirty="0"/>
          </a:p>
        </p:txBody>
      </p:sp>
      <p:pic>
        <p:nvPicPr>
          <p:cNvPr id="5" name="Picture 4">
            <a:extLst>
              <a:ext uri="{FF2B5EF4-FFF2-40B4-BE49-F238E27FC236}">
                <a16:creationId xmlns:a16="http://schemas.microsoft.com/office/drawing/2014/main" id="{5508B0CE-E4C5-494E-1379-CD9ED3455E31}"/>
              </a:ext>
            </a:extLst>
          </p:cNvPr>
          <p:cNvPicPr>
            <a:picLocks noChangeAspect="1"/>
          </p:cNvPicPr>
          <p:nvPr/>
        </p:nvPicPr>
        <p:blipFill>
          <a:blip r:embed="rId3"/>
          <a:stretch>
            <a:fillRect/>
          </a:stretch>
        </p:blipFill>
        <p:spPr>
          <a:xfrm>
            <a:off x="6308964" y="2501002"/>
            <a:ext cx="4553372" cy="1855995"/>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Traffic Light</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186177"/>
            <a:ext cx="6781667" cy="508522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Use three different LEDs for the stop (RED), ready (YELLOW), and go(GREEN)</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Two switches were utilized to pre-empt the normal operation of the traffic lights.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First Switch: advance STOP for 15 seconds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Second Switch: Delay GO for 30 seconds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GO: 60 to 0, STOP: 0 to 60, READY: 30</a:t>
            </a:r>
            <a:r>
              <a:rPr lang="en-US" sz="2400" baseline="30000" dirty="0">
                <a:latin typeface="Open Sans" panose="020B0606030504020204" pitchFamily="34" charset="0"/>
                <a:ea typeface="Open Sans" panose="020B0606030504020204" pitchFamily="34" charset="0"/>
                <a:cs typeface="Open Sans" panose="020B0606030504020204" pitchFamily="34" charset="0"/>
              </a:rPr>
              <a:t>th</a:t>
            </a:r>
            <a:r>
              <a:rPr lang="en-US" sz="2400" dirty="0">
                <a:latin typeface="Open Sans" panose="020B0606030504020204" pitchFamily="34" charset="0"/>
                <a:ea typeface="Open Sans" panose="020B0606030504020204" pitchFamily="34" charset="0"/>
                <a:cs typeface="Open Sans" panose="020B0606030504020204" pitchFamily="34" charset="0"/>
              </a:rPr>
              <a:t> second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Sensor will be used for beating the RED light</a:t>
            </a:r>
          </a:p>
        </p:txBody>
      </p:sp>
      <p:pic>
        <p:nvPicPr>
          <p:cNvPr id="5" name="Picture 4">
            <a:extLst>
              <a:ext uri="{FF2B5EF4-FFF2-40B4-BE49-F238E27FC236}">
                <a16:creationId xmlns:a16="http://schemas.microsoft.com/office/drawing/2014/main" id="{D962B410-FD9E-B2E0-7978-B77892E88A82}"/>
              </a:ext>
            </a:extLst>
          </p:cNvPr>
          <p:cNvPicPr>
            <a:picLocks noChangeAspect="1"/>
          </p:cNvPicPr>
          <p:nvPr/>
        </p:nvPicPr>
        <p:blipFill rotWithShape="1">
          <a:blip r:embed="rId3">
            <a:extLst>
              <a:ext uri="{28A0092B-C50C-407E-A947-70E740481C1C}">
                <a14:useLocalDpi xmlns:a14="http://schemas.microsoft.com/office/drawing/2010/main" val="0"/>
              </a:ext>
            </a:extLst>
          </a:blip>
          <a:srcRect l="6610" r="18033"/>
          <a:stretch/>
        </p:blipFill>
        <p:spPr>
          <a:xfrm>
            <a:off x="7499521" y="1803163"/>
            <a:ext cx="4344505" cy="3251674"/>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50"/>
                                        <p:tgtEl>
                                          <p:spTgt spid="3">
                                            <p:txEl>
                                              <p:pRg st="3" end="3"/>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50"/>
                                        <p:tgtEl>
                                          <p:spTgt spid="3">
                                            <p:txEl>
                                              <p:pRg st="4" end="4"/>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Traffic Light</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935349"/>
            <a:ext cx="6249382" cy="396085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counter() was used for the normal operation of </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Color = 1 : System = GO</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Color = 2 : System = STOP</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For loop was used to display the count in the SSD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Count = 60</a:t>
            </a:r>
          </a:p>
        </p:txBody>
      </p:sp>
      <p:pic>
        <p:nvPicPr>
          <p:cNvPr id="5" name="Picture 4">
            <a:extLst>
              <a:ext uri="{FF2B5EF4-FFF2-40B4-BE49-F238E27FC236}">
                <a16:creationId xmlns:a16="http://schemas.microsoft.com/office/drawing/2014/main" id="{B7DA8E3F-F0BD-2F95-759D-93B94F465ACE}"/>
              </a:ext>
            </a:extLst>
          </p:cNvPr>
          <p:cNvPicPr>
            <a:picLocks noChangeAspect="1"/>
          </p:cNvPicPr>
          <p:nvPr/>
        </p:nvPicPr>
        <p:blipFill>
          <a:blip r:embed="rId3"/>
          <a:stretch>
            <a:fillRect/>
          </a:stretch>
        </p:blipFill>
        <p:spPr>
          <a:xfrm>
            <a:off x="6645897" y="1344749"/>
            <a:ext cx="2621507" cy="4168501"/>
          </a:xfrm>
          <a:prstGeom prst="rect">
            <a:avLst/>
          </a:prstGeom>
        </p:spPr>
      </p:pic>
      <p:pic>
        <p:nvPicPr>
          <p:cNvPr id="8" name="Picture 7">
            <a:extLst>
              <a:ext uri="{FF2B5EF4-FFF2-40B4-BE49-F238E27FC236}">
                <a16:creationId xmlns:a16="http://schemas.microsoft.com/office/drawing/2014/main" id="{C3EBA562-496F-BD21-D3AB-C5502CA64A38}"/>
              </a:ext>
            </a:extLst>
          </p:cNvPr>
          <p:cNvPicPr>
            <a:picLocks noChangeAspect="1"/>
          </p:cNvPicPr>
          <p:nvPr/>
        </p:nvPicPr>
        <p:blipFill>
          <a:blip r:embed="rId4"/>
          <a:stretch>
            <a:fillRect/>
          </a:stretch>
        </p:blipFill>
        <p:spPr>
          <a:xfrm>
            <a:off x="9375483" y="1935349"/>
            <a:ext cx="2377646" cy="2987299"/>
          </a:xfrm>
          <a:prstGeom prst="rect">
            <a:avLst/>
          </a:prstGeom>
        </p:spPr>
      </p:pic>
    </p:spTree>
    <p:extLst>
      <p:ext uri="{BB962C8B-B14F-4D97-AF65-F5344CB8AC3E}">
        <p14:creationId xmlns:p14="http://schemas.microsoft.com/office/powerpoint/2010/main" val="272600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50"/>
                                        <p:tgtEl>
                                          <p:spTgt spid="3">
                                            <p:txEl>
                                              <p:pRg st="3" end="3"/>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Traffic Light</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244339"/>
            <a:ext cx="6249382" cy="4651868"/>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In adjust(), the value of the ‘</a:t>
            </a:r>
            <a:r>
              <a:rPr lang="en-US" sz="2400" dirty="0" err="1">
                <a:latin typeface="Open Sans" panose="020B0606030504020204" pitchFamily="34" charset="0"/>
                <a:ea typeface="Open Sans" panose="020B0606030504020204" pitchFamily="34" charset="0"/>
                <a:cs typeface="Open Sans" panose="020B0606030504020204" pitchFamily="34" charset="0"/>
              </a:rPr>
              <a:t>i</a:t>
            </a:r>
            <a:r>
              <a:rPr lang="en-US" sz="2400" dirty="0">
                <a:latin typeface="Open Sans" panose="020B0606030504020204" pitchFamily="34" charset="0"/>
                <a:ea typeface="Open Sans" panose="020B0606030504020204" pitchFamily="34" charset="0"/>
                <a:cs typeface="Open Sans" panose="020B0606030504020204" pitchFamily="34" charset="0"/>
              </a:rPr>
              <a:t>' is being changed, depending on what button was pressed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If the color is RED and first button was pressed, time advances 15 seconds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If the color is GREEN/YELLOW and second button was pressed, time delays 30 seconds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If the value of </a:t>
            </a:r>
            <a:r>
              <a:rPr lang="en-US" sz="2400" dirty="0" err="1">
                <a:latin typeface="Open Sans" panose="020B0606030504020204" pitchFamily="34" charset="0"/>
                <a:ea typeface="Open Sans" panose="020B0606030504020204" pitchFamily="34" charset="0"/>
                <a:cs typeface="Open Sans" panose="020B0606030504020204" pitchFamily="34" charset="0"/>
              </a:rPr>
              <a:t>i</a:t>
            </a:r>
            <a:r>
              <a:rPr lang="en-US" sz="2400" dirty="0">
                <a:latin typeface="Open Sans" panose="020B0606030504020204" pitchFamily="34" charset="0"/>
                <a:ea typeface="Open Sans" panose="020B0606030504020204" pitchFamily="34" charset="0"/>
                <a:cs typeface="Open Sans" panose="020B0606030504020204" pitchFamily="34" charset="0"/>
              </a:rPr>
              <a:t> exceeds its maximum or minimum value, it stays on the max or min value</a:t>
            </a:r>
          </a:p>
        </p:txBody>
      </p:sp>
      <p:pic>
        <p:nvPicPr>
          <p:cNvPr id="6" name="Picture 5">
            <a:extLst>
              <a:ext uri="{FF2B5EF4-FFF2-40B4-BE49-F238E27FC236}">
                <a16:creationId xmlns:a16="http://schemas.microsoft.com/office/drawing/2014/main" id="{FF5E980F-3DBF-14DF-587C-FF825A50F46D}"/>
              </a:ext>
            </a:extLst>
          </p:cNvPr>
          <p:cNvPicPr>
            <a:picLocks noChangeAspect="1"/>
          </p:cNvPicPr>
          <p:nvPr/>
        </p:nvPicPr>
        <p:blipFill>
          <a:blip r:embed="rId3"/>
          <a:stretch>
            <a:fillRect/>
          </a:stretch>
        </p:blipFill>
        <p:spPr>
          <a:xfrm>
            <a:off x="6744754" y="1310456"/>
            <a:ext cx="4679085" cy="4237087"/>
          </a:xfrm>
          <a:prstGeom prst="rect">
            <a:avLst/>
          </a:prstGeom>
        </p:spPr>
      </p:pic>
    </p:spTree>
    <p:extLst>
      <p:ext uri="{BB962C8B-B14F-4D97-AF65-F5344CB8AC3E}">
        <p14:creationId xmlns:p14="http://schemas.microsoft.com/office/powerpoint/2010/main" val="17899330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5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Traffic Light</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369243"/>
            <a:ext cx="6249382" cy="4579070"/>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For the USD, distance() function was created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Formula: duration of the wave's traversal multiplied with 0.034 / 2</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t>
            </a:r>
            <a:r>
              <a:rPr lang="en-US" sz="2400" dirty="0" err="1">
                <a:latin typeface="Open Sans" panose="020B0606030504020204" pitchFamily="34" charset="0"/>
                <a:ea typeface="Open Sans" panose="020B0606030504020204" pitchFamily="34" charset="0"/>
                <a:cs typeface="Open Sans" panose="020B0606030504020204" pitchFamily="34" charset="0"/>
              </a:rPr>
              <a:t>usd</a:t>
            </a:r>
            <a:r>
              <a:rPr lang="en-US" sz="2400" dirty="0">
                <a:latin typeface="Open Sans" panose="020B0606030504020204" pitchFamily="34" charset="0"/>
                <a:ea typeface="Open Sans" panose="020B0606030504020204" pitchFamily="34" charset="0"/>
                <a:cs typeface="Open Sans" panose="020B0606030504020204" pitchFamily="34" charset="0"/>
              </a:rPr>
              <a:t>() function was created for the buzzer</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If distance is less than 10 cm and the light is RED, the alarm will sound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main loop passes color value to counter() function</a:t>
            </a:r>
          </a:p>
        </p:txBody>
      </p:sp>
      <p:pic>
        <p:nvPicPr>
          <p:cNvPr id="5" name="Picture 4">
            <a:extLst>
              <a:ext uri="{FF2B5EF4-FFF2-40B4-BE49-F238E27FC236}">
                <a16:creationId xmlns:a16="http://schemas.microsoft.com/office/drawing/2014/main" id="{F54298E0-3F10-C736-B945-C29E0CED3A85}"/>
              </a:ext>
            </a:extLst>
          </p:cNvPr>
          <p:cNvPicPr>
            <a:picLocks noChangeAspect="1"/>
          </p:cNvPicPr>
          <p:nvPr/>
        </p:nvPicPr>
        <p:blipFill>
          <a:blip r:embed="rId3"/>
          <a:stretch>
            <a:fillRect/>
          </a:stretch>
        </p:blipFill>
        <p:spPr>
          <a:xfrm>
            <a:off x="7652606" y="1247906"/>
            <a:ext cx="3236002" cy="2181094"/>
          </a:xfrm>
          <a:prstGeom prst="rect">
            <a:avLst/>
          </a:prstGeom>
        </p:spPr>
      </p:pic>
      <p:pic>
        <p:nvPicPr>
          <p:cNvPr id="8" name="Picture 7">
            <a:extLst>
              <a:ext uri="{FF2B5EF4-FFF2-40B4-BE49-F238E27FC236}">
                <a16:creationId xmlns:a16="http://schemas.microsoft.com/office/drawing/2014/main" id="{ED894133-F281-79F2-CED4-B5F54F03ACFE}"/>
              </a:ext>
            </a:extLst>
          </p:cNvPr>
          <p:cNvPicPr>
            <a:picLocks noChangeAspect="1"/>
          </p:cNvPicPr>
          <p:nvPr/>
        </p:nvPicPr>
        <p:blipFill>
          <a:blip r:embed="rId4"/>
          <a:stretch>
            <a:fillRect/>
          </a:stretch>
        </p:blipFill>
        <p:spPr>
          <a:xfrm>
            <a:off x="6719094" y="3658778"/>
            <a:ext cx="2671271" cy="1918800"/>
          </a:xfrm>
          <a:prstGeom prst="rect">
            <a:avLst/>
          </a:prstGeom>
        </p:spPr>
      </p:pic>
      <p:pic>
        <p:nvPicPr>
          <p:cNvPr id="6" name="Picture 5">
            <a:extLst>
              <a:ext uri="{FF2B5EF4-FFF2-40B4-BE49-F238E27FC236}">
                <a16:creationId xmlns:a16="http://schemas.microsoft.com/office/drawing/2014/main" id="{FCCD0A66-60B9-4129-0D75-749FA4A79FD3}"/>
              </a:ext>
            </a:extLst>
          </p:cNvPr>
          <p:cNvPicPr>
            <a:picLocks noChangeAspect="1"/>
          </p:cNvPicPr>
          <p:nvPr/>
        </p:nvPicPr>
        <p:blipFill>
          <a:blip r:embed="rId5"/>
          <a:stretch>
            <a:fillRect/>
          </a:stretch>
        </p:blipFill>
        <p:spPr>
          <a:xfrm>
            <a:off x="9571642" y="3658778"/>
            <a:ext cx="2331922" cy="1920406"/>
          </a:xfrm>
          <a:prstGeom prst="rect">
            <a:avLst/>
          </a:prstGeom>
        </p:spPr>
      </p:pic>
    </p:spTree>
    <p:extLst>
      <p:ext uri="{BB962C8B-B14F-4D97-AF65-F5344CB8AC3E}">
        <p14:creationId xmlns:p14="http://schemas.microsoft.com/office/powerpoint/2010/main" val="2704762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50"/>
                                        <p:tgtEl>
                                          <p:spTgt spid="3">
                                            <p:txEl>
                                              <p:pRg st="3" end="3"/>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marL="0" indent="0" algn="just">
              <a:spcAft>
                <a:spcPts val="1200"/>
              </a:spcAft>
              <a:buNone/>
            </a:pPr>
            <a:r>
              <a:rPr lang="en-US" dirty="0"/>
              <a:t>The real-time traffic light system works in three functions: </a:t>
            </a:r>
          </a:p>
          <a:p>
            <a:pPr lvl="1" algn="just">
              <a:spcAft>
                <a:spcPts val="1200"/>
              </a:spcAft>
              <a:buFont typeface="Wingdings" panose="05000000000000000000" pitchFamily="2" charset="2"/>
              <a:buChar char="Ø"/>
            </a:pPr>
            <a:r>
              <a:rPr lang="en-US" dirty="0"/>
              <a:t> Normal operations: </a:t>
            </a:r>
          </a:p>
          <a:p>
            <a:pPr lvl="2" algn="just">
              <a:spcAft>
                <a:spcPts val="1200"/>
              </a:spcAft>
            </a:pPr>
            <a:r>
              <a:rPr lang="en-US" dirty="0"/>
              <a:t> STOP operation is from 0 to 60</a:t>
            </a:r>
          </a:p>
          <a:p>
            <a:pPr lvl="2" algn="just">
              <a:spcAft>
                <a:spcPts val="1200"/>
              </a:spcAft>
            </a:pPr>
            <a:r>
              <a:rPr lang="en-US" dirty="0"/>
              <a:t> GO operation is from 60 to 0</a:t>
            </a:r>
          </a:p>
          <a:p>
            <a:pPr lvl="2" algn="just">
              <a:spcAft>
                <a:spcPts val="1200"/>
              </a:spcAft>
            </a:pPr>
            <a:r>
              <a:rPr lang="en-US" dirty="0"/>
              <a:t> 30th second of GO operation turns the color of the LED to yellow</a:t>
            </a:r>
            <a:endParaRPr lang="en-PH" dirty="0"/>
          </a:p>
          <a:p>
            <a:pPr lvl="1" algn="just">
              <a:spcAft>
                <a:spcPts val="1200"/>
              </a:spcAft>
              <a:buFont typeface="Wingdings" panose="05000000000000000000" pitchFamily="2" charset="2"/>
              <a:buChar char="Ø"/>
            </a:pPr>
            <a:r>
              <a:rPr lang="en-US" dirty="0"/>
              <a:t> Adjustment of values with the use of buttons:</a:t>
            </a:r>
          </a:p>
          <a:p>
            <a:pPr lvl="2" algn="just">
              <a:spcAft>
                <a:spcPts val="1200"/>
              </a:spcAft>
            </a:pPr>
            <a:r>
              <a:rPr lang="en-US" dirty="0"/>
              <a:t> First button advances 15 seconds while in STOP</a:t>
            </a:r>
          </a:p>
          <a:p>
            <a:pPr lvl="2" algn="just">
              <a:spcAft>
                <a:spcPts val="1200"/>
              </a:spcAft>
            </a:pPr>
            <a:r>
              <a:rPr lang="en-US" dirty="0"/>
              <a:t> Second button delays 30 seconds while in GO</a:t>
            </a:r>
            <a:endParaRPr lang="en-PH" dirty="0"/>
          </a:p>
          <a:p>
            <a:pPr lvl="1" algn="just">
              <a:spcAft>
                <a:spcPts val="1200"/>
              </a:spcAft>
              <a:buFont typeface="Wingdings" panose="05000000000000000000" pitchFamily="2" charset="2"/>
              <a:buChar char="Ø"/>
            </a:pPr>
            <a:r>
              <a:rPr lang="en-US" dirty="0"/>
              <a:t> Detection of ultrasonic distance sensor for beating the red light</a:t>
            </a:r>
            <a:endParaRPr lang="en-PH" dirty="0"/>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5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5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5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25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25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25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algn="just">
              <a:spcAft>
                <a:spcPts val="1200"/>
              </a:spcAft>
              <a:buFont typeface="Wingdings" panose="05000000000000000000" pitchFamily="2" charset="2"/>
              <a:buChar char="Ø"/>
            </a:pPr>
            <a:r>
              <a:rPr lang="en-US" dirty="0"/>
              <a:t> The use of microprocessors, logic circuits, and switching theory is shown using series connections, pin layouts, and sensor and LED triggering. </a:t>
            </a:r>
          </a:p>
          <a:p>
            <a:pPr marL="0" indent="0" algn="just">
              <a:spcAft>
                <a:spcPts val="1200"/>
              </a:spcAft>
              <a:buNone/>
            </a:pPr>
            <a:endParaRPr lang="en-US" dirty="0"/>
          </a:p>
          <a:p>
            <a:pPr algn="just">
              <a:spcAft>
                <a:spcPts val="1200"/>
              </a:spcAft>
              <a:buFont typeface="Wingdings" panose="05000000000000000000" pitchFamily="2" charset="2"/>
              <a:buChar char="Ø"/>
            </a:pPr>
            <a:r>
              <a:rPr lang="en-US" dirty="0"/>
              <a:t> As a result of using numerous variables, modules, and invoking such functions to create an embedded system, a real-time traffic light system was successfully constructed and shown in a basic handshaking.</a:t>
            </a:r>
            <a:endParaRPr lang="en-PH" dirty="0"/>
          </a:p>
        </p:txBody>
      </p:sp>
    </p:spTree>
    <p:extLst>
      <p:ext uri="{BB962C8B-B14F-4D97-AF65-F5344CB8AC3E}">
        <p14:creationId xmlns:p14="http://schemas.microsoft.com/office/powerpoint/2010/main" val="216655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customXml/itemProps3.xml><?xml version="1.0" encoding="utf-8"?>
<ds:datastoreItem xmlns:ds="http://schemas.openxmlformats.org/officeDocument/2006/customXml" ds:itemID="{DA769C6F-6ADF-412F-8F70-2DD1A151B0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4053</TotalTime>
  <Words>1398</Words>
  <Application>Microsoft Office PowerPoint</Application>
  <PresentationFormat>Widescreen</PresentationFormat>
  <Paragraphs>90</Paragraphs>
  <Slides>11</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Open Sans</vt:lpstr>
      <vt:lpstr>Segoe UI</vt:lpstr>
      <vt:lpstr>Times New Roman</vt:lpstr>
      <vt:lpstr>Wingdings</vt:lpstr>
      <vt:lpstr>2_Office Theme</vt:lpstr>
      <vt:lpstr>REAL-TIME TRAFFIC LIGHT</vt:lpstr>
      <vt:lpstr>Introduction: Real-Time Traffic Light</vt:lpstr>
      <vt:lpstr>Objectives</vt:lpstr>
      <vt:lpstr>Materials</vt:lpstr>
      <vt:lpstr>Materials</vt:lpstr>
      <vt:lpstr>Discussion: Real-Time Traffic Light</vt:lpstr>
      <vt:lpstr>Discussion: Real-Time Traffic Light</vt:lpstr>
      <vt:lpstr>Discussion: Real-Time Traffic Light</vt:lpstr>
      <vt:lpstr>Discussion: Real-Time Traffic Light</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313</cp:revision>
  <dcterms:created xsi:type="dcterms:W3CDTF">2020-06-10T07:30:38Z</dcterms:created>
  <dcterms:modified xsi:type="dcterms:W3CDTF">2023-11-24T09:16:29Z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