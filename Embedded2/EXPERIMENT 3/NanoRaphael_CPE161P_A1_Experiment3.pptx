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7"/>
  </p:notesMasterIdLst>
  <p:handoutMasterIdLst>
    <p:handoutMasterId r:id="rId18"/>
  </p:handoutMasterIdLst>
  <p:sldIdLst>
    <p:sldId id="881" r:id="rId5"/>
    <p:sldId id="943" r:id="rId6"/>
    <p:sldId id="964" r:id="rId7"/>
    <p:sldId id="944" r:id="rId8"/>
    <p:sldId id="945" r:id="rId9"/>
    <p:sldId id="956" r:id="rId10"/>
    <p:sldId id="954" r:id="rId11"/>
    <p:sldId id="960" r:id="rId12"/>
    <p:sldId id="961" r:id="rId13"/>
    <p:sldId id="963" r:id="rId14"/>
    <p:sldId id="949" r:id="rId15"/>
    <p:sldId id="9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0898" autoAdjust="0"/>
  </p:normalViewPr>
  <p:slideViewPr>
    <p:cSldViewPr snapToGrid="0">
      <p:cViewPr varScale="1">
        <p:scale>
          <a:sx n="81" d="100"/>
          <a:sy n="81" d="100"/>
        </p:scale>
        <p:origin x="1003"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11/29/2023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11/29/2023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to everyone! My name is Raphael S. Nano from section A1 for CPE161P, presenting experiment 1 – the Real-time basketball scoreboard.</a:t>
            </a:r>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is a sport played on a rectangular court by two teams of five players each, generally indoors. Each side attempts to score by tossing the ball through the opposing goal, which is an elevated horizontal hoop and net known as a basket. Shooting at different areas of the court would mean different points. If the shooter scores while outside the 3-point line, their team gets 3 points. If the shooter scores within the 3-point line, their team gets 2 points. Free throws, on the other hand, gives them 1 point. Knowing that, a real-time basketball scoreboard will be constructed and programmed, wherein 1, 2, or 3 points could be added or deducted every time a ball went in the basket.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is a sport played on a rectangular court by two teams of five players each, generally indoors. Each side attempts to score by tossing the ball through the opposing goal, which is an elevated horizontal hoop and net known as a basket. Shooting at different areas of the court would mean different points. If the shooter scores while outside the 3-point line, their team gets 3 points. If the shooter scores within the 3-point line, their team gets 2 points. Free throws, on the other hand, gives them 1 point. Knowing that, a real-time basketball scoreboard will be constructed and programmed, wherein 1, 2, or 3 points could be added or deducted every time a ball went in the basket.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518788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this experiment are the following:</a:t>
            </a:r>
          </a:p>
          <a:p>
            <a:r>
              <a:rPr lang="en-US" dirty="0"/>
              <a:t>1. To demonstrate how a score board for a basketball game works in real-time.</a:t>
            </a:r>
          </a:p>
          <a:p>
            <a:r>
              <a:rPr lang="en-US" dirty="0"/>
              <a:t>2. To be able to apply what you have learned in logic circuits and switching theory, microprocessors, and CPE160P.</a:t>
            </a:r>
          </a:p>
          <a:p>
            <a:r>
              <a:rPr lang="en-US" dirty="0"/>
              <a:t>3. To be able to apply real-time embedded systems using the Arduino kit.</a:t>
            </a:r>
          </a:p>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utilized to construct the real-time basketball scoreboard are the Arduino UNO, the 4-digit seven segment display, and 5 switch buttons.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external library, only the </a:t>
            </a:r>
            <a:r>
              <a:rPr lang="en-US" dirty="0" err="1"/>
              <a:t>SevSeg.h</a:t>
            </a:r>
            <a:r>
              <a:rPr lang="en-US" dirty="0"/>
              <a:t> was used, which is for the seven segment display.</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4086808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9</a:t>
            </a:fld>
            <a:endParaRPr lang="en-US"/>
          </a:p>
        </p:txBody>
      </p:sp>
    </p:spTree>
    <p:extLst>
      <p:ext uri="{BB962C8B-B14F-4D97-AF65-F5344CB8AC3E}">
        <p14:creationId xmlns:p14="http://schemas.microsoft.com/office/powerpoint/2010/main" val="17486535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10</a:t>
            </a:fld>
            <a:endParaRPr lang="en-US"/>
          </a:p>
        </p:txBody>
      </p:sp>
    </p:spTree>
    <p:extLst>
      <p:ext uri="{BB962C8B-B14F-4D97-AF65-F5344CB8AC3E}">
        <p14:creationId xmlns:p14="http://schemas.microsoft.com/office/powerpoint/2010/main" val="32910130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29/11/2023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812006"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WEATHER MONITORING</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3</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Weather Monitoring</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Real-time weather monitoring systems are prevalent applications in mobile embedded systems</a:t>
            </a:r>
          </a:p>
          <a:p>
            <a:pPr algn="just">
              <a:buFont typeface="Wingdings" panose="05000000000000000000" pitchFamily="2" charset="2"/>
              <a:buChar char="Ø"/>
            </a:pPr>
            <a:r>
              <a:rPr lang="en-US" dirty="0"/>
              <a:t> With the use of continuous monitoring and prediction of weather patterns, these systems serve as the center for meteorological expertise, as they collect and analyze parameters with speed and precision.</a:t>
            </a:r>
          </a:p>
          <a:p>
            <a:pPr algn="just">
              <a:buFont typeface="Wingdings" panose="05000000000000000000" pitchFamily="2" charset="2"/>
              <a:buChar char="Ø"/>
            </a:pPr>
            <a:r>
              <a:rPr lang="en-US" dirty="0"/>
              <a:t> Through a set of sensors and grounded measuring instruments, they cover a wide range of analysis for the weather reports.</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Weather Monitoring</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With that being said, a simple weather monitoring system was developed using the Arduino Uno as the center, temperature sensor for the input, and LCD for the display of values.</a:t>
            </a:r>
            <a:endParaRPr lang="en-PH" dirty="0"/>
          </a:p>
        </p:txBody>
      </p:sp>
    </p:spTree>
    <p:extLst>
      <p:ext uri="{BB962C8B-B14F-4D97-AF65-F5344CB8AC3E}">
        <p14:creationId xmlns:p14="http://schemas.microsoft.com/office/powerpoint/2010/main" val="1517042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419365"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 weather monitoring system works in real-time.</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apply what you have learned in logic circuits and switching theory, microprocessors, and CPE160P.</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real-time embedded system using Arduino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Kit</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DHT11 Temperature and Humidity Sensor</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Liquid Crystal Display with I2C</a:t>
            </a:r>
            <a:endParaRPr lang="en-PH" dirty="0"/>
          </a:p>
        </p:txBody>
      </p:sp>
      <p:pic>
        <p:nvPicPr>
          <p:cNvPr id="5" name="Picture 4">
            <a:extLst>
              <a:ext uri="{FF2B5EF4-FFF2-40B4-BE49-F238E27FC236}">
                <a16:creationId xmlns:a16="http://schemas.microsoft.com/office/drawing/2014/main" id="{3069FF89-F6DC-4C55-DCFE-F7F69C1D0BEE}"/>
              </a:ext>
            </a:extLst>
          </p:cNvPr>
          <p:cNvPicPr>
            <a:picLocks noChangeAspect="1"/>
          </p:cNvPicPr>
          <p:nvPr/>
        </p:nvPicPr>
        <p:blipFill rotWithShape="1">
          <a:blip r:embed="rId3">
            <a:extLst>
              <a:ext uri="{28A0092B-C50C-407E-A947-70E740481C1C}">
                <a14:useLocalDpi xmlns:a14="http://schemas.microsoft.com/office/drawing/2010/main" val="0"/>
              </a:ext>
            </a:extLst>
          </a:blip>
          <a:srcRect l="9421" r="9421"/>
          <a:stretch/>
        </p:blipFill>
        <p:spPr>
          <a:xfrm>
            <a:off x="6702587" y="1597844"/>
            <a:ext cx="4666139" cy="3273319"/>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dht.h</a:t>
            </a: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LiquidCrystal_I2C.h</a:t>
            </a: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string.h</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6" name="Picture 5">
            <a:extLst>
              <a:ext uri="{FF2B5EF4-FFF2-40B4-BE49-F238E27FC236}">
                <a16:creationId xmlns:a16="http://schemas.microsoft.com/office/drawing/2014/main" id="{50B2857A-96FE-CECA-BCEF-4FFE862F38E9}"/>
              </a:ext>
            </a:extLst>
          </p:cNvPr>
          <p:cNvPicPr>
            <a:picLocks noChangeAspect="1"/>
          </p:cNvPicPr>
          <p:nvPr/>
        </p:nvPicPr>
        <p:blipFill>
          <a:blip r:embed="rId3"/>
          <a:stretch>
            <a:fillRect/>
          </a:stretch>
        </p:blipFill>
        <p:spPr>
          <a:xfrm>
            <a:off x="6834434" y="2233899"/>
            <a:ext cx="4695794" cy="2390201"/>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Weather Monitoring</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781667"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Main Objective: To simulate a weather monitoring system that operates in real-time </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5 areas or conditions:</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Room</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Hands</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Outside a room</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Inside the bag</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Comfort room</a:t>
            </a:r>
          </a:p>
        </p:txBody>
      </p:sp>
      <p:pic>
        <p:nvPicPr>
          <p:cNvPr id="5" name="Picture 4">
            <a:extLst>
              <a:ext uri="{FF2B5EF4-FFF2-40B4-BE49-F238E27FC236}">
                <a16:creationId xmlns:a16="http://schemas.microsoft.com/office/drawing/2014/main" id="{D962B410-FD9E-B2E0-7978-B77892E88A82}"/>
              </a:ext>
            </a:extLst>
          </p:cNvPr>
          <p:cNvPicPr>
            <a:picLocks noChangeAspect="1"/>
          </p:cNvPicPr>
          <p:nvPr/>
        </p:nvPicPr>
        <p:blipFill rotWithShape="1">
          <a:blip r:embed="rId3">
            <a:extLst>
              <a:ext uri="{28A0092B-C50C-407E-A947-70E740481C1C}">
                <a14:useLocalDpi xmlns:a14="http://schemas.microsoft.com/office/drawing/2010/main" val="0"/>
              </a:ext>
            </a:extLst>
          </a:blip>
          <a:srcRect l="1598" r="1598"/>
          <a:stretch/>
        </p:blipFill>
        <p:spPr>
          <a:xfrm>
            <a:off x="7499521" y="1803163"/>
            <a:ext cx="4344505" cy="3251674"/>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50"/>
                                        <p:tgtEl>
                                          <p:spTgt spid="3">
                                            <p:txEl>
                                              <p:pRg st="1" end="1"/>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250"/>
                                        <p:tgtEl>
                                          <p:spTgt spid="3">
                                            <p:txEl>
                                              <p:pRg st="2" end="2"/>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250"/>
                                        <p:tgtEl>
                                          <p:spTgt spid="3">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250"/>
                                        <p:tgtEl>
                                          <p:spTgt spid="3">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Weather Monitoring</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935349"/>
            <a:ext cx="6249382" cy="396085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DHT11 is activated using the read11() function</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temp() was constructed to return the value of the sensed temperature using the </a:t>
            </a:r>
            <a:r>
              <a:rPr lang="en-US" sz="2400" dirty="0" err="1">
                <a:latin typeface="Open Sans" panose="020B0606030504020204" pitchFamily="34" charset="0"/>
                <a:ea typeface="Open Sans" panose="020B0606030504020204" pitchFamily="34" charset="0"/>
                <a:cs typeface="Open Sans" panose="020B0606030504020204" pitchFamily="34" charset="0"/>
              </a:rPr>
              <a:t>DHT.temperature</a:t>
            </a:r>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8" name="Picture 7">
            <a:extLst>
              <a:ext uri="{FF2B5EF4-FFF2-40B4-BE49-F238E27FC236}">
                <a16:creationId xmlns:a16="http://schemas.microsoft.com/office/drawing/2014/main" id="{C3EBA562-496F-BD21-D3AB-C5502CA64A3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69472" y="1845062"/>
            <a:ext cx="5034091" cy="2187488"/>
          </a:xfrm>
          <a:prstGeom prst="rect">
            <a:avLst/>
          </a:prstGeom>
        </p:spPr>
      </p:pic>
    </p:spTree>
    <p:extLst>
      <p:ext uri="{BB962C8B-B14F-4D97-AF65-F5344CB8AC3E}">
        <p14:creationId xmlns:p14="http://schemas.microsoft.com/office/powerpoint/2010/main" val="272600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Weather Monitoring</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7" y="1244339"/>
            <a:ext cx="6249382" cy="4651868"/>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"Weather Monitoring" will be first displayed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5 buttons were added</a:t>
            </a:r>
          </a:p>
          <a:p>
            <a:pPr lvl="1" algn="just">
              <a:spcAft>
                <a:spcPts val="600"/>
              </a:spcAft>
              <a:buFont typeface="Wingdings" panose="05000000000000000000" pitchFamily="2" charset="2"/>
              <a:buChar char="Ø"/>
            </a:pPr>
            <a:r>
              <a:rPr lang="en-US" sz="2000" dirty="0">
                <a:latin typeface="Open Sans" panose="020B0606030504020204" pitchFamily="34" charset="0"/>
                <a:ea typeface="Open Sans" panose="020B0606030504020204" pitchFamily="34" charset="0"/>
                <a:cs typeface="Open Sans" panose="020B0606030504020204" pitchFamily="34" charset="0"/>
              </a:rPr>
              <a:t>One for each area/condition</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string </a:t>
            </a:r>
            <a:r>
              <a:rPr lang="en-US" sz="2400" dirty="0" err="1">
                <a:latin typeface="Open Sans" panose="020B0606030504020204" pitchFamily="34" charset="0"/>
                <a:ea typeface="Open Sans" panose="020B0606030504020204" pitchFamily="34" charset="0"/>
                <a:cs typeface="Open Sans" panose="020B0606030504020204" pitchFamily="34" charset="0"/>
              </a:rPr>
              <a:t>lcdVal</a:t>
            </a:r>
            <a:r>
              <a:rPr lang="en-US" sz="2400" dirty="0">
                <a:latin typeface="Open Sans" panose="020B0606030504020204" pitchFamily="34" charset="0"/>
                <a:ea typeface="Open Sans" panose="020B0606030504020204" pitchFamily="34" charset="0"/>
                <a:cs typeface="Open Sans" panose="020B0606030504020204" pitchFamily="34" charset="0"/>
              </a:rPr>
              <a:t> will be initialized with that specific value</a:t>
            </a:r>
          </a:p>
          <a:p>
            <a:pPr lvl="1" algn="just">
              <a:spcAft>
                <a:spcPts val="600"/>
              </a:spcAft>
              <a:buFont typeface="Wingdings" panose="05000000000000000000" pitchFamily="2" charset="2"/>
              <a:buChar char="Ø"/>
            </a:pP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a:extLst>
              <a:ext uri="{FF2B5EF4-FFF2-40B4-BE49-F238E27FC236}">
                <a16:creationId xmlns:a16="http://schemas.microsoft.com/office/drawing/2014/main" id="{FF5E980F-3DBF-14DF-587C-FF825A50F4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773035" y="1636850"/>
            <a:ext cx="4679085" cy="3584299"/>
          </a:xfrm>
          <a:prstGeom prst="rect">
            <a:avLst/>
          </a:prstGeom>
        </p:spPr>
      </p:pic>
    </p:spTree>
    <p:extLst>
      <p:ext uri="{BB962C8B-B14F-4D97-AF65-F5344CB8AC3E}">
        <p14:creationId xmlns:p14="http://schemas.microsoft.com/office/powerpoint/2010/main" val="17899330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5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25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Weather Monitoring</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369243"/>
            <a:ext cx="6249382" cy="4579070"/>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For display of values, LCD uses print() function to display the sensed temperature with the temp() module</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(char)223 was used for the degree symbol</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A “C” was printed after the degree symbol</a:t>
            </a:r>
          </a:p>
        </p:txBody>
      </p:sp>
      <p:pic>
        <p:nvPicPr>
          <p:cNvPr id="4" name="Picture 3">
            <a:extLst>
              <a:ext uri="{FF2B5EF4-FFF2-40B4-BE49-F238E27FC236}">
                <a16:creationId xmlns:a16="http://schemas.microsoft.com/office/drawing/2014/main" id="{FF5E980F-3DBF-14DF-587C-FF825A50F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6857" y="1742122"/>
            <a:ext cx="3597030" cy="3373755"/>
          </a:xfrm>
          <a:prstGeom prst="rect">
            <a:avLst/>
          </a:prstGeom>
        </p:spPr>
      </p:pic>
    </p:spTree>
    <p:extLst>
      <p:ext uri="{BB962C8B-B14F-4D97-AF65-F5344CB8AC3E}">
        <p14:creationId xmlns:p14="http://schemas.microsoft.com/office/powerpoint/2010/main" val="270476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marL="0" indent="0" algn="just">
              <a:spcAft>
                <a:spcPts val="1200"/>
              </a:spcAft>
              <a:buNone/>
            </a:pPr>
            <a:r>
              <a:rPr lang="en-US" dirty="0"/>
              <a:t>The weather monitoring system works in two functions: </a:t>
            </a:r>
          </a:p>
          <a:p>
            <a:pPr lvl="1" algn="just">
              <a:spcAft>
                <a:spcPts val="1200"/>
              </a:spcAft>
              <a:buFont typeface="Wingdings" panose="05000000000000000000" pitchFamily="2" charset="2"/>
              <a:buChar char="Ø"/>
            </a:pPr>
            <a:r>
              <a:rPr lang="en-US" dirty="0"/>
              <a:t> Detection of temperature using DHT11</a:t>
            </a:r>
          </a:p>
          <a:p>
            <a:pPr lvl="2" algn="just">
              <a:spcAft>
                <a:spcPts val="1200"/>
              </a:spcAft>
              <a:buFont typeface="Wingdings" panose="05000000000000000000" pitchFamily="2" charset="2"/>
              <a:buChar char="§"/>
            </a:pPr>
            <a:r>
              <a:rPr lang="en-US" dirty="0"/>
              <a:t>Reads the value using read11()</a:t>
            </a:r>
          </a:p>
          <a:p>
            <a:pPr lvl="2" algn="just">
              <a:spcAft>
                <a:spcPts val="1200"/>
              </a:spcAft>
              <a:buFont typeface="Wingdings" panose="05000000000000000000" pitchFamily="2" charset="2"/>
              <a:buChar char="§"/>
            </a:pPr>
            <a:r>
              <a:rPr lang="en-US" dirty="0"/>
              <a:t>Returns </a:t>
            </a:r>
            <a:r>
              <a:rPr lang="en-US" dirty="0" err="1"/>
              <a:t>DHT.temperature</a:t>
            </a:r>
            <a:endParaRPr lang="en-US" dirty="0"/>
          </a:p>
          <a:p>
            <a:pPr lvl="1" algn="just">
              <a:spcAft>
                <a:spcPts val="1200"/>
              </a:spcAft>
              <a:buFont typeface="Wingdings" panose="05000000000000000000" pitchFamily="2" charset="2"/>
              <a:buChar char="Ø"/>
            </a:pPr>
            <a:r>
              <a:rPr lang="en-US" dirty="0"/>
              <a:t> Display of values</a:t>
            </a:r>
          </a:p>
          <a:p>
            <a:pPr lvl="2" algn="just">
              <a:spcAft>
                <a:spcPts val="1200"/>
              </a:spcAft>
              <a:buFont typeface="Wingdings" panose="05000000000000000000" pitchFamily="2" charset="2"/>
              <a:buChar char="§"/>
            </a:pPr>
            <a:r>
              <a:rPr lang="en-US" dirty="0"/>
              <a:t>Shows title using </a:t>
            </a:r>
            <a:r>
              <a:rPr lang="en-US" dirty="0" err="1"/>
              <a:t>LCD.print</a:t>
            </a:r>
            <a:r>
              <a:rPr lang="en-US" dirty="0"/>
              <a:t>()</a:t>
            </a:r>
          </a:p>
          <a:p>
            <a:pPr lvl="2" algn="just">
              <a:spcAft>
                <a:spcPts val="1200"/>
              </a:spcAft>
              <a:buFont typeface="Wingdings" panose="05000000000000000000" pitchFamily="2" charset="2"/>
              <a:buChar char="§"/>
            </a:pPr>
            <a:r>
              <a:rPr lang="en-US" dirty="0"/>
              <a:t>Displays value returned by temp()</a:t>
            </a:r>
          </a:p>
          <a:p>
            <a:pPr marL="914400" lvl="2" indent="0" algn="just">
              <a:spcAft>
                <a:spcPts val="1200"/>
              </a:spcAft>
              <a:buNone/>
            </a:pPr>
            <a:endParaRPr lang="en-US" dirty="0"/>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5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5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5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5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5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a:bodyPr>
          <a:lstStyle/>
          <a:p>
            <a:pPr algn="just">
              <a:buFont typeface="Wingdings" panose="05000000000000000000" pitchFamily="2" charset="2"/>
              <a:buChar char="Ø"/>
            </a:pPr>
            <a:r>
              <a:rPr lang="en-US" dirty="0"/>
              <a:t> As the second objective was achieved, the use of microprocessors, logic circuits, and switching theory, as well as the teachings in CPE160P, was shown using series connections, pin arrangements, and sensor and LCD activation. </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 To achieve the third objective, the real-time weather monitoring system was successfully constructed and shown in a basic handshaking by applying various variables, modules, and invoking such functions to design an embedded system.</a:t>
            </a:r>
            <a:endParaRPr lang="en-PH" dirty="0"/>
          </a:p>
        </p:txBody>
      </p:sp>
    </p:spTree>
    <p:extLst>
      <p:ext uri="{BB962C8B-B14F-4D97-AF65-F5344CB8AC3E}">
        <p14:creationId xmlns:p14="http://schemas.microsoft.com/office/powerpoint/2010/main" val="2166552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2.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4119</TotalTime>
  <Words>1447</Words>
  <Application>Microsoft Office PowerPoint</Application>
  <PresentationFormat>Widescreen</PresentationFormat>
  <Paragraphs>88</Paragraphs>
  <Slides>12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Open Sans</vt:lpstr>
      <vt:lpstr>Segoe UI</vt:lpstr>
      <vt:lpstr>Times New Roman</vt:lpstr>
      <vt:lpstr>Wingdings</vt:lpstr>
      <vt:lpstr>2_Office Theme</vt:lpstr>
      <vt:lpstr>WEATHER MONITORING</vt:lpstr>
      <vt:lpstr>Introduction: Weather Monitoring</vt:lpstr>
      <vt:lpstr>Weather Monitoring</vt:lpstr>
      <vt:lpstr>Objectives</vt:lpstr>
      <vt:lpstr>Materials</vt:lpstr>
      <vt:lpstr>Materials</vt:lpstr>
      <vt:lpstr>Discussion: Weather Monitoring</vt:lpstr>
      <vt:lpstr>Discussion: Weather Monitoring</vt:lpstr>
      <vt:lpstr>Discussion: Weather Monitoring</vt:lpstr>
      <vt:lpstr>Discussion: Weather Monitoring</vt:lpstr>
      <vt:lpstr>Conclusion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316</cp:revision>
  <dcterms:created xsi:type="dcterms:W3CDTF">2020-06-10T07:30:38Z</dcterms:created>
  <dcterms:modified xsi:type="dcterms:W3CDTF">2023-11-29T13:58:46Z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