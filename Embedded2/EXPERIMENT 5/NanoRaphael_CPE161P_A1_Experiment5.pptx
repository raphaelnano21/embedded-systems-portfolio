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16"/>
  </p:notesMasterIdLst>
  <p:handoutMasterIdLst>
    <p:handoutMasterId r:id="rId17"/>
  </p:handoutMasterIdLst>
  <p:sldIdLst>
    <p:sldId id="881" r:id="rId5"/>
    <p:sldId id="943" r:id="rId6"/>
    <p:sldId id="944" r:id="rId7"/>
    <p:sldId id="945" r:id="rId8"/>
    <p:sldId id="956" r:id="rId9"/>
    <p:sldId id="954" r:id="rId10"/>
    <p:sldId id="960" r:id="rId11"/>
    <p:sldId id="966" r:id="rId12"/>
    <p:sldId id="961" r:id="rId13"/>
    <p:sldId id="949" r:id="rId14"/>
    <p:sldId id="9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onis A. Padilla" initials="DAP" lastIdx="1" clrIdx="0">
    <p:extLst>
      <p:ext uri="{19B8F6BF-5375-455C-9EA6-DF929625EA0E}">
        <p15:presenceInfo xmlns:p15="http://schemas.microsoft.com/office/powerpoint/2012/main" userId="S::dapadilla@mapua.edu.ph::22fd53f7-3725-4d55-add0-dfc6f0ea2c9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50021"/>
    <a:srgbClr val="E1261C"/>
    <a:srgbClr val="F9F9F9"/>
    <a:srgbClr val="CCAF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8" autoAdjust="0"/>
    <p:restoredTop sz="90898" autoAdjust="0"/>
  </p:normalViewPr>
  <p:slideViewPr>
    <p:cSldViewPr snapToGrid="0">
      <p:cViewPr varScale="1">
        <p:scale>
          <a:sx n="81" d="100"/>
          <a:sy n="81" d="100"/>
        </p:scale>
        <p:origin x="835" y="53"/>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24" d="100"/>
          <a:sy n="124" d="100"/>
        </p:scale>
        <p:origin x="409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AF2D7B-A1C4-422F-8BEC-B2ADA9B38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4CB62-60B8-42ED-B41D-1204D6EC34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84004C-1C80-46E0-9113-8DACE1C8170C}" type="datetimeFigureOut">
              <a:rPr lang="en-US" smtClean="0"/>
              <a:t>12/14/2023</a:t>
            </a:fld>
            <a:endParaRPr lang="en-US"/>
          </a:p>
        </p:txBody>
      </p:sp>
      <p:sp>
        <p:nvSpPr>
          <p:cNvPr id="4" name="Footer Placeholder 3">
            <a:extLst>
              <a:ext uri="{FF2B5EF4-FFF2-40B4-BE49-F238E27FC236}">
                <a16:creationId xmlns:a16="http://schemas.microsoft.com/office/drawing/2014/main" id="{CA98C740-DCA6-4653-8D38-299256130F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177E7C8-7A32-480E-8E8D-D8E4B9A035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514B00-5376-4F9D-B569-068DF0409359}" type="slidenum">
              <a:rPr lang="en-US" smtClean="0"/>
              <a:t>‹#›</a:t>
            </a:fld>
            <a:endParaRPr lang="en-US"/>
          </a:p>
        </p:txBody>
      </p:sp>
    </p:spTree>
    <p:extLst>
      <p:ext uri="{BB962C8B-B14F-4D97-AF65-F5344CB8AC3E}">
        <p14:creationId xmlns:p14="http://schemas.microsoft.com/office/powerpoint/2010/main" val="3222357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E3EBA-9407-2244-8D2E-48917138C0BF}" type="datetimeFigureOut">
              <a:rPr lang="en-US" smtClean="0"/>
              <a:t>12/14/2023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B4D408-4DFC-BF47-8641-93FB6C18070A}" type="slidenum">
              <a:rPr lang="en-US" smtClean="0"/>
              <a:t>‹#›</a:t>
            </a:fld>
            <a:endParaRPr lang="en-US"/>
          </a:p>
        </p:txBody>
      </p:sp>
    </p:spTree>
    <p:extLst>
      <p:ext uri="{BB962C8B-B14F-4D97-AF65-F5344CB8AC3E}">
        <p14:creationId xmlns:p14="http://schemas.microsoft.com/office/powerpoint/2010/main" val="482652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B4D408-4DFC-BF47-8641-93FB6C18070A}" type="slidenum">
              <a:rPr lang="en-US" smtClean="0"/>
              <a:t>1</a:t>
            </a:fld>
            <a:endParaRPr lang="en-US"/>
          </a:p>
        </p:txBody>
      </p:sp>
    </p:spTree>
    <p:extLst>
      <p:ext uri="{BB962C8B-B14F-4D97-AF65-F5344CB8AC3E}">
        <p14:creationId xmlns:p14="http://schemas.microsoft.com/office/powerpoint/2010/main" val="1557724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2</a:t>
            </a:fld>
            <a:endParaRPr lang="en-US"/>
          </a:p>
        </p:txBody>
      </p:sp>
    </p:spTree>
    <p:extLst>
      <p:ext uri="{BB962C8B-B14F-4D97-AF65-F5344CB8AC3E}">
        <p14:creationId xmlns:p14="http://schemas.microsoft.com/office/powerpoint/2010/main" val="37962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3</a:t>
            </a:fld>
            <a:endParaRPr lang="en-US"/>
          </a:p>
        </p:txBody>
      </p:sp>
    </p:spTree>
    <p:extLst>
      <p:ext uri="{BB962C8B-B14F-4D97-AF65-F5344CB8AC3E}">
        <p14:creationId xmlns:p14="http://schemas.microsoft.com/office/powerpoint/2010/main" val="3931523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4</a:t>
            </a:fld>
            <a:endParaRPr lang="en-US"/>
          </a:p>
        </p:txBody>
      </p:sp>
    </p:spTree>
    <p:extLst>
      <p:ext uri="{BB962C8B-B14F-4D97-AF65-F5344CB8AC3E}">
        <p14:creationId xmlns:p14="http://schemas.microsoft.com/office/powerpoint/2010/main" val="747230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external library, only the </a:t>
            </a:r>
            <a:r>
              <a:rPr lang="en-US" dirty="0" err="1"/>
              <a:t>SevSeg.h</a:t>
            </a:r>
            <a:r>
              <a:rPr lang="en-US" dirty="0"/>
              <a:t> was used, which is for the seven segment display.</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5</a:t>
            </a:fld>
            <a:endParaRPr lang="en-US"/>
          </a:p>
        </p:txBody>
      </p:sp>
    </p:spTree>
    <p:extLst>
      <p:ext uri="{BB962C8B-B14F-4D97-AF65-F5344CB8AC3E}">
        <p14:creationId xmlns:p14="http://schemas.microsoft.com/office/powerpoint/2010/main" val="1186307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6</a:t>
            </a:fld>
            <a:endParaRPr lang="en-US"/>
          </a:p>
        </p:txBody>
      </p:sp>
    </p:spTree>
    <p:extLst>
      <p:ext uri="{BB962C8B-B14F-4D97-AF65-F5344CB8AC3E}">
        <p14:creationId xmlns:p14="http://schemas.microsoft.com/office/powerpoint/2010/main" val="2422507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7</a:t>
            </a:fld>
            <a:endParaRPr lang="en-US"/>
          </a:p>
        </p:txBody>
      </p:sp>
    </p:spTree>
    <p:extLst>
      <p:ext uri="{BB962C8B-B14F-4D97-AF65-F5344CB8AC3E}">
        <p14:creationId xmlns:p14="http://schemas.microsoft.com/office/powerpoint/2010/main" val="4086808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8</a:t>
            </a:fld>
            <a:endParaRPr lang="en-US"/>
          </a:p>
        </p:txBody>
      </p:sp>
    </p:spTree>
    <p:extLst>
      <p:ext uri="{BB962C8B-B14F-4D97-AF65-F5344CB8AC3E}">
        <p14:creationId xmlns:p14="http://schemas.microsoft.com/office/powerpoint/2010/main" val="3365554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9</a:t>
            </a:fld>
            <a:endParaRPr lang="en-US"/>
          </a:p>
        </p:txBody>
      </p:sp>
    </p:spTree>
    <p:extLst>
      <p:ext uri="{BB962C8B-B14F-4D97-AF65-F5344CB8AC3E}">
        <p14:creationId xmlns:p14="http://schemas.microsoft.com/office/powerpoint/2010/main" val="17486535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14/12/2023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8500487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8435" y="282298"/>
            <a:ext cx="9383339" cy="512401"/>
          </a:xfrm>
        </p:spPr>
        <p:txBody>
          <a:bodyPr>
            <a:noAutofit/>
          </a:bodyPr>
          <a:lstStyle>
            <a:lvl1pPr>
              <a:defRPr sz="3200" b="1">
                <a:solidFill>
                  <a:srgbClr val="FFFF00"/>
                </a:solidFill>
                <a:latin typeface="Segoe UI" panose="020B0502040204020203" pitchFamily="34" charset="0"/>
                <a:cs typeface="Segoe UI" panose="020B0502040204020203" pitchFamily="34" charset="0"/>
              </a:defRPr>
            </a:lvl1pPr>
          </a:lstStyle>
          <a:p>
            <a:r>
              <a:rPr lang="en-US" dirty="0"/>
              <a:t>Click to edit Master title style</a:t>
            </a:r>
            <a:endParaRPr lang="en-PH" dirty="0"/>
          </a:p>
        </p:txBody>
      </p:sp>
      <p:sp>
        <p:nvSpPr>
          <p:cNvPr id="3" name="Content Placeholder 2"/>
          <p:cNvSpPr>
            <a:spLocks noGrp="1"/>
          </p:cNvSpPr>
          <p:nvPr>
            <p:ph idx="1"/>
          </p:nvPr>
        </p:nvSpPr>
        <p:spPr>
          <a:xfrm>
            <a:off x="298154" y="1156700"/>
            <a:ext cx="10564182" cy="4556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14/12/2023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92166501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14/12/2023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62147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14/12/2023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025732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4DB8A35F-61D6-417E-8CA4-3FFFB03A1EF2}" type="datetimeFigureOut">
              <a:rPr lang="en-PH" smtClean="0">
                <a:solidFill>
                  <a:prstClr val="black">
                    <a:tint val="75000"/>
                  </a:prstClr>
                </a:solidFill>
              </a:rPr>
              <a:pPr/>
              <a:t>14/12/2023</a:t>
            </a:fld>
            <a:endParaRPr lang="en-PH">
              <a:solidFill>
                <a:prstClr val="black">
                  <a:tint val="75000"/>
                </a:prstClr>
              </a:solidFill>
            </a:endParaRPr>
          </a:p>
        </p:txBody>
      </p:sp>
      <p:sp>
        <p:nvSpPr>
          <p:cNvPr id="8" name="Footer Placeholder 7"/>
          <p:cNvSpPr>
            <a:spLocks noGrp="1"/>
          </p:cNvSpPr>
          <p:nvPr>
            <p:ph type="ftr" sz="quarter" idx="11"/>
          </p:nvPr>
        </p:nvSpPr>
        <p:spPr/>
        <p:txBody>
          <a:bodyPr/>
          <a:lstStyle/>
          <a:p>
            <a:endParaRPr lang="en-PH">
              <a:solidFill>
                <a:prstClr val="black">
                  <a:tint val="75000"/>
                </a:prstClr>
              </a:solidFill>
            </a:endParaRPr>
          </a:p>
        </p:txBody>
      </p:sp>
      <p:sp>
        <p:nvSpPr>
          <p:cNvPr id="9" name="Slide Number Placeholder 8"/>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20507854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4DB8A35F-61D6-417E-8CA4-3FFFB03A1EF2}" type="datetimeFigureOut">
              <a:rPr lang="en-PH" smtClean="0">
                <a:solidFill>
                  <a:prstClr val="black">
                    <a:tint val="75000"/>
                  </a:prstClr>
                </a:solidFill>
              </a:rPr>
              <a:pPr/>
              <a:t>14/12/2023</a:t>
            </a:fld>
            <a:endParaRPr lang="en-PH">
              <a:solidFill>
                <a:prstClr val="black">
                  <a:tint val="75000"/>
                </a:prstClr>
              </a:solidFill>
            </a:endParaRPr>
          </a:p>
        </p:txBody>
      </p:sp>
      <p:sp>
        <p:nvSpPr>
          <p:cNvPr id="4" name="Footer Placeholder 3"/>
          <p:cNvSpPr>
            <a:spLocks noGrp="1"/>
          </p:cNvSpPr>
          <p:nvPr>
            <p:ph type="ftr" sz="quarter" idx="11"/>
          </p:nvPr>
        </p:nvSpPr>
        <p:spPr/>
        <p:txBody>
          <a:bodyPr/>
          <a:lstStyle/>
          <a:p>
            <a:endParaRPr lang="en-PH">
              <a:solidFill>
                <a:prstClr val="black">
                  <a:tint val="75000"/>
                </a:prstClr>
              </a:solidFill>
            </a:endParaRPr>
          </a:p>
        </p:txBody>
      </p:sp>
      <p:sp>
        <p:nvSpPr>
          <p:cNvPr id="5" name="Slide Number Placeholder 4"/>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06887562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14/12/2023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56304547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14/12/2023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984543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14/12/2023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65130847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14/12/2023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04205280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B8A35F-61D6-417E-8CA4-3FFFB03A1EF2}" type="datetimeFigureOut">
              <a:rPr lang="en-PH" smtClean="0">
                <a:solidFill>
                  <a:prstClr val="black">
                    <a:tint val="75000"/>
                  </a:prstClr>
                </a:solidFill>
              </a:rPr>
              <a:pPr/>
              <a:t>14/12/2023</a:t>
            </a:fld>
            <a:endParaRPr lang="en-PH">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362438672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4" r:id="rId7"/>
    <p:sldLayoutId id="2147483835" r:id="rId8"/>
    <p:sldLayoutId id="2147483836" r:id="rId9"/>
    <p:sldLayoutId id="2147483837" r:id="rId10"/>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stretch>
            <a:fillRect/>
          </a:stretch>
        </a:blipFill>
        <a:effectLst/>
      </p:bgPr>
    </p:bg>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284766" y="846685"/>
            <a:ext cx="6812006" cy="711200"/>
          </a:xfrm>
          <a:prstGeom prst="rect">
            <a:avLst/>
          </a:prstGeom>
          <a:noFill/>
          <a:ln>
            <a:noFill/>
          </a:ln>
        </p:spPr>
        <p:txBody>
          <a:bodyPr wrap="square" lIns="91425" tIns="45700" rIns="91425" bIns="45700" anchor="b" anchorCtr="0">
            <a:noAutofit/>
          </a:bodyPr>
          <a:lstStyle/>
          <a:p>
            <a:pPr lvl="0" indent="-203200" algn="l">
              <a:spcBef>
                <a:spcPts val="0"/>
              </a:spcBef>
              <a:buClr>
                <a:srgbClr val="FFFF00"/>
              </a:buClr>
              <a:buSzPct val="100000"/>
            </a:pPr>
            <a:r>
              <a:rPr lang="en-US" sz="4000" b="1" dirty="0">
                <a:solidFill>
                  <a:srgbClr val="FFFF00"/>
                </a:solidFill>
                <a:latin typeface="Segoe UI" panose="020B0502040204020203" pitchFamily="34" charset="0"/>
                <a:ea typeface="Arial"/>
                <a:cs typeface="Segoe UI" panose="020B0502040204020203" pitchFamily="34" charset="0"/>
                <a:sym typeface="Arial"/>
              </a:rPr>
              <a:t>REAL-TIME CLOCK</a:t>
            </a:r>
            <a:endParaRPr lang="en-PH" sz="4000" b="1" dirty="0">
              <a:solidFill>
                <a:srgbClr val="FFFF00"/>
              </a:solidFill>
              <a:latin typeface="Segoe UI" panose="020B0502040204020203" pitchFamily="34" charset="0"/>
              <a:ea typeface="Arial"/>
              <a:cs typeface="Segoe UI" panose="020B0502040204020203" pitchFamily="34" charset="0"/>
              <a:sym typeface="Arial"/>
            </a:endParaRPr>
          </a:p>
        </p:txBody>
      </p:sp>
      <p:sp>
        <p:nvSpPr>
          <p:cNvPr id="13" name="Shape 13"/>
          <p:cNvSpPr txBox="1">
            <a:spLocks noGrp="1"/>
          </p:cNvSpPr>
          <p:nvPr>
            <p:ph type="subTitle" idx="1"/>
          </p:nvPr>
        </p:nvSpPr>
        <p:spPr>
          <a:xfrm>
            <a:off x="284766" y="1557885"/>
            <a:ext cx="6034670" cy="1095521"/>
          </a:xfrm>
          <a:prstGeom prst="rect">
            <a:avLst/>
          </a:prstGeom>
          <a:noFill/>
          <a:ln>
            <a:noFill/>
          </a:ln>
        </p:spPr>
        <p:txBody>
          <a:bodyPr wrap="square" lIns="91425" tIns="45700" rIns="91425" bIns="45700" anchor="t" anchorCtr="0">
            <a:noAutofit/>
          </a:bodyPr>
          <a:lstStyle/>
          <a:p>
            <a:pPr lvl="0" indent="-127000" algn="l">
              <a:spcBef>
                <a:spcPts val="0"/>
              </a:spcBef>
              <a:buClr>
                <a:schemeClr val="lt1"/>
              </a:buClr>
              <a:buSzPct val="100000"/>
            </a:pPr>
            <a:r>
              <a:rPr lang="en-GB" sz="3200" b="1" dirty="0">
                <a:solidFill>
                  <a:schemeClr val="lt1"/>
                </a:solidFill>
                <a:latin typeface="Segoe UI" panose="020B0502040204020203" pitchFamily="34" charset="0"/>
                <a:ea typeface="Arial"/>
                <a:cs typeface="Segoe UI" panose="020B0502040204020203" pitchFamily="34" charset="0"/>
                <a:sym typeface="Arial"/>
              </a:rPr>
              <a:t>Experiment 5</a:t>
            </a:r>
          </a:p>
        </p:txBody>
      </p:sp>
      <p:sp>
        <p:nvSpPr>
          <p:cNvPr id="8" name="Text Placeholder 2">
            <a:extLst>
              <a:ext uri="{FF2B5EF4-FFF2-40B4-BE49-F238E27FC236}">
                <a16:creationId xmlns:a16="http://schemas.microsoft.com/office/drawing/2014/main" id="{BB0E7A66-65F8-4D09-A464-3721AFFC3633}"/>
              </a:ext>
            </a:extLst>
          </p:cNvPr>
          <p:cNvSpPr txBox="1">
            <a:spLocks/>
          </p:cNvSpPr>
          <p:nvPr/>
        </p:nvSpPr>
        <p:spPr>
          <a:xfrm>
            <a:off x="147702" y="5904349"/>
            <a:ext cx="6949070" cy="770513"/>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Computer Engineering Department</a:t>
            </a:r>
          </a:p>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School of Electrical, Electronics, and Computer Engineering</a:t>
            </a:r>
          </a:p>
        </p:txBody>
      </p:sp>
      <p:pic>
        <p:nvPicPr>
          <p:cNvPr id="3" name="Picture 2" descr="A picture containing object, measure, clock, cup&#10;&#10;Description automatically generated">
            <a:extLst>
              <a:ext uri="{FF2B5EF4-FFF2-40B4-BE49-F238E27FC236}">
                <a16:creationId xmlns:a16="http://schemas.microsoft.com/office/drawing/2014/main" id="{93681FFB-7892-473D-BA03-7308FEE223ED}"/>
              </a:ext>
            </a:extLst>
          </p:cNvPr>
          <p:cNvPicPr>
            <a:picLocks noChangeAspect="1"/>
          </p:cNvPicPr>
          <p:nvPr/>
        </p:nvPicPr>
        <p:blipFill>
          <a:blip r:embed="rId4"/>
          <a:stretch>
            <a:fillRect/>
          </a:stretch>
        </p:blipFill>
        <p:spPr>
          <a:xfrm>
            <a:off x="10017600" y="2834255"/>
            <a:ext cx="1531272" cy="1531272"/>
          </a:xfrm>
          <a:prstGeom prst="rect">
            <a:avLst/>
          </a:prstGeom>
        </p:spPr>
      </p:pic>
      <p:sp>
        <p:nvSpPr>
          <p:cNvPr id="6" name="Text Placeholder 2">
            <a:extLst>
              <a:ext uri="{FF2B5EF4-FFF2-40B4-BE49-F238E27FC236}">
                <a16:creationId xmlns:a16="http://schemas.microsoft.com/office/drawing/2014/main" id="{DE44DF05-07A0-4892-8981-CB6440644483}"/>
              </a:ext>
            </a:extLst>
          </p:cNvPr>
          <p:cNvSpPr txBox="1">
            <a:spLocks/>
          </p:cNvSpPr>
          <p:nvPr/>
        </p:nvSpPr>
        <p:spPr>
          <a:xfrm>
            <a:off x="284766" y="3741893"/>
            <a:ext cx="4191731" cy="1382244"/>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Raphael S. Nano</a:t>
            </a:r>
          </a:p>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CPE161P / A1</a:t>
            </a:r>
          </a:p>
        </p:txBody>
      </p:sp>
    </p:spTree>
    <p:extLst>
      <p:ext uri="{BB962C8B-B14F-4D97-AF65-F5344CB8AC3E}">
        <p14:creationId xmlns:p14="http://schemas.microsoft.com/office/powerpoint/2010/main" val="189877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0BE44-DEA0-C8F1-B220-4F56E5330E48}"/>
              </a:ext>
            </a:extLst>
          </p:cNvPr>
          <p:cNvSpPr>
            <a:spLocks noGrp="1"/>
          </p:cNvSpPr>
          <p:nvPr>
            <p:ph type="title"/>
          </p:nvPr>
        </p:nvSpPr>
        <p:spPr>
          <a:xfrm>
            <a:off x="288435" y="282298"/>
            <a:ext cx="10123648" cy="512401"/>
          </a:xfrm>
        </p:spPr>
        <p:txBody>
          <a:bodyPr/>
          <a:lstStyle/>
          <a:p>
            <a:r>
              <a:rPr lang="en-US" dirty="0"/>
              <a:t>Introduction: Real-Time Clock</a:t>
            </a:r>
            <a:endParaRPr lang="en-PH" dirty="0"/>
          </a:p>
        </p:txBody>
      </p:sp>
      <p:sp>
        <p:nvSpPr>
          <p:cNvPr id="3" name="Content Placeholder 2">
            <a:extLst>
              <a:ext uri="{FF2B5EF4-FFF2-40B4-BE49-F238E27FC236}">
                <a16:creationId xmlns:a16="http://schemas.microsoft.com/office/drawing/2014/main" id="{A1D19F78-2EA6-6CC1-752D-C8DA5962ED05}"/>
              </a:ext>
            </a:extLst>
          </p:cNvPr>
          <p:cNvSpPr>
            <a:spLocks noGrp="1"/>
          </p:cNvSpPr>
          <p:nvPr>
            <p:ph idx="1"/>
          </p:nvPr>
        </p:nvSpPr>
        <p:spPr/>
        <p:txBody>
          <a:bodyPr>
            <a:normAutofit/>
          </a:bodyPr>
          <a:lstStyle/>
          <a:p>
            <a:pPr algn="just">
              <a:buFont typeface="Wingdings" panose="05000000000000000000" pitchFamily="2" charset="2"/>
              <a:buChar char="Ø"/>
            </a:pPr>
            <a:r>
              <a:rPr lang="en-US" dirty="0"/>
              <a:t> A clock is just an instrument for measuring time</a:t>
            </a:r>
          </a:p>
          <a:p>
            <a:pPr algn="just">
              <a:buFont typeface="Wingdings" panose="05000000000000000000" pitchFamily="2" charset="2"/>
              <a:buChar char="Ø"/>
            </a:pPr>
            <a:r>
              <a:rPr lang="en-US" dirty="0"/>
              <a:t> It can be digital or analog</a:t>
            </a:r>
          </a:p>
          <a:p>
            <a:pPr algn="just">
              <a:buFont typeface="Wingdings" panose="05000000000000000000" pitchFamily="2" charset="2"/>
              <a:buChar char="Ø"/>
            </a:pPr>
            <a:r>
              <a:rPr lang="en-US" dirty="0"/>
              <a:t> A real-time clock moves at regular intervals indicated by seconds, minutes, and hours, and it is synchronized with the world’s standard time</a:t>
            </a:r>
            <a:endParaRPr lang="en-PH" dirty="0"/>
          </a:p>
        </p:txBody>
      </p:sp>
    </p:spTree>
    <p:extLst>
      <p:ext uri="{BB962C8B-B14F-4D97-AF65-F5344CB8AC3E}">
        <p14:creationId xmlns:p14="http://schemas.microsoft.com/office/powerpoint/2010/main" val="1438935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A6651-8300-9B1E-D82E-D9BDEDD2C7B5}"/>
              </a:ext>
            </a:extLst>
          </p:cNvPr>
          <p:cNvSpPr>
            <a:spLocks noGrp="1"/>
          </p:cNvSpPr>
          <p:nvPr>
            <p:ph type="title"/>
          </p:nvPr>
        </p:nvSpPr>
        <p:spPr/>
        <p:txBody>
          <a:bodyPr/>
          <a:lstStyle/>
          <a:p>
            <a:r>
              <a:rPr lang="en-US" dirty="0"/>
              <a:t>Objectives</a:t>
            </a:r>
            <a:endParaRPr lang="en-PH" dirty="0"/>
          </a:p>
        </p:txBody>
      </p:sp>
      <p:sp>
        <p:nvSpPr>
          <p:cNvPr id="3" name="Content Placeholder 2">
            <a:extLst>
              <a:ext uri="{FF2B5EF4-FFF2-40B4-BE49-F238E27FC236}">
                <a16:creationId xmlns:a16="http://schemas.microsoft.com/office/drawing/2014/main" id="{024FD49A-96B4-5E3D-262C-6DE9E8C540E0}"/>
              </a:ext>
            </a:extLst>
          </p:cNvPr>
          <p:cNvSpPr>
            <a:spLocks noGrp="1"/>
          </p:cNvSpPr>
          <p:nvPr>
            <p:ph idx="1"/>
          </p:nvPr>
        </p:nvSpPr>
        <p:spPr>
          <a:xfrm>
            <a:off x="298153" y="1156700"/>
            <a:ext cx="11528661" cy="4556765"/>
          </a:xfrm>
        </p:spPr>
        <p:txBody>
          <a:bodyPr>
            <a:normAutofit/>
          </a:bodyPr>
          <a:lstStyle/>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demonstrate how a real-time clock works (hours-minutes-seconds).</a:t>
            </a: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apply what you have learned in logic circuits and switching theory, microprocessors, and CPE160P.</a:t>
            </a: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to apply real-time embedded system using </a:t>
            </a:r>
            <a:r>
              <a:rPr lang="en-US" sz="2400" dirty="0" err="1">
                <a:solidFill>
                  <a:srgbClr val="262626"/>
                </a:solidFill>
                <a:effectLst/>
                <a:latin typeface="Open Sans" panose="020B0606030504020204" pitchFamily="34" charset="0"/>
                <a:ea typeface="Times New Roman" panose="02020603050405020304" pitchFamily="18" charset="0"/>
              </a:rPr>
              <a:t>arduino</a:t>
            </a:r>
            <a:r>
              <a:rPr lang="en-US" sz="2400" dirty="0">
                <a:solidFill>
                  <a:srgbClr val="262626"/>
                </a:solidFill>
                <a:effectLst/>
                <a:latin typeface="Open Sans" panose="020B0606030504020204" pitchFamily="34" charset="0"/>
                <a:ea typeface="Times New Roman" panose="02020603050405020304" pitchFamily="18" charset="0"/>
              </a:rPr>
              <a:t> kit.</a:t>
            </a:r>
            <a:endParaRPr lang="en-PH" sz="3600" dirty="0"/>
          </a:p>
        </p:txBody>
      </p:sp>
    </p:spTree>
    <p:extLst>
      <p:ext uri="{BB962C8B-B14F-4D97-AF65-F5344CB8AC3E}">
        <p14:creationId xmlns:p14="http://schemas.microsoft.com/office/powerpoint/2010/main" val="3318308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sz="2400" dirty="0">
                <a:solidFill>
                  <a:srgbClr val="262626"/>
                </a:solidFill>
                <a:effectLst/>
                <a:latin typeface="Open Sans" panose="020B0606030504020204" pitchFamily="34" charset="0"/>
                <a:ea typeface="Times New Roman" panose="02020603050405020304" pitchFamily="18" charset="0"/>
              </a:rPr>
              <a:t>Hardware</a:t>
            </a:r>
          </a:p>
          <a:p>
            <a:pPr marL="0" indent="0">
              <a:buNone/>
            </a:pP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t>
            </a:r>
            <a:r>
              <a:rPr lang="en-PH" sz="2400" dirty="0">
                <a:solidFill>
                  <a:srgbClr val="262626"/>
                </a:solidFill>
                <a:effectLst/>
                <a:latin typeface="Open Sans" panose="020B0606030504020204" pitchFamily="34" charset="0"/>
                <a:ea typeface="Open Sans" panose="020B0606030504020204" pitchFamily="34" charset="0"/>
                <a:cs typeface="Open Sans" panose="020B0606030504020204" pitchFamily="34" charset="0"/>
              </a:rPr>
              <a:t>Arduino Uno</a:t>
            </a:r>
          </a:p>
          <a:p>
            <a:pPr>
              <a:buFont typeface="Wingdings" panose="05000000000000000000" pitchFamily="2" charset="2"/>
              <a:buChar char="Ø"/>
            </a:pPr>
            <a:r>
              <a:rPr lang="en-PH" sz="2400" dirty="0">
                <a:solidFill>
                  <a:srgbClr val="262626"/>
                </a:solidFill>
                <a:latin typeface="Open Sans" panose="020B0606030504020204" pitchFamily="34" charset="0"/>
                <a:ea typeface="Open Sans" panose="020B0606030504020204" pitchFamily="34" charset="0"/>
                <a:cs typeface="Open Sans" panose="020B0606030504020204" pitchFamily="34" charset="0"/>
              </a:rPr>
              <a:t> 4-digit Seven Segment Display</a:t>
            </a:r>
          </a:p>
          <a:p>
            <a:pPr>
              <a:buFont typeface="Wingdings" panose="05000000000000000000" pitchFamily="2" charset="2"/>
              <a:buChar char="Ø"/>
            </a:pPr>
            <a:r>
              <a:rPr lang="en-PH" sz="2400" dirty="0">
                <a:solidFill>
                  <a:srgbClr val="262626"/>
                </a:solidFill>
                <a:latin typeface="Open Sans" panose="020B0606030504020204" pitchFamily="34" charset="0"/>
                <a:ea typeface="Open Sans" panose="020B0606030504020204" pitchFamily="34" charset="0"/>
                <a:cs typeface="Open Sans" panose="020B0606030504020204" pitchFamily="34" charset="0"/>
              </a:rPr>
              <a:t> Liquid Crystal Display</a:t>
            </a:r>
          </a:p>
          <a:p>
            <a:pPr>
              <a:buFont typeface="Wingdings" panose="05000000000000000000" pitchFamily="2" charset="2"/>
              <a:buChar char="Ø"/>
            </a:pPr>
            <a:r>
              <a:rPr lang="en-PH" sz="2400" dirty="0">
                <a:solidFill>
                  <a:srgbClr val="262626"/>
                </a:solidFill>
                <a:latin typeface="Open Sans" panose="020B0606030504020204" pitchFamily="34" charset="0"/>
                <a:ea typeface="Open Sans" panose="020B0606030504020204" pitchFamily="34" charset="0"/>
                <a:cs typeface="Open Sans" panose="020B0606030504020204" pitchFamily="34" charset="0"/>
              </a:rPr>
              <a:t> 5 Push Buttons</a:t>
            </a:r>
            <a:endParaRPr lang="en-PH" sz="2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3069FF89-F6DC-4C55-DCFE-F7F69C1D0BEE}"/>
              </a:ext>
            </a:extLst>
          </p:cNvPr>
          <p:cNvPicPr>
            <a:picLocks noChangeAspect="1"/>
          </p:cNvPicPr>
          <p:nvPr/>
        </p:nvPicPr>
        <p:blipFill>
          <a:blip r:embed="rId3">
            <a:extLst>
              <a:ext uri="{28A0092B-C50C-407E-A947-70E740481C1C}">
                <a14:useLocalDpi xmlns:a14="http://schemas.microsoft.com/office/drawing/2010/main" val="0"/>
              </a:ext>
            </a:extLst>
          </a:blip>
          <a:srcRect l="3067" r="3067"/>
          <a:stretch/>
        </p:blipFill>
        <p:spPr>
          <a:xfrm>
            <a:off x="5203597" y="1602677"/>
            <a:ext cx="6080289" cy="3652645"/>
          </a:xfrm>
          <a:prstGeom prst="rect">
            <a:avLst/>
          </a:prstGeom>
        </p:spPr>
      </p:pic>
    </p:spTree>
    <p:extLst>
      <p:ext uri="{BB962C8B-B14F-4D97-AF65-F5344CB8AC3E}">
        <p14:creationId xmlns:p14="http://schemas.microsoft.com/office/powerpoint/2010/main" val="99400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sz="2400" dirty="0">
                <a:solidFill>
                  <a:srgbClr val="262626"/>
                </a:solidFill>
                <a:effectLst/>
                <a:latin typeface="Open Sans" panose="020B0606030504020204" pitchFamily="34" charset="0"/>
                <a:ea typeface="Times New Roman" panose="02020603050405020304" pitchFamily="18" charset="0"/>
              </a:rPr>
              <a:t>Software Libraries</a:t>
            </a:r>
          </a:p>
          <a:p>
            <a:pPr marL="0" indent="0">
              <a:buNone/>
            </a:pP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LiquidCrystal_I2C.h</a:t>
            </a: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t>
            </a:r>
            <a:r>
              <a:rPr lang="en-PH" sz="2400" dirty="0" err="1">
                <a:solidFill>
                  <a:srgbClr val="262626"/>
                </a:solidFill>
                <a:effectLst/>
                <a:latin typeface="Open Sans" panose="020B0606030504020204" pitchFamily="34" charset="0"/>
                <a:ea typeface="Times New Roman" panose="02020603050405020304" pitchFamily="18" charset="0"/>
              </a:rPr>
              <a:t>SevSeg.h</a:t>
            </a:r>
            <a:endParaRPr lang="en-PH" sz="24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endParaRPr lang="en-PH" dirty="0"/>
          </a:p>
        </p:txBody>
      </p:sp>
      <p:pic>
        <p:nvPicPr>
          <p:cNvPr id="5" name="Picture 4">
            <a:extLst>
              <a:ext uri="{FF2B5EF4-FFF2-40B4-BE49-F238E27FC236}">
                <a16:creationId xmlns:a16="http://schemas.microsoft.com/office/drawing/2014/main" id="{5508B0CE-E4C5-494E-1379-CD9ED3455E3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564001" y="2903456"/>
            <a:ext cx="5420884" cy="906084"/>
          </a:xfrm>
          <a:prstGeom prst="rect">
            <a:avLst/>
          </a:prstGeom>
        </p:spPr>
      </p:pic>
    </p:spTree>
    <p:extLst>
      <p:ext uri="{BB962C8B-B14F-4D97-AF65-F5344CB8AC3E}">
        <p14:creationId xmlns:p14="http://schemas.microsoft.com/office/powerpoint/2010/main" val="4214434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Real-Time Clock</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6" y="1186177"/>
            <a:ext cx="6781667" cy="5085227"/>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The current hour, minute, and second is being displayed for the output</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With the use of the 5 push buttons, the user may manually adjust the clock to the current time.</a:t>
            </a:r>
          </a:p>
        </p:txBody>
      </p:sp>
      <p:pic>
        <p:nvPicPr>
          <p:cNvPr id="5" name="Picture 4">
            <a:extLst>
              <a:ext uri="{FF2B5EF4-FFF2-40B4-BE49-F238E27FC236}">
                <a16:creationId xmlns:a16="http://schemas.microsoft.com/office/drawing/2014/main" id="{D962B410-FD9E-B2E0-7978-B77892E88A82}"/>
              </a:ext>
            </a:extLst>
          </p:cNvPr>
          <p:cNvPicPr>
            <a:picLocks noChangeAspect="1"/>
          </p:cNvPicPr>
          <p:nvPr/>
        </p:nvPicPr>
        <p:blipFill>
          <a:blip r:embed="rId3">
            <a:extLst>
              <a:ext uri="{28A0092B-C50C-407E-A947-70E740481C1C}">
                <a14:useLocalDpi xmlns:a14="http://schemas.microsoft.com/office/drawing/2010/main" val="0"/>
              </a:ext>
            </a:extLst>
          </a:blip>
          <a:srcRect l="12287" r="12287"/>
          <a:stretch/>
        </p:blipFill>
        <p:spPr>
          <a:xfrm>
            <a:off x="7284812" y="1803163"/>
            <a:ext cx="4344505" cy="3251674"/>
          </a:xfrm>
          <a:prstGeom prst="rect">
            <a:avLst/>
          </a:prstGeom>
        </p:spPr>
      </p:pic>
    </p:spTree>
    <p:extLst>
      <p:ext uri="{BB962C8B-B14F-4D97-AF65-F5344CB8AC3E}">
        <p14:creationId xmlns:p14="http://schemas.microsoft.com/office/powerpoint/2010/main" val="42193910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Real-Time Clock</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1065229"/>
            <a:ext cx="6249382" cy="5156462"/>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Three sections:</a:t>
            </a:r>
          </a:p>
          <a:p>
            <a:pPr lvl="1" algn="just">
              <a:spcAft>
                <a:spcPts val="600"/>
              </a:spcAft>
              <a:buFont typeface="Courier New" panose="02070309020205020404" pitchFamily="49" charset="0"/>
              <a:buChar char="o"/>
            </a:pPr>
            <a:r>
              <a:rPr lang="en-US" sz="2000" dirty="0">
                <a:latin typeface="Open Sans" panose="020B0606030504020204" pitchFamily="34" charset="0"/>
                <a:ea typeface="Open Sans" panose="020B0606030504020204" pitchFamily="34" charset="0"/>
                <a:cs typeface="Open Sans" panose="020B0606030504020204" pitchFamily="34" charset="0"/>
              </a:rPr>
              <a:t> Constant ticking of clock</a:t>
            </a:r>
          </a:p>
          <a:p>
            <a:pPr lvl="1" algn="just">
              <a:spcAft>
                <a:spcPts val="600"/>
              </a:spcAft>
              <a:buFont typeface="Courier New" panose="02070309020205020404" pitchFamily="49" charset="0"/>
              <a:buChar char="o"/>
            </a:pPr>
            <a:r>
              <a:rPr lang="en-US" sz="2000" dirty="0">
                <a:latin typeface="Open Sans" panose="020B0606030504020204" pitchFamily="34" charset="0"/>
                <a:ea typeface="Open Sans" panose="020B0606030504020204" pitchFamily="34" charset="0"/>
                <a:cs typeface="Open Sans" panose="020B0606030504020204" pitchFamily="34" charset="0"/>
              </a:rPr>
              <a:t> Increasing minutes or hours</a:t>
            </a:r>
          </a:p>
          <a:p>
            <a:pPr lvl="1" algn="just">
              <a:spcAft>
                <a:spcPts val="600"/>
              </a:spcAft>
              <a:buFont typeface="Courier New" panose="02070309020205020404" pitchFamily="49" charset="0"/>
              <a:buChar char="o"/>
            </a:pPr>
            <a:r>
              <a:rPr lang="en-US" sz="2000" dirty="0">
                <a:latin typeface="Open Sans" panose="020B0606030504020204" pitchFamily="34" charset="0"/>
                <a:ea typeface="Open Sans" panose="020B0606030504020204" pitchFamily="34" charset="0"/>
                <a:cs typeface="Open Sans" panose="020B0606030504020204" pitchFamily="34" charset="0"/>
              </a:rPr>
              <a:t> Decreasing minutes or hours</a:t>
            </a:r>
          </a:p>
          <a:p>
            <a:pPr lvl="1" algn="just">
              <a:spcAft>
                <a:spcPts val="600"/>
              </a:spcAft>
              <a:buFont typeface="Courier New" panose="02070309020205020404" pitchFamily="49" charset="0"/>
              <a:buChar char="o"/>
            </a:pPr>
            <a:endParaRPr lang="en-US" sz="20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Output has a tick rate of 1000 </a:t>
            </a:r>
            <a:r>
              <a:rPr lang="en-US" sz="2400" dirty="0" err="1">
                <a:latin typeface="Open Sans" panose="020B0606030504020204" pitchFamily="34" charset="0"/>
                <a:ea typeface="Open Sans" panose="020B0606030504020204" pitchFamily="34" charset="0"/>
                <a:cs typeface="Open Sans" panose="020B0606030504020204" pitchFamily="34" charset="0"/>
              </a:rPr>
              <a:t>ms</a:t>
            </a: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Seconds are displayed on the LCD</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Minutes should increase from 1:00 to 1:01, and so on, in the SSD</a:t>
            </a:r>
          </a:p>
        </p:txBody>
      </p:sp>
      <p:pic>
        <p:nvPicPr>
          <p:cNvPr id="5" name="Picture 4">
            <a:extLst>
              <a:ext uri="{FF2B5EF4-FFF2-40B4-BE49-F238E27FC236}">
                <a16:creationId xmlns:a16="http://schemas.microsoft.com/office/drawing/2014/main" id="{3923468B-A30C-019A-BB81-EFF87C6B1B14}"/>
              </a:ext>
            </a:extLst>
          </p:cNvPr>
          <p:cNvPicPr>
            <a:picLocks noChangeAspect="1"/>
          </p:cNvPicPr>
          <p:nvPr/>
        </p:nvPicPr>
        <p:blipFill>
          <a:blip r:embed="rId3"/>
          <a:stretch>
            <a:fillRect/>
          </a:stretch>
        </p:blipFill>
        <p:spPr>
          <a:xfrm>
            <a:off x="8292434" y="538498"/>
            <a:ext cx="2758679" cy="5845047"/>
          </a:xfrm>
          <a:prstGeom prst="rect">
            <a:avLst/>
          </a:prstGeom>
        </p:spPr>
      </p:pic>
    </p:spTree>
    <p:extLst>
      <p:ext uri="{BB962C8B-B14F-4D97-AF65-F5344CB8AC3E}">
        <p14:creationId xmlns:p14="http://schemas.microsoft.com/office/powerpoint/2010/main" val="2726006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2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2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2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Real-Time Clock</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1065229"/>
            <a:ext cx="6249382" cy="5156462"/>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a:t>
            </a:r>
            <a:r>
              <a:rPr lang="en-US" sz="2400" dirty="0" err="1">
                <a:latin typeface="Open Sans" panose="020B0606030504020204" pitchFamily="34" charset="0"/>
                <a:ea typeface="Open Sans" panose="020B0606030504020204" pitchFamily="34" charset="0"/>
                <a:cs typeface="Open Sans" panose="020B0606030504020204" pitchFamily="34" charset="0"/>
              </a:rPr>
              <a:t>numarrgen</a:t>
            </a:r>
            <a:r>
              <a:rPr lang="en-US" sz="2400" dirty="0">
                <a:latin typeface="Open Sans" panose="020B0606030504020204" pitchFamily="34" charset="0"/>
                <a:ea typeface="Open Sans" panose="020B0606030504020204" pitchFamily="34" charset="0"/>
                <a:cs typeface="Open Sans" panose="020B0606030504020204" pitchFamily="34" charset="0"/>
              </a:rPr>
              <a:t>() – number array generator</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Stored numbers would be shown in the SSD</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The delay was achieved by utilizing the </a:t>
            </a:r>
            <a:r>
              <a:rPr lang="en-US" sz="2400" dirty="0" err="1">
                <a:latin typeface="Open Sans" panose="020B0606030504020204" pitchFamily="34" charset="0"/>
                <a:ea typeface="Open Sans" panose="020B0606030504020204" pitchFamily="34" charset="0"/>
                <a:cs typeface="Open Sans" panose="020B0606030504020204" pitchFamily="34" charset="0"/>
              </a:rPr>
              <a:t>millis</a:t>
            </a:r>
            <a:r>
              <a:rPr lang="en-US" sz="2400" dirty="0">
                <a:latin typeface="Open Sans" panose="020B0606030504020204" pitchFamily="34" charset="0"/>
                <a:ea typeface="Open Sans" panose="020B0606030504020204" pitchFamily="34" charset="0"/>
                <a:cs typeface="Open Sans" panose="020B0606030504020204" pitchFamily="34" charset="0"/>
              </a:rPr>
              <a:t>() method</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It assures the program-based timing of a minute delay without compromising the output in the SSD</a:t>
            </a:r>
          </a:p>
        </p:txBody>
      </p:sp>
      <p:pic>
        <p:nvPicPr>
          <p:cNvPr id="5" name="Picture 4">
            <a:extLst>
              <a:ext uri="{FF2B5EF4-FFF2-40B4-BE49-F238E27FC236}">
                <a16:creationId xmlns:a16="http://schemas.microsoft.com/office/drawing/2014/main" id="{98569F5A-C678-35EE-A85D-09BEFFE0880F}"/>
              </a:ext>
            </a:extLst>
          </p:cNvPr>
          <p:cNvPicPr>
            <a:picLocks noChangeAspect="1"/>
          </p:cNvPicPr>
          <p:nvPr/>
        </p:nvPicPr>
        <p:blipFill>
          <a:blip r:embed="rId3"/>
          <a:stretch>
            <a:fillRect/>
          </a:stretch>
        </p:blipFill>
        <p:spPr>
          <a:xfrm>
            <a:off x="7429644" y="1078045"/>
            <a:ext cx="3662562" cy="2136495"/>
          </a:xfrm>
          <a:prstGeom prst="rect">
            <a:avLst/>
          </a:prstGeom>
        </p:spPr>
      </p:pic>
      <p:pic>
        <p:nvPicPr>
          <p:cNvPr id="8" name="Picture 7">
            <a:extLst>
              <a:ext uri="{FF2B5EF4-FFF2-40B4-BE49-F238E27FC236}">
                <a16:creationId xmlns:a16="http://schemas.microsoft.com/office/drawing/2014/main" id="{56D86C31-73B7-38CD-BE00-B50B67F68AD6}"/>
              </a:ext>
            </a:extLst>
          </p:cNvPr>
          <p:cNvPicPr>
            <a:picLocks noChangeAspect="1"/>
          </p:cNvPicPr>
          <p:nvPr/>
        </p:nvPicPr>
        <p:blipFill>
          <a:blip r:embed="rId4"/>
          <a:stretch>
            <a:fillRect/>
          </a:stretch>
        </p:blipFill>
        <p:spPr>
          <a:xfrm>
            <a:off x="7429643" y="3643460"/>
            <a:ext cx="3661200" cy="1782286"/>
          </a:xfrm>
          <a:prstGeom prst="rect">
            <a:avLst/>
          </a:prstGeom>
        </p:spPr>
      </p:pic>
    </p:spTree>
    <p:extLst>
      <p:ext uri="{BB962C8B-B14F-4D97-AF65-F5344CB8AC3E}">
        <p14:creationId xmlns:p14="http://schemas.microsoft.com/office/powerpoint/2010/main" val="19589093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Real-Time Clock</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7" y="1244339"/>
            <a:ext cx="6249382" cy="4651868"/>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The seconds of the clock continues to tick and is not allowed to be adjusted.</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The fifth button enables the buttons for adjustment</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First button increments hours</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Second button decrements hours</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Third button increments minutes</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Fourth button decrements minutes</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Code uses multiple if-else statements in verifying the pressed button</a:t>
            </a:r>
          </a:p>
        </p:txBody>
      </p:sp>
      <p:pic>
        <p:nvPicPr>
          <p:cNvPr id="6" name="Picture 5">
            <a:extLst>
              <a:ext uri="{FF2B5EF4-FFF2-40B4-BE49-F238E27FC236}">
                <a16:creationId xmlns:a16="http://schemas.microsoft.com/office/drawing/2014/main" id="{9D8CBD40-D8A3-FD23-8EC8-7DBFBAAADF1A}"/>
              </a:ext>
            </a:extLst>
          </p:cNvPr>
          <p:cNvPicPr>
            <a:picLocks noChangeAspect="1"/>
          </p:cNvPicPr>
          <p:nvPr/>
        </p:nvPicPr>
        <p:blipFill>
          <a:blip r:embed="rId3"/>
          <a:stretch>
            <a:fillRect/>
          </a:stretch>
        </p:blipFill>
        <p:spPr>
          <a:xfrm>
            <a:off x="8292434" y="538498"/>
            <a:ext cx="2758679" cy="5845047"/>
          </a:xfrm>
          <a:prstGeom prst="rect">
            <a:avLst/>
          </a:prstGeom>
        </p:spPr>
      </p:pic>
    </p:spTree>
    <p:extLst>
      <p:ext uri="{BB962C8B-B14F-4D97-AF65-F5344CB8AC3E}">
        <p14:creationId xmlns:p14="http://schemas.microsoft.com/office/powerpoint/2010/main" val="17899330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20963" cy="5062945"/>
          </a:xfrm>
        </p:spPr>
        <p:txBody>
          <a:bodyPr>
            <a:normAutofit/>
          </a:bodyPr>
          <a:lstStyle/>
          <a:p>
            <a:pPr marL="0" indent="0" algn="just">
              <a:spcAft>
                <a:spcPts val="1200"/>
              </a:spcAft>
              <a:buNone/>
            </a:pPr>
            <a:r>
              <a:rPr lang="en-US" dirty="0">
                <a:latin typeface="Open Sans" panose="020B0606030504020204" pitchFamily="34" charset="0"/>
                <a:ea typeface="Open Sans" panose="020B0606030504020204" pitchFamily="34" charset="0"/>
                <a:cs typeface="Open Sans" panose="020B0606030504020204" pitchFamily="34" charset="0"/>
              </a:rPr>
              <a:t>The real-time clock works in 3 functions:</a:t>
            </a:r>
          </a:p>
          <a:p>
            <a:pPr marL="914400" lvl="1" indent="-457200" algn="just">
              <a:spcAft>
                <a:spcPts val="1200"/>
              </a:spcAft>
              <a:buAutoNum type="arabicPeriod"/>
            </a:pPr>
            <a:r>
              <a:rPr lang="en-US" dirty="0">
                <a:latin typeface="Open Sans" panose="020B0606030504020204" pitchFamily="34" charset="0"/>
                <a:ea typeface="Open Sans" panose="020B0606030504020204" pitchFamily="34" charset="0"/>
                <a:cs typeface="Open Sans" panose="020B0606030504020204" pitchFamily="34" charset="0"/>
              </a:rPr>
              <a:t>Constant ticking of time in the SSD and LCD</a:t>
            </a:r>
          </a:p>
          <a:p>
            <a:pPr lvl="2" algn="just">
              <a:spcAft>
                <a:spcPts val="1200"/>
              </a:spcAft>
            </a:pPr>
            <a:r>
              <a:rPr lang="en-US" dirty="0">
                <a:latin typeface="Open Sans" panose="020B0606030504020204" pitchFamily="34" charset="0"/>
                <a:ea typeface="Open Sans" panose="020B0606030504020204" pitchFamily="34" charset="0"/>
                <a:cs typeface="Open Sans" panose="020B0606030504020204" pitchFamily="34" charset="0"/>
              </a:rPr>
              <a:t>Clock is continuous and is synchronized with the seconds, minutes, and hours of a standard clock</a:t>
            </a:r>
          </a:p>
          <a:p>
            <a:pPr marL="914400" lvl="1" indent="-457200" algn="just">
              <a:spcAft>
                <a:spcPts val="1200"/>
              </a:spcAft>
              <a:buFont typeface="+mj-lt"/>
              <a:buAutoNum type="arabicPeriod"/>
            </a:pPr>
            <a:r>
              <a:rPr lang="en-US" dirty="0">
                <a:latin typeface="Open Sans" panose="020B0606030504020204" pitchFamily="34" charset="0"/>
                <a:ea typeface="Open Sans" panose="020B0606030504020204" pitchFamily="34" charset="0"/>
                <a:cs typeface="Open Sans" panose="020B0606030504020204" pitchFamily="34" charset="0"/>
              </a:rPr>
              <a:t>Incrementing of Minutes and Hours</a:t>
            </a:r>
          </a:p>
          <a:p>
            <a:pPr marL="914400" lvl="1" indent="-457200" algn="just">
              <a:spcAft>
                <a:spcPts val="1200"/>
              </a:spcAft>
              <a:buFont typeface="+mj-lt"/>
              <a:buAutoNum type="arabicPeriod"/>
            </a:pPr>
            <a:r>
              <a:rPr lang="en-US" dirty="0">
                <a:latin typeface="Open Sans" panose="020B0606030504020204" pitchFamily="34" charset="0"/>
                <a:ea typeface="Open Sans" panose="020B0606030504020204" pitchFamily="34" charset="0"/>
                <a:cs typeface="Open Sans" panose="020B0606030504020204" pitchFamily="34" charset="0"/>
              </a:rPr>
              <a:t>Decrementing of Minutes and Hours</a:t>
            </a:r>
          </a:p>
          <a:p>
            <a:pPr marL="914400" lvl="1" indent="-457200" algn="just">
              <a:spcAft>
                <a:spcPts val="1200"/>
              </a:spcAft>
              <a:buAutoNum type="arabicPeriod"/>
            </a:pPr>
            <a:endParaRPr lang="en-PH"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5645853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20963" cy="5062945"/>
          </a:xfrm>
        </p:spPr>
        <p:txBody>
          <a:bodyPr>
            <a:normAutofit/>
          </a:bodyPr>
          <a:lstStyle/>
          <a:p>
            <a:pPr algn="just">
              <a:spcAft>
                <a:spcPts val="1200"/>
              </a:spcAft>
              <a:buFont typeface="Wingdings" panose="05000000000000000000" pitchFamily="2" charset="2"/>
              <a:buChar char="Ø"/>
            </a:pPr>
            <a:r>
              <a:rPr lang="en-US" dirty="0"/>
              <a:t> Proven by the success in creating the real-time clock with the use of various functions, real-time modules, and circuit connections, topics in logic circuits and switching theory, microprocessors, and especially CPE160P were fully implemented.</a:t>
            </a:r>
          </a:p>
          <a:p>
            <a:pPr algn="just">
              <a:spcAft>
                <a:spcPts val="1200"/>
              </a:spcAft>
              <a:buFont typeface="Wingdings" panose="05000000000000000000" pitchFamily="2" charset="2"/>
              <a:buChar char="Ø"/>
            </a:pPr>
            <a:r>
              <a:rPr lang="en-US"/>
              <a:t> Hence, a digital clock was created and is operating appropriately as an application of a real-time embedded system.</a:t>
            </a:r>
            <a:endParaRPr lang="en-PH" dirty="0"/>
          </a:p>
        </p:txBody>
      </p:sp>
    </p:spTree>
    <p:extLst>
      <p:ext uri="{BB962C8B-B14F-4D97-AF65-F5344CB8AC3E}">
        <p14:creationId xmlns:p14="http://schemas.microsoft.com/office/powerpoint/2010/main" val="21665525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90711d2-37bb-4b26-8b23-51c02972fe26">
      <UserInfo>
        <DisplayName/>
        <AccountId xsi:nil="true"/>
        <AccountType/>
      </UserInfo>
    </SharedWithUsers>
    <lcf76f155ced4ddcb4097134ff3c332f xmlns="1ea434b8-4dc5-44f7-bb31-0866ee440822">
      <Terms xmlns="http://schemas.microsoft.com/office/infopath/2007/PartnerControls"/>
    </lcf76f155ced4ddcb4097134ff3c332f>
    <TaxCatchAll xmlns="d90711d2-37bb-4b26-8b23-51c02972fe2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045B03F0E29F341B8FA8A02C69678F2" ma:contentTypeVersion="16" ma:contentTypeDescription="Create a new document." ma:contentTypeScope="" ma:versionID="573093756d776e3dbf04c8eb240bd85a">
  <xsd:schema xmlns:xsd="http://www.w3.org/2001/XMLSchema" xmlns:xs="http://www.w3.org/2001/XMLSchema" xmlns:p="http://schemas.microsoft.com/office/2006/metadata/properties" xmlns:ns2="1ea434b8-4dc5-44f7-bb31-0866ee440822" xmlns:ns3="d90711d2-37bb-4b26-8b23-51c02972fe26" targetNamespace="http://schemas.microsoft.com/office/2006/metadata/properties" ma:root="true" ma:fieldsID="00a48d9f954b4b23e62df43abd264511" ns2:_="" ns3:_="">
    <xsd:import namespace="1ea434b8-4dc5-44f7-bb31-0866ee440822"/>
    <xsd:import namespace="d90711d2-37bb-4b26-8b23-51c02972fe2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2:MediaServiceLocation"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a434b8-4dc5-44f7-bb31-0866ee4408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08379bb-b442-46b3-b8c0-8817e2eba01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90711d2-37bb-4b26-8b23-51c02972fe26"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f5686e5-f3f9-4684-9809-4e223b1b0fd7}" ma:internalName="TaxCatchAll" ma:showField="CatchAllData" ma:web="d90711d2-37bb-4b26-8b23-51c02972fe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FBD36D-DAE8-46CB-B778-7C1B43AD43BF}">
  <ds:schemaRefs>
    <ds:schemaRef ds:uri="http://purl.org/dc/terms/"/>
    <ds:schemaRef ds:uri="http://schemas.microsoft.com/office/2006/documentManagement/types"/>
    <ds:schemaRef ds:uri="92cb724c-d654-454f-915d-237124a8a1a9"/>
    <ds:schemaRef ds:uri="http://purl.org/dc/dcmitype/"/>
    <ds:schemaRef ds:uri="http://purl.org/dc/elements/1.1/"/>
    <ds:schemaRef ds:uri="http://www.w3.org/XML/1998/namespace"/>
    <ds:schemaRef ds:uri="http://schemas.microsoft.com/office/infopath/2007/PartnerControls"/>
    <ds:schemaRef ds:uri="http://schemas.openxmlformats.org/package/2006/metadata/core-properties"/>
    <ds:schemaRef ds:uri="4b30f15d-6c4d-47ed-bde6-797b56236eb0"/>
    <ds:schemaRef ds:uri="http://schemas.microsoft.com/office/2006/metadata/properties"/>
    <ds:schemaRef ds:uri="d90711d2-37bb-4b26-8b23-51c02972fe26"/>
    <ds:schemaRef ds:uri="1ea434b8-4dc5-44f7-bb31-0866ee440822"/>
  </ds:schemaRefs>
</ds:datastoreItem>
</file>

<file path=customXml/itemProps2.xml><?xml version="1.0" encoding="utf-8"?>
<ds:datastoreItem xmlns:ds="http://schemas.openxmlformats.org/officeDocument/2006/customXml" ds:itemID="{6C7BBEC2-693C-4BAB-A217-B3E9F46427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a434b8-4dc5-44f7-bb31-0866ee440822"/>
    <ds:schemaRef ds:uri="d90711d2-37bb-4b26-8b23-51c02972fe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A769C6F-6ADF-412F-8F70-2DD1A151B0C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4219</TotalTime>
  <Words>1028</Words>
  <Application>Microsoft Office PowerPoint</Application>
  <PresentationFormat>Widescreen</PresentationFormat>
  <Paragraphs>78</Paragraphs>
  <Slides>11</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Calibri Light</vt:lpstr>
      <vt:lpstr>Courier New</vt:lpstr>
      <vt:lpstr>Open Sans</vt:lpstr>
      <vt:lpstr>Segoe UI</vt:lpstr>
      <vt:lpstr>Times New Roman</vt:lpstr>
      <vt:lpstr>Wingdings</vt:lpstr>
      <vt:lpstr>2_Office Theme</vt:lpstr>
      <vt:lpstr>REAL-TIME CLOCK</vt:lpstr>
      <vt:lpstr>Introduction: Real-Time Clock</vt:lpstr>
      <vt:lpstr>Objectives</vt:lpstr>
      <vt:lpstr>Materials</vt:lpstr>
      <vt:lpstr>Materials</vt:lpstr>
      <vt:lpstr>Discussion: Real-Time Clock</vt:lpstr>
      <vt:lpstr>Discussion: Real-Time Clock</vt:lpstr>
      <vt:lpstr>Discussion: Real-Time Clock</vt:lpstr>
      <vt:lpstr>Discussion: Real-Time Clock</vt:lpstr>
      <vt:lpstr>Conclusion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orientation will start in</dc:title>
  <dc:subject/>
  <dc:creator>Jessica Pauline L. Faigones</dc:creator>
  <cp:keywords/>
  <dc:description/>
  <cp:lastModifiedBy>Raphael Nano</cp:lastModifiedBy>
  <cp:revision>319</cp:revision>
  <dcterms:created xsi:type="dcterms:W3CDTF">2020-06-10T07:30:38Z</dcterms:created>
  <dcterms:modified xsi:type="dcterms:W3CDTF">2023-12-14T15:13:10Z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182800</vt:r8>
  </property>
  <property fmtid="{D5CDD505-2E9C-101B-9397-08002B2CF9AE}" pid="3" name="ContentTypeId">
    <vt:lpwstr>0x0101000045B03F0E29F341B8FA8A02C69678F2</vt:lpwstr>
  </property>
  <property fmtid="{D5CDD505-2E9C-101B-9397-08002B2CF9AE}" pid="4" name="ComplianceAssetId">
    <vt:lpwstr/>
  </property>
</Properties>
</file>