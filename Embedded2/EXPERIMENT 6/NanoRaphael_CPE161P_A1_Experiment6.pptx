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6"/>
  </p:notesMasterIdLst>
  <p:handoutMasterIdLst>
    <p:handoutMasterId r:id="rId17"/>
  </p:handoutMasterIdLst>
  <p:sldIdLst>
    <p:sldId id="881" r:id="rId5"/>
    <p:sldId id="943" r:id="rId6"/>
    <p:sldId id="944" r:id="rId7"/>
    <p:sldId id="945" r:id="rId8"/>
    <p:sldId id="956" r:id="rId9"/>
    <p:sldId id="954" r:id="rId10"/>
    <p:sldId id="960" r:id="rId11"/>
    <p:sldId id="963" r:id="rId12"/>
    <p:sldId id="961" r:id="rId13"/>
    <p:sldId id="949" r:id="rId14"/>
    <p:sldId id="9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onis A. Padilla" initials="DAP" lastIdx="1" clrIdx="0">
    <p:extLst>
      <p:ext uri="{19B8F6BF-5375-455C-9EA6-DF929625EA0E}">
        <p15:presenceInfo xmlns:p15="http://schemas.microsoft.com/office/powerpoint/2012/main" userId="S::dapadilla@mapua.edu.ph::22fd53f7-3725-4d55-add0-dfc6f0ea2c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E1261C"/>
    <a:srgbClr val="F9F9F9"/>
    <a:srgbClr val="CCA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0898" autoAdjust="0"/>
  </p:normalViewPr>
  <p:slideViewPr>
    <p:cSldViewPr snapToGrid="0">
      <p:cViewPr varScale="1">
        <p:scale>
          <a:sx n="81" d="100"/>
          <a:sy n="81" d="100"/>
        </p:scale>
        <p:origin x="835" y="53"/>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24" d="100"/>
          <a:sy n="124" d="100"/>
        </p:scale>
        <p:origin x="40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F2D7B-A1C4-422F-8BEC-B2ADA9B38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4CB62-60B8-42ED-B41D-1204D6EC34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84004C-1C80-46E0-9113-8DACE1C8170C}" type="datetimeFigureOut">
              <a:rPr lang="en-US" smtClean="0"/>
              <a:t>1/5/2024</a:t>
            </a:fld>
            <a:endParaRPr lang="en-US"/>
          </a:p>
        </p:txBody>
      </p:sp>
      <p:sp>
        <p:nvSpPr>
          <p:cNvPr id="4" name="Footer Placeholder 3">
            <a:extLst>
              <a:ext uri="{FF2B5EF4-FFF2-40B4-BE49-F238E27FC236}">
                <a16:creationId xmlns:a16="http://schemas.microsoft.com/office/drawing/2014/main" id="{CA98C740-DCA6-4653-8D38-299256130F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7E7C8-7A32-480E-8E8D-D8E4B9A035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14B00-5376-4F9D-B569-068DF0409359}" type="slidenum">
              <a:rPr lang="en-US" smtClean="0"/>
              <a:t>‹#›</a:t>
            </a:fld>
            <a:endParaRPr lang="en-US"/>
          </a:p>
        </p:txBody>
      </p:sp>
    </p:spTree>
    <p:extLst>
      <p:ext uri="{BB962C8B-B14F-4D97-AF65-F5344CB8AC3E}">
        <p14:creationId xmlns:p14="http://schemas.microsoft.com/office/powerpoint/2010/main" val="3222357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E3EBA-9407-2244-8D2E-48917138C0BF}" type="datetimeFigureOut">
              <a:rPr lang="en-US" smtClean="0"/>
              <a:t>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4D408-4DFC-BF47-8641-93FB6C18070A}" type="slidenum">
              <a:rPr lang="en-US" smtClean="0"/>
              <a:t>‹#›</a:t>
            </a:fld>
            <a:endParaRPr lang="en-US"/>
          </a:p>
        </p:txBody>
      </p:sp>
    </p:spTree>
    <p:extLst>
      <p:ext uri="{BB962C8B-B14F-4D97-AF65-F5344CB8AC3E}">
        <p14:creationId xmlns:p14="http://schemas.microsoft.com/office/powerpoint/2010/main" val="48265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B4D408-4DFC-BF47-8641-93FB6C18070A}" type="slidenum">
              <a:rPr lang="en-US" smtClean="0"/>
              <a:t>1</a:t>
            </a:fld>
            <a:endParaRPr lang="en-US"/>
          </a:p>
        </p:txBody>
      </p:sp>
    </p:spTree>
    <p:extLst>
      <p:ext uri="{BB962C8B-B14F-4D97-AF65-F5344CB8AC3E}">
        <p14:creationId xmlns:p14="http://schemas.microsoft.com/office/powerpoint/2010/main" val="1557724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2</a:t>
            </a:fld>
            <a:endParaRPr lang="en-US"/>
          </a:p>
        </p:txBody>
      </p:sp>
    </p:spTree>
    <p:extLst>
      <p:ext uri="{BB962C8B-B14F-4D97-AF65-F5344CB8AC3E}">
        <p14:creationId xmlns:p14="http://schemas.microsoft.com/office/powerpoint/2010/main" val="37962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3</a:t>
            </a:fld>
            <a:endParaRPr lang="en-US"/>
          </a:p>
        </p:txBody>
      </p:sp>
    </p:spTree>
    <p:extLst>
      <p:ext uri="{BB962C8B-B14F-4D97-AF65-F5344CB8AC3E}">
        <p14:creationId xmlns:p14="http://schemas.microsoft.com/office/powerpoint/2010/main" val="393152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materials utilized to construct the real-time basketball scoreboard are the Arduino UNO, the 4-digit seven segment display, and 5 switch buttons.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4</a:t>
            </a:fld>
            <a:endParaRPr lang="en-US"/>
          </a:p>
        </p:txBody>
      </p:sp>
    </p:spTree>
    <p:extLst>
      <p:ext uri="{BB962C8B-B14F-4D97-AF65-F5344CB8AC3E}">
        <p14:creationId xmlns:p14="http://schemas.microsoft.com/office/powerpoint/2010/main" val="747230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5</a:t>
            </a:fld>
            <a:endParaRPr lang="en-US"/>
          </a:p>
        </p:txBody>
      </p:sp>
    </p:spTree>
    <p:extLst>
      <p:ext uri="{BB962C8B-B14F-4D97-AF65-F5344CB8AC3E}">
        <p14:creationId xmlns:p14="http://schemas.microsoft.com/office/powerpoint/2010/main" val="118630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6</a:t>
            </a:fld>
            <a:endParaRPr lang="en-US"/>
          </a:p>
        </p:txBody>
      </p:sp>
    </p:spTree>
    <p:extLst>
      <p:ext uri="{BB962C8B-B14F-4D97-AF65-F5344CB8AC3E}">
        <p14:creationId xmlns:p14="http://schemas.microsoft.com/office/powerpoint/2010/main" val="242250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7</a:t>
            </a:fld>
            <a:endParaRPr lang="en-US"/>
          </a:p>
        </p:txBody>
      </p:sp>
    </p:spTree>
    <p:extLst>
      <p:ext uri="{BB962C8B-B14F-4D97-AF65-F5344CB8AC3E}">
        <p14:creationId xmlns:p14="http://schemas.microsoft.com/office/powerpoint/2010/main" val="408680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8</a:t>
            </a:fld>
            <a:endParaRPr lang="en-US"/>
          </a:p>
        </p:txBody>
      </p:sp>
    </p:spTree>
    <p:extLst>
      <p:ext uri="{BB962C8B-B14F-4D97-AF65-F5344CB8AC3E}">
        <p14:creationId xmlns:p14="http://schemas.microsoft.com/office/powerpoint/2010/main" val="3291013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9</a:t>
            </a:fld>
            <a:endParaRPr lang="en-US"/>
          </a:p>
        </p:txBody>
      </p:sp>
    </p:spTree>
    <p:extLst>
      <p:ext uri="{BB962C8B-B14F-4D97-AF65-F5344CB8AC3E}">
        <p14:creationId xmlns:p14="http://schemas.microsoft.com/office/powerpoint/2010/main" val="1748653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11</a:t>
            </a:fld>
            <a:endParaRPr lang="en-US"/>
          </a:p>
        </p:txBody>
      </p:sp>
    </p:spTree>
    <p:extLst>
      <p:ext uri="{BB962C8B-B14F-4D97-AF65-F5344CB8AC3E}">
        <p14:creationId xmlns:p14="http://schemas.microsoft.com/office/powerpoint/2010/main" val="1970612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8500487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8435" y="282298"/>
            <a:ext cx="9383339" cy="512401"/>
          </a:xfrm>
        </p:spPr>
        <p:txBody>
          <a:bodyPr>
            <a:noAutofit/>
          </a:bodyPr>
          <a:lstStyle>
            <a:lvl1pPr>
              <a:defRPr sz="3200" b="1">
                <a:solidFill>
                  <a:srgbClr val="FFFF00"/>
                </a:solidFill>
                <a:latin typeface="Segoe UI" panose="020B0502040204020203" pitchFamily="34" charset="0"/>
                <a:cs typeface="Segoe UI" panose="020B0502040204020203" pitchFamily="34" charset="0"/>
              </a:defRPr>
            </a:lvl1pPr>
          </a:lstStyle>
          <a:p>
            <a:r>
              <a:rPr lang="en-US" dirty="0"/>
              <a:t>Click to edit Master title style</a:t>
            </a:r>
            <a:endParaRPr lang="en-PH" dirty="0"/>
          </a:p>
        </p:txBody>
      </p:sp>
      <p:sp>
        <p:nvSpPr>
          <p:cNvPr id="3" name="Content Placeholder 2"/>
          <p:cNvSpPr>
            <a:spLocks noGrp="1"/>
          </p:cNvSpPr>
          <p:nvPr>
            <p:ph idx="1"/>
          </p:nvPr>
        </p:nvSpPr>
        <p:spPr>
          <a:xfrm>
            <a:off x="298154" y="1156700"/>
            <a:ext cx="10564182" cy="4556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9216650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6214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02573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8" name="Footer Placeholder 7"/>
          <p:cNvSpPr>
            <a:spLocks noGrp="1"/>
          </p:cNvSpPr>
          <p:nvPr>
            <p:ph type="ftr" sz="quarter" idx="11"/>
          </p:nvPr>
        </p:nvSpPr>
        <p:spPr/>
        <p:txBody>
          <a:bodyPr/>
          <a:lstStyle/>
          <a:p>
            <a:endParaRPr lang="en-PH">
              <a:solidFill>
                <a:prstClr val="black">
                  <a:tint val="75000"/>
                </a:prstClr>
              </a:solidFill>
            </a:endParaRPr>
          </a:p>
        </p:txBody>
      </p:sp>
      <p:sp>
        <p:nvSpPr>
          <p:cNvPr id="9" name="Slide Number Placeholder 8"/>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2050785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4" name="Footer Placeholder 3"/>
          <p:cNvSpPr>
            <a:spLocks noGrp="1"/>
          </p:cNvSpPr>
          <p:nvPr>
            <p:ph type="ftr" sz="quarter" idx="11"/>
          </p:nvPr>
        </p:nvSpPr>
        <p:spPr/>
        <p:txBody>
          <a:bodyPr/>
          <a:lstStyle/>
          <a:p>
            <a:endParaRPr lang="en-PH">
              <a:solidFill>
                <a:prstClr val="black">
                  <a:tint val="75000"/>
                </a:prstClr>
              </a:solidFill>
            </a:endParaRPr>
          </a:p>
        </p:txBody>
      </p:sp>
      <p:sp>
        <p:nvSpPr>
          <p:cNvPr id="5" name="Slide Number Placeholder 4"/>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0688756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5630454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984543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651308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04205280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8A35F-61D6-417E-8CA4-3FFFB03A1EF2}" type="datetimeFigureOut">
              <a:rPr lang="en-PH" smtClean="0">
                <a:solidFill>
                  <a:prstClr val="black">
                    <a:tint val="75000"/>
                  </a:prstClr>
                </a:solidFill>
              </a:rPr>
              <a:pPr/>
              <a:t>05/01/2024</a:t>
            </a:fld>
            <a:endParaRPr lang="en-PH">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36243867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4" r:id="rId7"/>
    <p:sldLayoutId id="2147483835" r:id="rId8"/>
    <p:sldLayoutId id="2147483836" r:id="rId9"/>
    <p:sldLayoutId id="2147483837" r:id="rId10"/>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284766" y="846685"/>
            <a:ext cx="6812006" cy="711200"/>
          </a:xfrm>
          <a:prstGeom prst="rect">
            <a:avLst/>
          </a:prstGeom>
          <a:noFill/>
          <a:ln>
            <a:noFill/>
          </a:ln>
        </p:spPr>
        <p:txBody>
          <a:bodyPr wrap="square" lIns="91425" tIns="45700" rIns="91425" bIns="45700" anchor="b" anchorCtr="0">
            <a:noAutofit/>
          </a:bodyPr>
          <a:lstStyle/>
          <a:p>
            <a:pPr lvl="0" indent="-203200" algn="l">
              <a:spcBef>
                <a:spcPts val="0"/>
              </a:spcBef>
              <a:buClr>
                <a:srgbClr val="FFFF00"/>
              </a:buClr>
              <a:buSzPct val="100000"/>
            </a:pPr>
            <a:r>
              <a:rPr lang="en-US" sz="4000" b="1" dirty="0">
                <a:solidFill>
                  <a:srgbClr val="FFFF00"/>
                </a:solidFill>
                <a:latin typeface="Segoe UI" panose="020B0502040204020203" pitchFamily="34" charset="0"/>
                <a:ea typeface="Arial"/>
                <a:cs typeface="Segoe UI" panose="020B0502040204020203" pitchFamily="34" charset="0"/>
                <a:sym typeface="Arial"/>
              </a:rPr>
              <a:t>SELF-DRIVING CAR</a:t>
            </a:r>
            <a:endParaRPr lang="en-PH" sz="4000" b="1" dirty="0">
              <a:solidFill>
                <a:srgbClr val="FFFF00"/>
              </a:solidFill>
              <a:latin typeface="Segoe UI" panose="020B0502040204020203" pitchFamily="34" charset="0"/>
              <a:ea typeface="Arial"/>
              <a:cs typeface="Segoe UI" panose="020B0502040204020203" pitchFamily="34" charset="0"/>
              <a:sym typeface="Arial"/>
            </a:endParaRPr>
          </a:p>
        </p:txBody>
      </p:sp>
      <p:sp>
        <p:nvSpPr>
          <p:cNvPr id="13" name="Shape 13"/>
          <p:cNvSpPr txBox="1">
            <a:spLocks noGrp="1"/>
          </p:cNvSpPr>
          <p:nvPr>
            <p:ph type="subTitle" idx="1"/>
          </p:nvPr>
        </p:nvSpPr>
        <p:spPr>
          <a:xfrm>
            <a:off x="284766" y="1557885"/>
            <a:ext cx="6034670" cy="1095521"/>
          </a:xfrm>
          <a:prstGeom prst="rect">
            <a:avLst/>
          </a:prstGeom>
          <a:noFill/>
          <a:ln>
            <a:noFill/>
          </a:ln>
        </p:spPr>
        <p:txBody>
          <a:bodyPr wrap="square" lIns="91425" tIns="45700" rIns="91425" bIns="45700" anchor="t" anchorCtr="0">
            <a:noAutofit/>
          </a:bodyPr>
          <a:lstStyle/>
          <a:p>
            <a:pPr lvl="0" indent="-127000" algn="l">
              <a:spcBef>
                <a:spcPts val="0"/>
              </a:spcBef>
              <a:buClr>
                <a:schemeClr val="lt1"/>
              </a:buClr>
              <a:buSzPct val="100000"/>
            </a:pPr>
            <a:r>
              <a:rPr lang="en-GB" sz="3200" b="1" dirty="0">
                <a:solidFill>
                  <a:schemeClr val="lt1"/>
                </a:solidFill>
                <a:latin typeface="Segoe UI" panose="020B0502040204020203" pitchFamily="34" charset="0"/>
                <a:ea typeface="Arial"/>
                <a:cs typeface="Segoe UI" panose="020B0502040204020203" pitchFamily="34" charset="0"/>
                <a:sym typeface="Arial"/>
              </a:rPr>
              <a:t>Experiment 6</a:t>
            </a:r>
          </a:p>
        </p:txBody>
      </p:sp>
      <p:sp>
        <p:nvSpPr>
          <p:cNvPr id="8" name="Text Placeholder 2">
            <a:extLst>
              <a:ext uri="{FF2B5EF4-FFF2-40B4-BE49-F238E27FC236}">
                <a16:creationId xmlns:a16="http://schemas.microsoft.com/office/drawing/2014/main" id="{BB0E7A66-65F8-4D09-A464-3721AFFC3633}"/>
              </a:ext>
            </a:extLst>
          </p:cNvPr>
          <p:cNvSpPr txBox="1">
            <a:spLocks/>
          </p:cNvSpPr>
          <p:nvPr/>
        </p:nvSpPr>
        <p:spPr>
          <a:xfrm>
            <a:off x="147702" y="5904349"/>
            <a:ext cx="6949070" cy="770513"/>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Computer Engineering Department</a:t>
            </a:r>
          </a:p>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School of Electrical, Electronics, and Computer Engineering</a:t>
            </a:r>
          </a:p>
        </p:txBody>
      </p:sp>
      <p:pic>
        <p:nvPicPr>
          <p:cNvPr id="3" name="Picture 2" descr="A picture containing object, measure, clock, cup&#10;&#10;Description automatically generated">
            <a:extLst>
              <a:ext uri="{FF2B5EF4-FFF2-40B4-BE49-F238E27FC236}">
                <a16:creationId xmlns:a16="http://schemas.microsoft.com/office/drawing/2014/main" id="{93681FFB-7892-473D-BA03-7308FEE223ED}"/>
              </a:ext>
            </a:extLst>
          </p:cNvPr>
          <p:cNvPicPr>
            <a:picLocks noChangeAspect="1"/>
          </p:cNvPicPr>
          <p:nvPr/>
        </p:nvPicPr>
        <p:blipFill>
          <a:blip r:embed="rId4"/>
          <a:stretch>
            <a:fillRect/>
          </a:stretch>
        </p:blipFill>
        <p:spPr>
          <a:xfrm>
            <a:off x="10017600" y="2834255"/>
            <a:ext cx="1531272" cy="1531272"/>
          </a:xfrm>
          <a:prstGeom prst="rect">
            <a:avLst/>
          </a:prstGeom>
        </p:spPr>
      </p:pic>
      <p:sp>
        <p:nvSpPr>
          <p:cNvPr id="6" name="Text Placeholder 2">
            <a:extLst>
              <a:ext uri="{FF2B5EF4-FFF2-40B4-BE49-F238E27FC236}">
                <a16:creationId xmlns:a16="http://schemas.microsoft.com/office/drawing/2014/main" id="{DE44DF05-07A0-4892-8981-CB6440644483}"/>
              </a:ext>
            </a:extLst>
          </p:cNvPr>
          <p:cNvSpPr txBox="1">
            <a:spLocks/>
          </p:cNvSpPr>
          <p:nvPr/>
        </p:nvSpPr>
        <p:spPr>
          <a:xfrm>
            <a:off x="284766" y="3741893"/>
            <a:ext cx="4191731" cy="1382244"/>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Raphael S. Nano</a:t>
            </a:r>
          </a:p>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CPE161P / A1</a:t>
            </a:r>
          </a:p>
        </p:txBody>
      </p:sp>
    </p:spTree>
    <p:extLst>
      <p:ext uri="{BB962C8B-B14F-4D97-AF65-F5344CB8AC3E}">
        <p14:creationId xmlns:p14="http://schemas.microsoft.com/office/powerpoint/2010/main" val="189877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123648" cy="512401"/>
          </a:xfrm>
        </p:spPr>
        <p:txBody>
          <a:bodyPr/>
          <a:lstStyle/>
          <a:p>
            <a:r>
              <a:rPr lang="en-US" dirty="0"/>
              <a:t>Introduction: Self-Driving Car</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t> </a:t>
            </a:r>
            <a:r>
              <a:rPr lang="en-US" dirty="0">
                <a:latin typeface="Open Sans" panose="020B0606030504020204" pitchFamily="34" charset="0"/>
                <a:ea typeface="Open Sans" panose="020B0606030504020204" pitchFamily="34" charset="0"/>
                <a:cs typeface="Open Sans" panose="020B0606030504020204" pitchFamily="34" charset="0"/>
              </a:rPr>
              <a:t>Automotives are one of the most important inventions in a world of busy transportation</a:t>
            </a:r>
          </a:p>
          <a:p>
            <a:pPr algn="jus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With the developments in technologies, remote-controlled vehicles became possible.</a:t>
            </a:r>
          </a:p>
          <a:p>
            <a:pPr algn="jus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Internet, Bluetooth, and many more wireless technologies allowed the control of vehicles from afar in order to transport people or items.</a:t>
            </a:r>
            <a:endParaRPr lang="en-PH"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38935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6651-8300-9B1E-D82E-D9BDEDD2C7B5}"/>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024FD49A-96B4-5E3D-262C-6DE9E8C540E0}"/>
              </a:ext>
            </a:extLst>
          </p:cNvPr>
          <p:cNvSpPr>
            <a:spLocks noGrp="1"/>
          </p:cNvSpPr>
          <p:nvPr>
            <p:ph idx="1"/>
          </p:nvPr>
        </p:nvSpPr>
        <p:spPr>
          <a:xfrm>
            <a:off x="298153" y="1156700"/>
            <a:ext cx="11528661" cy="4556765"/>
          </a:xfrm>
        </p:spPr>
        <p:txBody>
          <a:bodyPr>
            <a:normAutofit/>
          </a:bodyPr>
          <a:lstStyle/>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demonstrate how a self driving car works (Forward, Backward, Right, and Left).</a:t>
            </a:r>
          </a:p>
          <a:p>
            <a:pPr marL="342900" indent="-342900" algn="just">
              <a:spcAft>
                <a:spcPts val="1200"/>
              </a:spcAft>
              <a:buAutoNum type="arabicPeriod"/>
            </a:pPr>
            <a:endParaRPr lang="en-US" sz="2400" dirty="0">
              <a:solidFill>
                <a:srgbClr val="262626"/>
              </a:solidFill>
              <a:effectLst/>
              <a:latin typeface="Open Sans" panose="020B0606030504020204" pitchFamily="34" charset="0"/>
              <a:ea typeface="Times New Roman" panose="02020603050405020304" pitchFamily="18" charset="0"/>
            </a:endParaRP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apply what you have learned in logic circuits and switching theory, microprocessors, and CPE160P.</a:t>
            </a:r>
          </a:p>
          <a:p>
            <a:pPr marL="342900" indent="-342900" algn="just">
              <a:spcAft>
                <a:spcPts val="1200"/>
              </a:spcAft>
              <a:buAutoNum type="arabicPeriod"/>
            </a:pPr>
            <a:endParaRPr lang="en-US" sz="2400" dirty="0">
              <a:solidFill>
                <a:srgbClr val="262626"/>
              </a:solidFill>
              <a:effectLst/>
              <a:latin typeface="Open Sans" panose="020B0606030504020204" pitchFamily="34" charset="0"/>
              <a:ea typeface="Times New Roman" panose="02020603050405020304" pitchFamily="18" charset="0"/>
            </a:endParaRP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apply real-time embedded system using Arduino kit.</a:t>
            </a:r>
            <a:endParaRPr lang="en-PH" sz="3600" dirty="0"/>
          </a:p>
        </p:txBody>
      </p:sp>
    </p:spTree>
    <p:extLst>
      <p:ext uri="{BB962C8B-B14F-4D97-AF65-F5344CB8AC3E}">
        <p14:creationId xmlns:p14="http://schemas.microsoft.com/office/powerpoint/2010/main" val="3318308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Hardware</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a:solidFill>
                  <a:srgbClr val="262626"/>
                </a:solidFill>
                <a:effectLst/>
                <a:latin typeface="Open Sans" panose="020B0606030504020204" pitchFamily="34" charset="0"/>
                <a:ea typeface="Open Sans" panose="020B0606030504020204" pitchFamily="34" charset="0"/>
                <a:cs typeface="Open Sans" panose="020B0606030504020204" pitchFamily="34" charset="0"/>
              </a:rPr>
              <a:t>Arduino Uno</a:t>
            </a:r>
          </a:p>
          <a:p>
            <a:pPr>
              <a:buFont typeface="Wingdings" panose="05000000000000000000" pitchFamily="2" charset="2"/>
              <a:buChar char="Ø"/>
            </a:pPr>
            <a:r>
              <a:rPr lang="en-PH" sz="2400" dirty="0">
                <a:solidFill>
                  <a:srgbClr val="262626"/>
                </a:solidFill>
                <a:latin typeface="Open Sans" panose="020B0606030504020204" pitchFamily="34" charset="0"/>
                <a:ea typeface="Open Sans" panose="020B0606030504020204" pitchFamily="34" charset="0"/>
                <a:cs typeface="Open Sans" panose="020B0606030504020204" pitchFamily="34" charset="0"/>
              </a:rPr>
              <a:t> Infrared Remote</a:t>
            </a:r>
          </a:p>
          <a:p>
            <a:pPr>
              <a:buFont typeface="Wingdings" panose="05000000000000000000" pitchFamily="2" charset="2"/>
              <a:buChar char="Ø"/>
            </a:pPr>
            <a:r>
              <a:rPr lang="en-PH" sz="2400" dirty="0">
                <a:solidFill>
                  <a:srgbClr val="262626"/>
                </a:solidFill>
                <a:latin typeface="Open Sans" panose="020B0606030504020204" pitchFamily="34" charset="0"/>
                <a:ea typeface="Open Sans" panose="020B0606030504020204" pitchFamily="34" charset="0"/>
                <a:cs typeface="Open Sans" panose="020B0606030504020204" pitchFamily="34" charset="0"/>
              </a:rPr>
              <a:t> TSOP1838 IR receiver sensor</a:t>
            </a:r>
          </a:p>
          <a:p>
            <a:pPr>
              <a:buFont typeface="Wingdings" panose="05000000000000000000" pitchFamily="2" charset="2"/>
              <a:buChar char="Ø"/>
            </a:pPr>
            <a:r>
              <a:rPr lang="en-PH" sz="2400" dirty="0">
                <a:latin typeface="Open Sans" panose="020B0606030504020204" pitchFamily="34" charset="0"/>
                <a:ea typeface="Open Sans" panose="020B0606030504020204" pitchFamily="34" charset="0"/>
                <a:cs typeface="Open Sans" panose="020B0606030504020204" pitchFamily="34" charset="0"/>
              </a:rPr>
              <a:t> 2 Wheels</a:t>
            </a:r>
          </a:p>
          <a:p>
            <a:pPr>
              <a:buFont typeface="Wingdings" panose="05000000000000000000" pitchFamily="2" charset="2"/>
              <a:buChar char="Ø"/>
            </a:pPr>
            <a:r>
              <a:rPr lang="en-PH" sz="2400" dirty="0">
                <a:latin typeface="Open Sans" panose="020B0606030504020204" pitchFamily="34" charset="0"/>
                <a:ea typeface="Open Sans" panose="020B0606030504020204" pitchFamily="34" charset="0"/>
                <a:cs typeface="Open Sans" panose="020B0606030504020204" pitchFamily="34" charset="0"/>
              </a:rPr>
              <a:t> 2 DC Motors</a:t>
            </a:r>
          </a:p>
          <a:p>
            <a:pPr>
              <a:buFont typeface="Wingdings" panose="05000000000000000000" pitchFamily="2" charset="2"/>
              <a:buChar char="Ø"/>
            </a:pPr>
            <a:r>
              <a:rPr lang="en-PH" sz="2400" dirty="0">
                <a:latin typeface="Open Sans" panose="020B0606030504020204" pitchFamily="34" charset="0"/>
                <a:ea typeface="Open Sans" panose="020B0606030504020204" pitchFamily="34" charset="0"/>
                <a:cs typeface="Open Sans" panose="020B0606030504020204" pitchFamily="34" charset="0"/>
              </a:rPr>
              <a:t> L298N Driver Module</a:t>
            </a:r>
          </a:p>
          <a:p>
            <a:pPr>
              <a:buFont typeface="Wingdings" panose="05000000000000000000" pitchFamily="2" charset="2"/>
              <a:buChar char="Ø"/>
            </a:pPr>
            <a:r>
              <a:rPr lang="en-PH" sz="2400" dirty="0">
                <a:latin typeface="Open Sans" panose="020B0606030504020204" pitchFamily="34" charset="0"/>
                <a:ea typeface="Open Sans" panose="020B0606030504020204" pitchFamily="34" charset="0"/>
                <a:cs typeface="Open Sans" panose="020B0606030504020204" pitchFamily="34" charset="0"/>
              </a:rPr>
              <a:t> Car Chassis</a:t>
            </a:r>
          </a:p>
        </p:txBody>
      </p:sp>
      <p:pic>
        <p:nvPicPr>
          <p:cNvPr id="5" name="Picture 4">
            <a:extLst>
              <a:ext uri="{FF2B5EF4-FFF2-40B4-BE49-F238E27FC236}">
                <a16:creationId xmlns:a16="http://schemas.microsoft.com/office/drawing/2014/main" id="{3069FF89-F6DC-4C55-DCFE-F7F69C1D0BEE}"/>
              </a:ext>
            </a:extLst>
          </p:cNvPr>
          <p:cNvPicPr>
            <a:picLocks noChangeAspect="1"/>
          </p:cNvPicPr>
          <p:nvPr/>
        </p:nvPicPr>
        <p:blipFill>
          <a:blip r:embed="rId3">
            <a:extLst>
              <a:ext uri="{28A0092B-C50C-407E-A947-70E740481C1C}">
                <a14:useLocalDpi xmlns:a14="http://schemas.microsoft.com/office/drawing/2010/main" val="0"/>
              </a:ext>
            </a:extLst>
          </a:blip>
          <a:srcRect l="3071" r="3071"/>
          <a:stretch/>
        </p:blipFill>
        <p:spPr>
          <a:xfrm>
            <a:off x="4930219" y="1503575"/>
            <a:ext cx="6410227" cy="3850850"/>
          </a:xfrm>
          <a:prstGeom prst="rect">
            <a:avLst/>
          </a:prstGeom>
        </p:spPr>
      </p:pic>
    </p:spTree>
    <p:extLst>
      <p:ext uri="{BB962C8B-B14F-4D97-AF65-F5344CB8AC3E}">
        <p14:creationId xmlns:p14="http://schemas.microsoft.com/office/powerpoint/2010/main" val="99400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Software Libraries</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IRremote.h</a:t>
            </a:r>
            <a:endParaRPr lang="en-PH" dirty="0"/>
          </a:p>
        </p:txBody>
      </p:sp>
      <p:pic>
        <p:nvPicPr>
          <p:cNvPr id="5" name="Picture 4">
            <a:extLst>
              <a:ext uri="{FF2B5EF4-FFF2-40B4-BE49-F238E27FC236}">
                <a16:creationId xmlns:a16="http://schemas.microsoft.com/office/drawing/2014/main" id="{5508B0CE-E4C5-494E-1379-CD9ED3455E3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9314" y="2003104"/>
            <a:ext cx="4553372" cy="608212"/>
          </a:xfrm>
          <a:prstGeom prst="rect">
            <a:avLst/>
          </a:prstGeom>
        </p:spPr>
      </p:pic>
    </p:spTree>
    <p:extLst>
      <p:ext uri="{BB962C8B-B14F-4D97-AF65-F5344CB8AC3E}">
        <p14:creationId xmlns:p14="http://schemas.microsoft.com/office/powerpoint/2010/main" val="4214434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Self-Driving Car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6" y="1186177"/>
            <a:ext cx="6781667" cy="508522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IR remote will be used as the controller, wherein it includes the control to every direction of motion (e.g., forward, backward, left, right). </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operation simply activates the DC motors and adjusts the power of motion, depending on the number pressed on the remote.</a:t>
            </a:r>
          </a:p>
        </p:txBody>
      </p:sp>
      <p:pic>
        <p:nvPicPr>
          <p:cNvPr id="6" name="Picture 5">
            <a:extLst>
              <a:ext uri="{FF2B5EF4-FFF2-40B4-BE49-F238E27FC236}">
                <a16:creationId xmlns:a16="http://schemas.microsoft.com/office/drawing/2014/main" id="{567C4410-3C5F-4882-7BE6-D7442FC7CD0B}"/>
              </a:ext>
            </a:extLst>
          </p:cNvPr>
          <p:cNvPicPr>
            <a:picLocks noChangeAspect="1"/>
          </p:cNvPicPr>
          <p:nvPr/>
        </p:nvPicPr>
        <p:blipFill rotWithShape="1">
          <a:blip r:embed="rId3">
            <a:extLst>
              <a:ext uri="{28A0092B-C50C-407E-A947-70E740481C1C}">
                <a14:useLocalDpi xmlns:a14="http://schemas.microsoft.com/office/drawing/2010/main" val="0"/>
              </a:ext>
            </a:extLst>
          </a:blip>
          <a:srcRect l="11728" r="6868"/>
          <a:stretch/>
        </p:blipFill>
        <p:spPr>
          <a:xfrm>
            <a:off x="7192651" y="1851660"/>
            <a:ext cx="4553146" cy="3154679"/>
          </a:xfrm>
          <a:prstGeom prst="rect">
            <a:avLst/>
          </a:prstGeom>
        </p:spPr>
      </p:pic>
    </p:spTree>
    <p:extLst>
      <p:ext uri="{BB962C8B-B14F-4D97-AF65-F5344CB8AC3E}">
        <p14:creationId xmlns:p14="http://schemas.microsoft.com/office/powerpoint/2010/main" val="4219391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Self-Driving Car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065229"/>
            <a:ext cx="6249382" cy="5156462"/>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switch case inside a remote() function was utilized to determine the value of the button pressed in the remote </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2: 24</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4 : 8</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6: 90</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8: 82</a:t>
            </a:r>
          </a:p>
        </p:txBody>
      </p:sp>
      <p:pic>
        <p:nvPicPr>
          <p:cNvPr id="8" name="Picture 7">
            <a:extLst>
              <a:ext uri="{FF2B5EF4-FFF2-40B4-BE49-F238E27FC236}">
                <a16:creationId xmlns:a16="http://schemas.microsoft.com/office/drawing/2014/main" id="{E9BAFACA-5A51-88AB-BF4C-036F136600FA}"/>
              </a:ext>
            </a:extLst>
          </p:cNvPr>
          <p:cNvPicPr>
            <a:picLocks noChangeAspect="1"/>
          </p:cNvPicPr>
          <p:nvPr/>
        </p:nvPicPr>
        <p:blipFill>
          <a:blip r:embed="rId3"/>
          <a:stretch>
            <a:fillRect/>
          </a:stretch>
        </p:blipFill>
        <p:spPr>
          <a:xfrm>
            <a:off x="7198033" y="1311538"/>
            <a:ext cx="4526672" cy="4663844"/>
          </a:xfrm>
          <a:prstGeom prst="rect">
            <a:avLst/>
          </a:prstGeom>
        </p:spPr>
      </p:pic>
    </p:spTree>
    <p:extLst>
      <p:ext uri="{BB962C8B-B14F-4D97-AF65-F5344CB8AC3E}">
        <p14:creationId xmlns:p14="http://schemas.microsoft.com/office/powerpoint/2010/main" val="2726006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
                                        <p:tgtEl>
                                          <p:spTgt spid="3">
                                            <p:txEl>
                                              <p:pRg st="1" end="1"/>
                                            </p:txEl>
                                          </p:spTgt>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
                                        <p:tgtEl>
                                          <p:spTgt spid="3">
                                            <p:txEl>
                                              <p:pRg st="2" end="2"/>
                                            </p:txEl>
                                          </p:spTgt>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Self-Driving Car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542958" y="1948991"/>
            <a:ext cx="6249382" cy="296001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 separate function was developed as a shortcut to </a:t>
            </a:r>
            <a:r>
              <a:rPr lang="en-US" sz="2400" dirty="0" err="1">
                <a:latin typeface="Open Sans" panose="020B0606030504020204" pitchFamily="34" charset="0"/>
                <a:ea typeface="Open Sans" panose="020B0606030504020204" pitchFamily="34" charset="0"/>
                <a:cs typeface="Open Sans" panose="020B0606030504020204" pitchFamily="34" charset="0"/>
              </a:rPr>
              <a:t>digitalWrite</a:t>
            </a:r>
            <a:r>
              <a:rPr lang="en-US" sz="2400" dirty="0">
                <a:latin typeface="Open Sans" panose="020B0606030504020204" pitchFamily="34" charset="0"/>
                <a:ea typeface="Open Sans" panose="020B0606030504020204" pitchFamily="34" charset="0"/>
                <a:cs typeface="Open Sans" panose="020B0606030504020204" pitchFamily="34" charset="0"/>
              </a:rPr>
              <a:t> and </a:t>
            </a:r>
            <a:r>
              <a:rPr lang="en-US" sz="2400" dirty="0" err="1">
                <a:latin typeface="Open Sans" panose="020B0606030504020204" pitchFamily="34" charset="0"/>
                <a:ea typeface="Open Sans" panose="020B0606030504020204" pitchFamily="34" charset="0"/>
                <a:cs typeface="Open Sans" panose="020B0606030504020204" pitchFamily="34" charset="0"/>
              </a:rPr>
              <a:t>analogWrite</a:t>
            </a: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t>
            </a:r>
            <a:r>
              <a:rPr lang="en-US" sz="2400" dirty="0" err="1">
                <a:latin typeface="Open Sans" panose="020B0606030504020204" pitchFamily="34" charset="0"/>
                <a:ea typeface="Open Sans" panose="020B0606030504020204" pitchFamily="34" charset="0"/>
                <a:cs typeface="Open Sans" panose="020B0606030504020204" pitchFamily="34" charset="0"/>
              </a:rPr>
              <a:t>ond</a:t>
            </a:r>
            <a:r>
              <a:rPr lang="en-US" sz="2400" dirty="0">
                <a:latin typeface="Open Sans" panose="020B0606030504020204" pitchFamily="34" charset="0"/>
                <a:ea typeface="Open Sans" panose="020B0606030504020204" pitchFamily="34" charset="0"/>
                <a:cs typeface="Open Sans" panose="020B0606030504020204" pitchFamily="34" charset="0"/>
              </a:rPr>
              <a:t> = HIGH </a:t>
            </a:r>
            <a:r>
              <a:rPr lang="en-US" sz="2400" dirty="0" err="1">
                <a:latin typeface="Open Sans" panose="020B0606030504020204" pitchFamily="34" charset="0"/>
                <a:ea typeface="Open Sans" panose="020B0606030504020204" pitchFamily="34" charset="0"/>
                <a:cs typeface="Open Sans" panose="020B0606030504020204" pitchFamily="34" charset="0"/>
              </a:rPr>
              <a:t>digitalWrite</a:t>
            </a: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t>
            </a:r>
            <a:r>
              <a:rPr lang="en-US" sz="2400" dirty="0" err="1">
                <a:latin typeface="Open Sans" panose="020B0606030504020204" pitchFamily="34" charset="0"/>
                <a:ea typeface="Open Sans" panose="020B0606030504020204" pitchFamily="34" charset="0"/>
                <a:cs typeface="Open Sans" panose="020B0606030504020204" pitchFamily="34" charset="0"/>
              </a:rPr>
              <a:t>offd</a:t>
            </a:r>
            <a:r>
              <a:rPr lang="en-US" sz="2400" dirty="0">
                <a:latin typeface="Open Sans" panose="020B0606030504020204" pitchFamily="34" charset="0"/>
                <a:ea typeface="Open Sans" panose="020B0606030504020204" pitchFamily="34" charset="0"/>
                <a:cs typeface="Open Sans" panose="020B0606030504020204" pitchFamily="34" charset="0"/>
              </a:rPr>
              <a:t> = LOW </a:t>
            </a:r>
            <a:r>
              <a:rPr lang="en-US" sz="2400" dirty="0" err="1">
                <a:latin typeface="Open Sans" panose="020B0606030504020204" pitchFamily="34" charset="0"/>
                <a:ea typeface="Open Sans" panose="020B0606030504020204" pitchFamily="34" charset="0"/>
                <a:cs typeface="Open Sans" panose="020B0606030504020204" pitchFamily="34" charset="0"/>
              </a:rPr>
              <a:t>digitalWrite</a:t>
            </a: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t>
            </a:r>
            <a:r>
              <a:rPr lang="en-US" sz="2400" dirty="0" err="1">
                <a:latin typeface="Open Sans" panose="020B0606030504020204" pitchFamily="34" charset="0"/>
                <a:ea typeface="Open Sans" panose="020B0606030504020204" pitchFamily="34" charset="0"/>
                <a:cs typeface="Open Sans" panose="020B0606030504020204" pitchFamily="34" charset="0"/>
              </a:rPr>
              <a:t>ona</a:t>
            </a:r>
            <a:r>
              <a:rPr lang="en-US" sz="2400" dirty="0">
                <a:latin typeface="Open Sans" panose="020B0606030504020204" pitchFamily="34" charset="0"/>
                <a:ea typeface="Open Sans" panose="020B0606030504020204" pitchFamily="34" charset="0"/>
                <a:cs typeface="Open Sans" panose="020B0606030504020204" pitchFamily="34" charset="0"/>
              </a:rPr>
              <a:t> = 255 </a:t>
            </a:r>
            <a:r>
              <a:rPr lang="en-US" sz="2400" dirty="0" err="1">
                <a:latin typeface="Open Sans" panose="020B0606030504020204" pitchFamily="34" charset="0"/>
                <a:ea typeface="Open Sans" panose="020B0606030504020204" pitchFamily="34" charset="0"/>
                <a:cs typeface="Open Sans" panose="020B0606030504020204" pitchFamily="34" charset="0"/>
              </a:rPr>
              <a:t>analogWrite</a:t>
            </a: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t>
            </a:r>
            <a:r>
              <a:rPr lang="en-US" sz="2400" dirty="0" err="1">
                <a:latin typeface="Open Sans" panose="020B0606030504020204" pitchFamily="34" charset="0"/>
                <a:ea typeface="Open Sans" panose="020B0606030504020204" pitchFamily="34" charset="0"/>
                <a:cs typeface="Open Sans" panose="020B0606030504020204" pitchFamily="34" charset="0"/>
              </a:rPr>
              <a:t>offa</a:t>
            </a:r>
            <a:r>
              <a:rPr lang="en-US" sz="2400" dirty="0">
                <a:latin typeface="Open Sans" panose="020B0606030504020204" pitchFamily="34" charset="0"/>
                <a:ea typeface="Open Sans" panose="020B0606030504020204" pitchFamily="34" charset="0"/>
                <a:cs typeface="Open Sans" panose="020B0606030504020204" pitchFamily="34" charset="0"/>
              </a:rPr>
              <a:t> = 0 </a:t>
            </a:r>
            <a:r>
              <a:rPr lang="en-US" sz="2400" dirty="0" err="1">
                <a:latin typeface="Open Sans" panose="020B0606030504020204" pitchFamily="34" charset="0"/>
                <a:ea typeface="Open Sans" panose="020B0606030504020204" pitchFamily="34" charset="0"/>
                <a:cs typeface="Open Sans" panose="020B0606030504020204" pitchFamily="34" charset="0"/>
              </a:rPr>
              <a:t>analogWrite</a:t>
            </a:r>
            <a:endParaRPr lang="en-US" sz="2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6" name="Picture 5">
            <a:extLst>
              <a:ext uri="{FF2B5EF4-FFF2-40B4-BE49-F238E27FC236}">
                <a16:creationId xmlns:a16="http://schemas.microsoft.com/office/drawing/2014/main" id="{A9D1D3F6-CFAF-0647-8A44-1AC63AB4F69A}"/>
              </a:ext>
            </a:extLst>
          </p:cNvPr>
          <p:cNvPicPr>
            <a:picLocks noChangeAspect="1"/>
          </p:cNvPicPr>
          <p:nvPr/>
        </p:nvPicPr>
        <p:blipFill>
          <a:blip r:embed="rId3"/>
          <a:stretch>
            <a:fillRect/>
          </a:stretch>
        </p:blipFill>
        <p:spPr>
          <a:xfrm>
            <a:off x="8395313" y="1699110"/>
            <a:ext cx="2552921" cy="3459780"/>
          </a:xfrm>
          <a:prstGeom prst="rect">
            <a:avLst/>
          </a:prstGeom>
        </p:spPr>
      </p:pic>
    </p:spTree>
    <p:extLst>
      <p:ext uri="{BB962C8B-B14F-4D97-AF65-F5344CB8AC3E}">
        <p14:creationId xmlns:p14="http://schemas.microsoft.com/office/powerpoint/2010/main" val="2704762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Self-Driving Car</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6" y="1244339"/>
            <a:ext cx="6555423" cy="4713401"/>
          </a:xfrm>
        </p:spPr>
        <p:txBody>
          <a:bodyPr>
            <a:normAutofit lnSpcReduction="10000"/>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2 is assigned to the FORWARD motion</a:t>
            </a:r>
          </a:p>
          <a:p>
            <a:pPr marL="0" indent="0" algn="just">
              <a:spcAft>
                <a:spcPts val="600"/>
              </a:spcAf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4 is tasked to the motion to the LEFT</a:t>
            </a:r>
          </a:p>
          <a:p>
            <a:pPr marL="0" indent="0" algn="just">
              <a:spcAft>
                <a:spcPts val="600"/>
              </a:spcAf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6 is tasked to the motion to the RIGHT</a:t>
            </a:r>
          </a:p>
          <a:p>
            <a:pPr marL="0" indent="0" algn="just">
              <a:spcAft>
                <a:spcPts val="600"/>
              </a:spcAft>
              <a:buNone/>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Button 8 is assigned to the BACKWARD motion</a:t>
            </a:r>
          </a:p>
        </p:txBody>
      </p:sp>
      <p:pic>
        <p:nvPicPr>
          <p:cNvPr id="8" name="Picture 7">
            <a:extLst>
              <a:ext uri="{FF2B5EF4-FFF2-40B4-BE49-F238E27FC236}">
                <a16:creationId xmlns:a16="http://schemas.microsoft.com/office/drawing/2014/main" id="{7CAB49F6-8820-D245-C378-933236FAB482}"/>
              </a:ext>
            </a:extLst>
          </p:cNvPr>
          <p:cNvPicPr>
            <a:picLocks noChangeAspect="1"/>
          </p:cNvPicPr>
          <p:nvPr/>
        </p:nvPicPr>
        <p:blipFill>
          <a:blip r:embed="rId3"/>
          <a:stretch>
            <a:fillRect/>
          </a:stretch>
        </p:blipFill>
        <p:spPr>
          <a:xfrm>
            <a:off x="9543136" y="922093"/>
            <a:ext cx="2042337" cy="5296359"/>
          </a:xfrm>
          <a:prstGeom prst="rect">
            <a:avLst/>
          </a:prstGeom>
        </p:spPr>
      </p:pic>
      <p:pic>
        <p:nvPicPr>
          <p:cNvPr id="10" name="Picture 9">
            <a:extLst>
              <a:ext uri="{FF2B5EF4-FFF2-40B4-BE49-F238E27FC236}">
                <a16:creationId xmlns:a16="http://schemas.microsoft.com/office/drawing/2014/main" id="{BBE602C1-A4CA-FC7D-F331-8F403A8EC686}"/>
              </a:ext>
            </a:extLst>
          </p:cNvPr>
          <p:cNvPicPr>
            <a:picLocks noChangeAspect="1"/>
          </p:cNvPicPr>
          <p:nvPr/>
        </p:nvPicPr>
        <p:blipFill>
          <a:blip r:embed="rId4"/>
          <a:stretch>
            <a:fillRect/>
          </a:stretch>
        </p:blipFill>
        <p:spPr>
          <a:xfrm>
            <a:off x="7026929" y="906851"/>
            <a:ext cx="2027096" cy="5326842"/>
          </a:xfrm>
          <a:prstGeom prst="rect">
            <a:avLst/>
          </a:prstGeom>
        </p:spPr>
      </p:pic>
    </p:spTree>
    <p:extLst>
      <p:ext uri="{BB962C8B-B14F-4D97-AF65-F5344CB8AC3E}">
        <p14:creationId xmlns:p14="http://schemas.microsoft.com/office/powerpoint/2010/main" val="17899330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200"/>
                                        <p:tgtEl>
                                          <p:spTgt spid="3">
                                            <p:txEl>
                                              <p:pRg st="2" end="2"/>
                                            </p:txEl>
                                          </p:spTgt>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2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2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marL="0" indent="0" algn="just">
              <a:spcAft>
                <a:spcPts val="1200"/>
              </a:spcAft>
              <a:buNone/>
            </a:pPr>
            <a:r>
              <a:rPr lang="en-US" dirty="0">
                <a:latin typeface="Open Sans" panose="020B0606030504020204" pitchFamily="34" charset="0"/>
                <a:ea typeface="Open Sans" panose="020B0606030504020204" pitchFamily="34" charset="0"/>
                <a:cs typeface="Open Sans" panose="020B0606030504020204" pitchFamily="34" charset="0"/>
              </a:rPr>
              <a:t>The self-driving car works by:</a:t>
            </a:r>
          </a:p>
          <a:p>
            <a:pPr lvl="1" algn="just">
              <a:spcAft>
                <a:spcPts val="1200"/>
              </a:spcAf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the use of buttons 2 and 8 for forward and backward motions, respectively</a:t>
            </a:r>
          </a:p>
          <a:p>
            <a:pPr lvl="1" algn="just">
              <a:spcAft>
                <a:spcPts val="1200"/>
              </a:spcAf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pressing buttons 4 and 6 to turn left and right, respectively</a:t>
            </a:r>
            <a:endParaRPr lang="en-PH"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64585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
                                        <p:tgtEl>
                                          <p:spTgt spid="3">
                                            <p:txEl>
                                              <p:pRg st="1" end="1"/>
                                            </p:txEl>
                                          </p:spTgt>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algn="just">
              <a:spcAft>
                <a:spcPts val="1200"/>
              </a:spcAf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The second goal was reached by synchronizing the IR remote with the L298N driver module and DC motors, which demonstrated the use of microprocessors, logic circuits, and switching theory, as well as the teachings in CPE160P.</a:t>
            </a:r>
          </a:p>
          <a:p>
            <a:pPr algn="just">
              <a:spcAft>
                <a:spcPts val="1200"/>
              </a:spcAft>
              <a:buFont typeface="Wingdings" panose="05000000000000000000" pitchFamily="2" charset="2"/>
              <a:buChar char="Ø"/>
            </a:pPr>
            <a:r>
              <a:rPr lang="en-US" dirty="0">
                <a:latin typeface="Open Sans" panose="020B0606030504020204" pitchFamily="34" charset="0"/>
                <a:ea typeface="Open Sans" panose="020B0606030504020204" pitchFamily="34" charset="0"/>
                <a:cs typeface="Open Sans" panose="020B0606030504020204" pitchFamily="34" charset="0"/>
              </a:rPr>
              <a:t> The self-driving car was successfully created utilizing the Arduino kit and car chassis kit, and basic handshaking was proven by synchronizing the input and output in real-time.</a:t>
            </a:r>
            <a:endParaRPr lang="en-PH"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66552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045B03F0E29F341B8FA8A02C69678F2" ma:contentTypeVersion="16" ma:contentTypeDescription="Create a new document." ma:contentTypeScope="" ma:versionID="573093756d776e3dbf04c8eb240bd85a">
  <xsd:schema xmlns:xsd="http://www.w3.org/2001/XMLSchema" xmlns:xs="http://www.w3.org/2001/XMLSchema" xmlns:p="http://schemas.microsoft.com/office/2006/metadata/properties" xmlns:ns2="1ea434b8-4dc5-44f7-bb31-0866ee440822" xmlns:ns3="d90711d2-37bb-4b26-8b23-51c02972fe26" targetNamespace="http://schemas.microsoft.com/office/2006/metadata/properties" ma:root="true" ma:fieldsID="00a48d9f954b4b23e62df43abd264511" ns2:_="" ns3:_="">
    <xsd:import namespace="1ea434b8-4dc5-44f7-bb31-0866ee440822"/>
    <xsd:import namespace="d90711d2-37bb-4b26-8b23-51c02972fe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434b8-4dc5-44f7-bb31-0866ee440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08379bb-b442-46b3-b8c0-8817e2eba01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0711d2-37bb-4b26-8b23-51c02972fe2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5686e5-f3f9-4684-9809-4e223b1b0fd7}" ma:internalName="TaxCatchAll" ma:showField="CatchAllData" ma:web="d90711d2-37bb-4b26-8b23-51c02972fe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d90711d2-37bb-4b26-8b23-51c02972fe26">
      <UserInfo>
        <DisplayName/>
        <AccountId xsi:nil="true"/>
        <AccountType/>
      </UserInfo>
    </SharedWithUsers>
    <lcf76f155ced4ddcb4097134ff3c332f xmlns="1ea434b8-4dc5-44f7-bb31-0866ee440822">
      <Terms xmlns="http://schemas.microsoft.com/office/infopath/2007/PartnerControls"/>
    </lcf76f155ced4ddcb4097134ff3c332f>
    <TaxCatchAll xmlns="d90711d2-37bb-4b26-8b23-51c02972fe26" xsi:nil="true"/>
  </documentManagement>
</p:properties>
</file>

<file path=customXml/itemProps1.xml><?xml version="1.0" encoding="utf-8"?>
<ds:datastoreItem xmlns:ds="http://schemas.openxmlformats.org/officeDocument/2006/customXml" ds:itemID="{DA769C6F-6ADF-412F-8F70-2DD1A151B0C3}">
  <ds:schemaRefs>
    <ds:schemaRef ds:uri="http://schemas.microsoft.com/sharepoint/v3/contenttype/forms"/>
  </ds:schemaRefs>
</ds:datastoreItem>
</file>

<file path=customXml/itemProps2.xml><?xml version="1.0" encoding="utf-8"?>
<ds:datastoreItem xmlns:ds="http://schemas.openxmlformats.org/officeDocument/2006/customXml" ds:itemID="{6C7BBEC2-693C-4BAB-A217-B3E9F4642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434b8-4dc5-44f7-bb31-0866ee440822"/>
    <ds:schemaRef ds:uri="d90711d2-37bb-4b26-8b23-51c02972fe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FBD36D-DAE8-46CB-B778-7C1B43AD43BF}">
  <ds:schemaRefs>
    <ds:schemaRef ds:uri="http://purl.org/dc/terms/"/>
    <ds:schemaRef ds:uri="http://schemas.microsoft.com/office/2006/documentManagement/types"/>
    <ds:schemaRef ds:uri="92cb724c-d654-454f-915d-237124a8a1a9"/>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4b30f15d-6c4d-47ed-bde6-797b56236eb0"/>
    <ds:schemaRef ds:uri="http://schemas.microsoft.com/office/2006/metadata/properties"/>
    <ds:schemaRef ds:uri="d90711d2-37bb-4b26-8b23-51c02972fe26"/>
    <ds:schemaRef ds:uri="1ea434b8-4dc5-44f7-bb31-0866ee440822"/>
  </ds:schemaRefs>
</ds:datastoreItem>
</file>

<file path=docProps/app.xml><?xml version="1.0" encoding="utf-8"?>
<Properties xmlns="http://schemas.openxmlformats.org/officeDocument/2006/extended-properties" xmlns:vt="http://schemas.openxmlformats.org/officeDocument/2006/docPropsVTypes">
  <Template/>
  <TotalTime>4182</TotalTime>
  <Words>495</Words>
  <Application>Microsoft Office PowerPoint</Application>
  <PresentationFormat>Widescreen</PresentationFormat>
  <Paragraphs>71</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Open Sans</vt:lpstr>
      <vt:lpstr>Segoe UI</vt:lpstr>
      <vt:lpstr>Wingdings</vt:lpstr>
      <vt:lpstr>2_Office Theme</vt:lpstr>
      <vt:lpstr>SELF-DRIVING CAR</vt:lpstr>
      <vt:lpstr>Introduction: Self-Driving Car</vt:lpstr>
      <vt:lpstr>Objectives</vt:lpstr>
      <vt:lpstr>Materials</vt:lpstr>
      <vt:lpstr>Materials</vt:lpstr>
      <vt:lpstr>Discussion: Self-Driving Car</vt:lpstr>
      <vt:lpstr>Discussion: Self-Driving Car</vt:lpstr>
      <vt:lpstr>Discussion: Self-Driving Car</vt:lpstr>
      <vt:lpstr>Discussion: Self-Driving Car</vt:lpstr>
      <vt:lpstr>Conclusion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orientation will start in</dc:title>
  <dc:subject/>
  <dc:creator>Jessica Pauline L. Faigones</dc:creator>
  <cp:keywords/>
  <dc:description/>
  <cp:lastModifiedBy>Raphael Nano</cp:lastModifiedBy>
  <cp:revision>323</cp:revision>
  <dcterms:created xsi:type="dcterms:W3CDTF">2020-06-10T07:30:38Z</dcterms:created>
  <dcterms:modified xsi:type="dcterms:W3CDTF">2024-01-05T12:03:14Z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182800</vt:r8>
  </property>
  <property fmtid="{D5CDD505-2E9C-101B-9397-08002B2CF9AE}" pid="3" name="ContentTypeId">
    <vt:lpwstr>0x0101000045B03F0E29F341B8FA8A02C69678F2</vt:lpwstr>
  </property>
  <property fmtid="{D5CDD505-2E9C-101B-9397-08002B2CF9AE}" pid="4" name="ComplianceAssetId">
    <vt:lpwstr/>
  </property>
</Properties>
</file>