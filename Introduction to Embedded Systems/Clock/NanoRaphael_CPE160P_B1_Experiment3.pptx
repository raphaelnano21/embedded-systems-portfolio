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2"/>
  </p:notesMasterIdLst>
  <p:handoutMasterIdLst>
    <p:handoutMasterId r:id="rId13"/>
  </p:handoutMasterIdLst>
  <p:sldIdLst>
    <p:sldId id="881" r:id="rId5"/>
    <p:sldId id="943" r:id="rId6"/>
    <p:sldId id="944" r:id="rId7"/>
    <p:sldId id="945" r:id="rId8"/>
    <p:sldId id="946" r:id="rId9"/>
    <p:sldId id="950" r:id="rId10"/>
    <p:sldId id="94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onis A. Padilla" initials="DAP" lastIdx="1" clrIdx="0">
    <p:extLst>
      <p:ext uri="{19B8F6BF-5375-455C-9EA6-DF929625EA0E}">
        <p15:presenceInfo xmlns:p15="http://schemas.microsoft.com/office/powerpoint/2012/main" userId="S::dapadilla@mapua.edu.ph::22fd53f7-3725-4d55-add0-dfc6f0ea2c9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50021"/>
    <a:srgbClr val="E1261C"/>
    <a:srgbClr val="F9F9F9"/>
    <a:srgbClr val="CC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61" autoAdjust="0"/>
    <p:restoredTop sz="95388" autoAdjust="0"/>
  </p:normalViewPr>
  <p:slideViewPr>
    <p:cSldViewPr snapToGrid="0">
      <p:cViewPr varScale="1">
        <p:scale>
          <a:sx n="89" d="100"/>
          <a:sy n="89" d="100"/>
        </p:scale>
        <p:origin x="715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09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AF2D7B-A1C4-422F-8BEC-B2ADA9B38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4CB62-60B8-42ED-B41D-1204D6EC34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4004C-1C80-46E0-9113-8DACE1C8170C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8C740-DCA6-4653-8D38-299256130F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7E7C8-7A32-480E-8E8D-D8E4B9A035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14B00-5376-4F9D-B569-068DF040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57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E3EBA-9407-2244-8D2E-48917138C0BF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4D408-4DFC-BF47-8641-93FB6C180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52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24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31/08/2023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04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435" y="282298"/>
            <a:ext cx="9383339" cy="512401"/>
          </a:xfrm>
        </p:spPr>
        <p:txBody>
          <a:bodyPr>
            <a:noAutofit/>
          </a:bodyPr>
          <a:lstStyle>
            <a:lvl1pPr>
              <a:defRPr sz="3200" b="1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154" y="1156700"/>
            <a:ext cx="10564182" cy="4556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31/08/2023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66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31/08/2023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2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31/08/2023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25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31/08/2023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07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31/08/2023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87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31/08/2023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04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31/08/2023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45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31/08/2023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30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31/08/2023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05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31/08/2023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38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4" r:id="rId7"/>
    <p:sldLayoutId id="2147483835" r:id="rId8"/>
    <p:sldLayoutId id="2147483836" r:id="rId9"/>
    <p:sldLayoutId id="2147483837" r:id="rId10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284766" y="846685"/>
            <a:ext cx="6530102" cy="711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lvl="0" indent="-203200" algn="l">
              <a:spcBef>
                <a:spcPts val="0"/>
              </a:spcBef>
              <a:buClr>
                <a:srgbClr val="FFFF00"/>
              </a:buClr>
              <a:buSzPct val="100000"/>
            </a:pPr>
            <a:r>
              <a:rPr lang="en-US" sz="40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Clock</a:t>
            </a:r>
            <a:endParaRPr lang="en-PH" sz="4000" b="1" dirty="0">
              <a:solidFill>
                <a:srgbClr val="FFFF00"/>
              </a:solidFill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284766" y="1557885"/>
            <a:ext cx="6034670" cy="109552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lvl="0" indent="-127000" algn="l">
              <a:spcBef>
                <a:spcPts val="0"/>
              </a:spcBef>
              <a:buClr>
                <a:schemeClr val="lt1"/>
              </a:buClr>
              <a:buSzPct val="100000"/>
            </a:pPr>
            <a:r>
              <a:rPr lang="en-GB" sz="3200" b="1" dirty="0">
                <a:solidFill>
                  <a:schemeClr val="lt1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Experiment 3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B0E7A66-65F8-4D09-A464-3721AFFC3633}"/>
              </a:ext>
            </a:extLst>
          </p:cNvPr>
          <p:cNvSpPr txBox="1">
            <a:spLocks/>
          </p:cNvSpPr>
          <p:nvPr/>
        </p:nvSpPr>
        <p:spPr>
          <a:xfrm>
            <a:off x="147702" y="5904349"/>
            <a:ext cx="6949070" cy="770513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Computer Engineering Department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School of Electrical, Electronics, and Computer Engineering</a:t>
            </a:r>
          </a:p>
        </p:txBody>
      </p:sp>
      <p:pic>
        <p:nvPicPr>
          <p:cNvPr id="3" name="Picture 2" descr="A picture containing object, measure, clock, cup&#10;&#10;Description automatically generated">
            <a:extLst>
              <a:ext uri="{FF2B5EF4-FFF2-40B4-BE49-F238E27FC236}">
                <a16:creationId xmlns:a16="http://schemas.microsoft.com/office/drawing/2014/main" id="{93681FFB-7892-473D-BA03-7308FEE22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600" y="2834255"/>
            <a:ext cx="1531272" cy="1531272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E44DF05-07A0-4892-8981-CB6440644483}"/>
              </a:ext>
            </a:extLst>
          </p:cNvPr>
          <p:cNvSpPr txBox="1">
            <a:spLocks/>
          </p:cNvSpPr>
          <p:nvPr/>
        </p:nvSpPr>
        <p:spPr>
          <a:xfrm>
            <a:off x="284766" y="3741893"/>
            <a:ext cx="4191731" cy="1382244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Raphael S. Nano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CPE160P / B1</a:t>
            </a:r>
          </a:p>
        </p:txBody>
      </p:sp>
    </p:spTree>
    <p:extLst>
      <p:ext uri="{BB962C8B-B14F-4D97-AF65-F5344CB8AC3E}">
        <p14:creationId xmlns:p14="http://schemas.microsoft.com/office/powerpoint/2010/main" val="189877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BE44-DEA0-C8F1-B220-4F56E5330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Clock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19F78-2EA6-6CC1-752D-C8DA5962E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It is a device used to measure time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May be analog or digital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It performs a regular movement of intervals determined by seconds, minutes, and hours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It plays an integral role in being consistent in human’s reality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43893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6651-8300-9B1E-D82E-D9BDEDD2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FD49A-96B4-5E3D-262C-6DE9E8C54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3" y="1156700"/>
            <a:ext cx="11528661" cy="4556765"/>
          </a:xfrm>
        </p:spPr>
        <p:txBody>
          <a:bodyPr>
            <a:normAutofit/>
          </a:bodyPr>
          <a:lstStyle/>
          <a:p>
            <a:pPr marL="342900" indent="-342900" algn="just"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to demonstrate how a real clock works.</a:t>
            </a:r>
          </a:p>
          <a:p>
            <a:pPr marL="342900" indent="-342900" algn="just">
              <a:buAutoNum type="arabicPeriod"/>
            </a:pPr>
            <a:endParaRPr lang="en-US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to apply embedded systems in displaying hours and minutes using Seven-segment display, and switches.</a:t>
            </a:r>
          </a:p>
          <a:p>
            <a:pPr marL="342900" indent="-342900" algn="just">
              <a:buAutoNum type="arabicPeriod"/>
            </a:pPr>
            <a:endParaRPr lang="en-US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to apply what were learned in Microprocessors and Logic Circuits and Switching Theory.</a:t>
            </a:r>
          </a:p>
          <a:p>
            <a:pPr marL="342900" indent="-342900" algn="just">
              <a:buAutoNum type="arabicPeriod"/>
            </a:pPr>
            <a:endParaRPr lang="en-US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sz="2400" dirty="0">
                <a:solidFill>
                  <a:srgbClr val="262626"/>
                </a:solidFill>
                <a:latin typeface="Open Sans" panose="020B0606030504020204" pitchFamily="34" charset="0"/>
                <a:ea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o be able to apply embedded systems in a simple handshaking using Arduino Kit.</a:t>
            </a: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31830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81D8-5970-A98E-D2DD-7FB6C53A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3153-534E-FE9A-3AE5-29ADD83A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PH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Arduino Kit</a:t>
            </a:r>
            <a:endParaRPr lang="en-PH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Arduino Uno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  <a:ea typeface="Times New Roman" panose="02020603050405020304" pitchFamily="18" charset="0"/>
              </a:rPr>
              <a:t> 1 4-Digit seven segment display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  <a:ea typeface="Times New Roman" panose="02020603050405020304" pitchFamily="18" charset="0"/>
              </a:rPr>
              <a:t> 4 resistors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  <a:ea typeface="Times New Roman" panose="02020603050405020304" pitchFamily="18" charset="0"/>
              </a:rPr>
              <a:t> 5 switch buttons</a:t>
            </a:r>
            <a:endParaRPr lang="en-PH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P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EAB1C4-9514-3A71-F639-CC777C94D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3169" y="1389613"/>
            <a:ext cx="5266849" cy="395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0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Clock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6904903" cy="4556765"/>
          </a:xfrm>
        </p:spPr>
        <p:txBody>
          <a:bodyPr/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400" dirty="0"/>
              <a:t>There are three parts: continuous ticking, increment, and decrement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The output should have a timing of exactly 60000 milliseconds per tick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External library </a:t>
            </a:r>
            <a:r>
              <a:rPr lang="en-US" sz="2400" dirty="0" err="1"/>
              <a:t>SevSeg.h</a:t>
            </a:r>
            <a:r>
              <a:rPr lang="en-US" sz="2400" dirty="0"/>
              <a:t> was utilized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en-US" sz="2400" dirty="0" err="1"/>
              <a:t>numarrgen</a:t>
            </a:r>
            <a:r>
              <a:rPr lang="en-US" sz="2400" dirty="0"/>
              <a:t>() stores possible time combinations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 err="1"/>
              <a:t>millis</a:t>
            </a:r>
            <a:r>
              <a:rPr lang="en-US" sz="2400" dirty="0"/>
              <a:t>() function was used in ensuring the timing</a:t>
            </a:r>
          </a:p>
          <a:p>
            <a:pPr algn="just">
              <a:spcAft>
                <a:spcPts val="600"/>
              </a:spcAft>
            </a:pPr>
            <a:endParaRPr lang="en-US" dirty="0"/>
          </a:p>
          <a:p>
            <a:pPr algn="just">
              <a:spcAft>
                <a:spcPts val="600"/>
              </a:spcAft>
            </a:pPr>
            <a:endParaRPr lang="en-P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6785CC-5658-2503-4FEA-0CE03A424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004" y="3730293"/>
            <a:ext cx="3086400" cy="231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9ECD93-D44E-7543-2C85-D2E0A59F4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004" y="1156700"/>
            <a:ext cx="3086400" cy="23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0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Incrementing and Decrementing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6904903" cy="4556765"/>
          </a:xfrm>
        </p:spPr>
        <p:txBody>
          <a:bodyPr/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400" dirty="0"/>
              <a:t>The fifth button enables the buttons for adjustment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First button increments hours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Second button increments minutes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Third button decrements hours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Fourth button decrements minutes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Code uses multiple if-else statements in verifying the pressed button</a:t>
            </a:r>
            <a:endParaRPr lang="en-US" dirty="0"/>
          </a:p>
          <a:p>
            <a:pPr algn="just">
              <a:spcAft>
                <a:spcPts val="600"/>
              </a:spcAft>
            </a:pPr>
            <a:endParaRPr lang="en-P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6785CC-5658-2503-4FEA-0CE03A424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004" y="3730293"/>
            <a:ext cx="3086400" cy="231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9ECD93-D44E-7543-2C85-D2E0A59F4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004" y="1156700"/>
            <a:ext cx="3086400" cy="23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279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D87-3C2B-E0E7-BF4C-034764E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B3A3-7EAD-78B9-B327-F3EEF871E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A real clock was recreated using materials from the Arduino kit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The 4-digit seven-segment display and switch buttons were utilized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Configuration of the seven-segment display, delays, and switches applied learnings from Microprocessors and Logic Circuits and Switching Theory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Clock was produced effectively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56458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90711d2-37bb-4b26-8b23-51c02972fe26">
      <UserInfo>
        <DisplayName/>
        <AccountId xsi:nil="true"/>
        <AccountType/>
      </UserInfo>
    </SharedWithUsers>
    <lcf76f155ced4ddcb4097134ff3c332f xmlns="1ea434b8-4dc5-44f7-bb31-0866ee440822">
      <Terms xmlns="http://schemas.microsoft.com/office/infopath/2007/PartnerControls"/>
    </lcf76f155ced4ddcb4097134ff3c332f>
    <TaxCatchAll xmlns="d90711d2-37bb-4b26-8b23-51c02972fe2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45B03F0E29F341B8FA8A02C69678F2" ma:contentTypeVersion="16" ma:contentTypeDescription="Create a new document." ma:contentTypeScope="" ma:versionID="573093756d776e3dbf04c8eb240bd85a">
  <xsd:schema xmlns:xsd="http://www.w3.org/2001/XMLSchema" xmlns:xs="http://www.w3.org/2001/XMLSchema" xmlns:p="http://schemas.microsoft.com/office/2006/metadata/properties" xmlns:ns2="1ea434b8-4dc5-44f7-bb31-0866ee440822" xmlns:ns3="d90711d2-37bb-4b26-8b23-51c02972fe26" targetNamespace="http://schemas.microsoft.com/office/2006/metadata/properties" ma:root="true" ma:fieldsID="00a48d9f954b4b23e62df43abd264511" ns2:_="" ns3:_="">
    <xsd:import namespace="1ea434b8-4dc5-44f7-bb31-0866ee440822"/>
    <xsd:import namespace="d90711d2-37bb-4b26-8b23-51c02972fe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434b8-4dc5-44f7-bb31-0866ee4408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08379bb-b442-46b3-b8c0-8817e2eba0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711d2-37bb-4b26-8b23-51c02972fe2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5686e5-f3f9-4684-9809-4e223b1b0fd7}" ma:internalName="TaxCatchAll" ma:showField="CatchAllData" ma:web="d90711d2-37bb-4b26-8b23-51c02972fe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EFBD36D-DAE8-46CB-B778-7C1B43AD43BF}">
  <ds:schemaRefs>
    <ds:schemaRef ds:uri="http://purl.org/dc/terms/"/>
    <ds:schemaRef ds:uri="http://schemas.microsoft.com/office/2006/documentManagement/types"/>
    <ds:schemaRef ds:uri="92cb724c-d654-454f-915d-237124a8a1a9"/>
    <ds:schemaRef ds:uri="http://purl.org/dc/dcmitype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4b30f15d-6c4d-47ed-bde6-797b56236eb0"/>
    <ds:schemaRef ds:uri="http://schemas.microsoft.com/office/2006/metadata/properties"/>
    <ds:schemaRef ds:uri="d90711d2-37bb-4b26-8b23-51c02972fe26"/>
    <ds:schemaRef ds:uri="1ea434b8-4dc5-44f7-bb31-0866ee440822"/>
  </ds:schemaRefs>
</ds:datastoreItem>
</file>

<file path=customXml/itemProps2.xml><?xml version="1.0" encoding="utf-8"?>
<ds:datastoreItem xmlns:ds="http://schemas.openxmlformats.org/officeDocument/2006/customXml" ds:itemID="{6C7BBEC2-693C-4BAB-A217-B3E9F46427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a434b8-4dc5-44f7-bb31-0866ee440822"/>
    <ds:schemaRef ds:uri="d90711d2-37bb-4b26-8b23-51c02972fe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A769C6F-6ADF-412F-8F70-2DD1A151B0C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3326</TotalTime>
  <Words>299</Words>
  <Application>Microsoft Office PowerPoint</Application>
  <PresentationFormat>Widescreen</PresentationFormat>
  <Paragraphs>45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Open Sans</vt:lpstr>
      <vt:lpstr>Segoe UI</vt:lpstr>
      <vt:lpstr>Times New Roman</vt:lpstr>
      <vt:lpstr>Wingdings</vt:lpstr>
      <vt:lpstr>2_Office Theme</vt:lpstr>
      <vt:lpstr>Clock</vt:lpstr>
      <vt:lpstr>Introduction: Clock</vt:lpstr>
      <vt:lpstr>Objectives</vt:lpstr>
      <vt:lpstr>Materials</vt:lpstr>
      <vt:lpstr>Discussion: Clock System</vt:lpstr>
      <vt:lpstr>Discussion: Incrementing and Decrementing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orientation will start in</dc:title>
  <dc:subject/>
  <dc:creator>Jessica Pauline L. Faigones</dc:creator>
  <cp:keywords/>
  <dc:description/>
  <cp:lastModifiedBy>Raphael Nano</cp:lastModifiedBy>
  <cp:revision>291</cp:revision>
  <dcterms:created xsi:type="dcterms:W3CDTF">2020-06-10T07:30:38Z</dcterms:created>
  <dcterms:modified xsi:type="dcterms:W3CDTF">2023-08-31T12:32:08Z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182800</vt:r8>
  </property>
  <property fmtid="{D5CDD505-2E9C-101B-9397-08002B2CF9AE}" pid="3" name="ContentTypeId">
    <vt:lpwstr>0x0101000045B03F0E29F341B8FA8A02C69678F2</vt:lpwstr>
  </property>
  <property fmtid="{D5CDD505-2E9C-101B-9397-08002B2CF9AE}" pid="4" name="ComplianceAssetId">
    <vt:lpwstr/>
  </property>
</Properties>
</file>