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26" r:id="rId4"/>
  </p:sldMasterIdLst>
  <p:notesMasterIdLst>
    <p:notesMasterId r:id="rId19"/>
  </p:notesMasterIdLst>
  <p:handoutMasterIdLst>
    <p:handoutMasterId r:id="rId20"/>
  </p:handoutMasterIdLst>
  <p:sldIdLst>
    <p:sldId id="881" r:id="rId5"/>
    <p:sldId id="943" r:id="rId6"/>
    <p:sldId id="944" r:id="rId7"/>
    <p:sldId id="945" r:id="rId8"/>
    <p:sldId id="956" r:id="rId9"/>
    <p:sldId id="954" r:id="rId10"/>
    <p:sldId id="960" r:id="rId11"/>
    <p:sldId id="963" r:id="rId12"/>
    <p:sldId id="961" r:id="rId13"/>
    <p:sldId id="965" r:id="rId14"/>
    <p:sldId id="964" r:id="rId15"/>
    <p:sldId id="949" r:id="rId16"/>
    <p:sldId id="959" r:id="rId17"/>
    <p:sldId id="966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Dionis A. Padilla" initials="DAP" lastIdx="1" clrIdx="0">
    <p:extLst>
      <p:ext uri="{19B8F6BF-5375-455C-9EA6-DF929625EA0E}">
        <p15:presenceInfo xmlns:p15="http://schemas.microsoft.com/office/powerpoint/2012/main" userId="S::dapadilla@mapua.edu.ph::22fd53f7-3725-4d55-add0-dfc6f0ea2c90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A50021"/>
    <a:srgbClr val="E1261C"/>
    <a:srgbClr val="F9F9F9"/>
    <a:srgbClr val="CCAFA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218" autoAdjust="0"/>
    <p:restoredTop sz="90898" autoAdjust="0"/>
  </p:normalViewPr>
  <p:slideViewPr>
    <p:cSldViewPr snapToGrid="0">
      <p:cViewPr varScale="1">
        <p:scale>
          <a:sx n="81" d="100"/>
          <a:sy n="81" d="100"/>
        </p:scale>
        <p:origin x="835" y="53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124" d="100"/>
          <a:sy n="124" d="100"/>
        </p:scale>
        <p:origin x="4098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commentAuthors" Target="commentAuthor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86AF2D7B-A1C4-422F-8BEC-B2ADA9B3845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5A4CB62-60B8-42ED-B41D-1204D6EC34B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584004C-1C80-46E0-9113-8DACE1C8170C}" type="datetimeFigureOut">
              <a:rPr lang="en-US" smtClean="0"/>
              <a:t>2/29/2024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A98C740-DCA6-4653-8D38-299256130F1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177E7C8-7A32-480E-8E8D-D8E4B9A03569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E514B00-5376-4F9D-B569-068DF04093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235787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AE3EBA-9407-2244-8D2E-48917138C0BF}" type="datetimeFigureOut">
              <a:rPr lang="en-US" smtClean="0"/>
              <a:t>2/29/2024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EB4D408-4DFC-BF47-8641-93FB6C1807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26522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EB4D408-4DFC-BF47-8641-93FB6C18070A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772442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B4D408-4DFC-BF47-8641-93FB6C18070A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2688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B4D408-4DFC-BF47-8641-93FB6C18070A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152371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materials utilized to construct the real-time basketball scoreboard are the Arduino UNO, the 4-digit seven segment display, and 5 switch buttons. </a:t>
            </a:r>
            <a:endParaRPr lang="en-P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B4D408-4DFC-BF47-8641-93FB6C18070A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723071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B4D408-4DFC-BF47-8641-93FB6C18070A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630771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B4D408-4DFC-BF47-8641-93FB6C18070A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250744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B4D408-4DFC-BF47-8641-93FB6C18070A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680803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B4D408-4DFC-BF47-8641-93FB6C18070A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101301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B4D408-4DFC-BF47-8641-93FB6C18070A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865350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A2F83D-E917-8C81-2E02-1AF084AA07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26C397E-3651-80D4-4D34-8DC0E94EC6B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AA71F8F-534C-6E6C-F0AF-77536C23007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5CB8ED-277D-94C8-F7B7-ABE33FA7CC5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B4D408-4DFC-BF47-8641-93FB6C18070A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139683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AC7EC5-4D7C-1B5F-C542-9EB92718D8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185B6BB-ED4B-BC2E-498E-B79AE8D0A41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F4F2800-EA72-0206-A0EA-21A084F865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4DD784-2681-EA64-74E5-AA69D9C2FE7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B4D408-4DFC-BF47-8641-93FB6C18070A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821218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B4D408-4DFC-BF47-8641-93FB6C18070A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06123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P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B8A35F-61D6-417E-8CA4-3FFFB03A1EF2}" type="datetimeFigureOut">
              <a:rPr lang="en-PH" smtClean="0">
                <a:solidFill>
                  <a:prstClr val="black">
                    <a:tint val="75000"/>
                  </a:prstClr>
                </a:solidFill>
              </a:rPr>
              <a:pPr/>
              <a:t>29/02/2024</a:t>
            </a:fld>
            <a:endParaRPr lang="en-PH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6A1CFE-FAD5-4B16-8253-97D01193D803}" type="slidenum">
              <a:rPr lang="en-PH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PH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500487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reveal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8435" y="282298"/>
            <a:ext cx="9383339" cy="512401"/>
          </a:xfrm>
        </p:spPr>
        <p:txBody>
          <a:bodyPr>
            <a:noAutofit/>
          </a:bodyPr>
          <a:lstStyle>
            <a:lvl1pPr>
              <a:defRPr sz="3200" b="1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PH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8154" y="1156700"/>
            <a:ext cx="10564182" cy="455676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B8A35F-61D6-417E-8CA4-3FFFB03A1EF2}" type="datetimeFigureOut">
              <a:rPr lang="en-PH" smtClean="0">
                <a:solidFill>
                  <a:prstClr val="black">
                    <a:tint val="75000"/>
                  </a:prstClr>
                </a:solidFill>
              </a:rPr>
              <a:pPr/>
              <a:t>29/02/2024</a:t>
            </a:fld>
            <a:endParaRPr lang="en-PH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6A1CFE-FAD5-4B16-8253-97D01193D803}" type="slidenum">
              <a:rPr lang="en-PH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PH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216650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reveal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B8A35F-61D6-417E-8CA4-3FFFB03A1EF2}" type="datetimeFigureOut">
              <a:rPr lang="en-PH" smtClean="0">
                <a:solidFill>
                  <a:prstClr val="black">
                    <a:tint val="75000"/>
                  </a:prstClr>
                </a:solidFill>
              </a:rPr>
              <a:pPr/>
              <a:t>29/02/2024</a:t>
            </a:fld>
            <a:endParaRPr lang="en-PH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6A1CFE-FAD5-4B16-8253-97D01193D803}" type="slidenum">
              <a:rPr lang="en-PH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PH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36214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reveal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B8A35F-61D6-417E-8CA4-3FFFB03A1EF2}" type="datetimeFigureOut">
              <a:rPr lang="en-PH" smtClean="0">
                <a:solidFill>
                  <a:prstClr val="black">
                    <a:tint val="75000"/>
                  </a:prstClr>
                </a:solidFill>
              </a:rPr>
              <a:pPr/>
              <a:t>29/02/2024</a:t>
            </a:fld>
            <a:endParaRPr lang="en-PH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6A1CFE-FAD5-4B16-8253-97D01193D803}" type="slidenum">
              <a:rPr lang="en-PH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PH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302573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reveal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B8A35F-61D6-417E-8CA4-3FFFB03A1EF2}" type="datetimeFigureOut">
              <a:rPr lang="en-PH" smtClean="0">
                <a:solidFill>
                  <a:prstClr val="black">
                    <a:tint val="75000"/>
                  </a:prstClr>
                </a:solidFill>
              </a:rPr>
              <a:pPr/>
              <a:t>29/02/2024</a:t>
            </a:fld>
            <a:endParaRPr lang="en-PH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6A1CFE-FAD5-4B16-8253-97D01193D803}" type="slidenum">
              <a:rPr lang="en-PH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PH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050785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reveal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B8A35F-61D6-417E-8CA4-3FFFB03A1EF2}" type="datetimeFigureOut">
              <a:rPr lang="en-PH" smtClean="0">
                <a:solidFill>
                  <a:prstClr val="black">
                    <a:tint val="75000"/>
                  </a:prstClr>
                </a:solidFill>
              </a:rPr>
              <a:pPr/>
              <a:t>29/02/2024</a:t>
            </a:fld>
            <a:endParaRPr lang="en-PH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6A1CFE-FAD5-4B16-8253-97D01193D803}" type="slidenum">
              <a:rPr lang="en-PH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PH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688756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reveal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B8A35F-61D6-417E-8CA4-3FFFB03A1EF2}" type="datetimeFigureOut">
              <a:rPr lang="en-PH" smtClean="0">
                <a:solidFill>
                  <a:prstClr val="black">
                    <a:tint val="75000"/>
                  </a:prstClr>
                </a:solidFill>
              </a:rPr>
              <a:pPr/>
              <a:t>29/02/2024</a:t>
            </a:fld>
            <a:endParaRPr lang="en-PH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6A1CFE-FAD5-4B16-8253-97D01193D803}" type="slidenum">
              <a:rPr lang="en-PH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PH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630454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reveal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PH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B8A35F-61D6-417E-8CA4-3FFFB03A1EF2}" type="datetimeFigureOut">
              <a:rPr lang="en-PH" smtClean="0">
                <a:solidFill>
                  <a:prstClr val="black">
                    <a:tint val="75000"/>
                  </a:prstClr>
                </a:solidFill>
              </a:rPr>
              <a:pPr/>
              <a:t>29/02/2024</a:t>
            </a:fld>
            <a:endParaRPr lang="en-PH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6A1CFE-FAD5-4B16-8253-97D01193D803}" type="slidenum">
              <a:rPr lang="en-PH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PH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984543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reveal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B8A35F-61D6-417E-8CA4-3FFFB03A1EF2}" type="datetimeFigureOut">
              <a:rPr lang="en-PH" smtClean="0">
                <a:solidFill>
                  <a:prstClr val="black">
                    <a:tint val="75000"/>
                  </a:prstClr>
                </a:solidFill>
              </a:rPr>
              <a:pPr/>
              <a:t>29/02/2024</a:t>
            </a:fld>
            <a:endParaRPr lang="en-PH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6A1CFE-FAD5-4B16-8253-97D01193D803}" type="slidenum">
              <a:rPr lang="en-PH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PH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513084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reveal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B8A35F-61D6-417E-8CA4-3FFFB03A1EF2}" type="datetimeFigureOut">
              <a:rPr lang="en-PH" smtClean="0">
                <a:solidFill>
                  <a:prstClr val="black">
                    <a:tint val="75000"/>
                  </a:prstClr>
                </a:solidFill>
              </a:rPr>
              <a:pPr/>
              <a:t>29/02/2024</a:t>
            </a:fld>
            <a:endParaRPr lang="en-PH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6A1CFE-FAD5-4B16-8253-97D01193D803}" type="slidenum">
              <a:rPr lang="en-PH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PH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20528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reveal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DB8A35F-61D6-417E-8CA4-3FFFB03A1EF2}" type="datetimeFigureOut">
              <a:rPr lang="en-PH" smtClean="0">
                <a:solidFill>
                  <a:prstClr val="black">
                    <a:tint val="75000"/>
                  </a:prstClr>
                </a:solidFill>
              </a:rPr>
              <a:pPr/>
              <a:t>29/02/2024</a:t>
            </a:fld>
            <a:endParaRPr lang="en-PH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PH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56A1CFE-FAD5-4B16-8253-97D01193D803}" type="slidenum">
              <a:rPr lang="en-PH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PH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243867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7" r:id="rId1"/>
    <p:sldLayoutId id="2147483828" r:id="rId2"/>
    <p:sldLayoutId id="2147483829" r:id="rId3"/>
    <p:sldLayoutId id="2147483830" r:id="rId4"/>
    <p:sldLayoutId id="2147483831" r:id="rId5"/>
    <p:sldLayoutId id="2147483832" r:id="rId6"/>
    <p:sldLayoutId id="2147483834" r:id="rId7"/>
    <p:sldLayoutId id="2147483835" r:id="rId8"/>
    <p:sldLayoutId id="2147483836" r:id="rId9"/>
    <p:sldLayoutId id="2147483837" r:id="rId10"/>
  </p:sldLayoutIdLst>
  <mc:AlternateContent xmlns:mc="http://schemas.openxmlformats.org/markup-compatibility/2006" xmlns:p14="http://schemas.microsoft.com/office/powerpoint/2010/main">
    <mc:Choice Requires="p14">
      <p:transition spd="slow" p14:dur="1500">
        <p14:reveal/>
      </p:transition>
    </mc:Choice>
    <mc:Fallback xmlns="">
      <p:transition spd="slow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12"/>
          <p:cNvSpPr txBox="1">
            <a:spLocks noGrp="1"/>
          </p:cNvSpPr>
          <p:nvPr>
            <p:ph type="ctrTitle"/>
          </p:nvPr>
        </p:nvSpPr>
        <p:spPr>
          <a:xfrm>
            <a:off x="284766" y="846685"/>
            <a:ext cx="6812006" cy="711200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b" anchorCtr="0">
            <a:noAutofit/>
          </a:bodyPr>
          <a:lstStyle/>
          <a:p>
            <a:pPr lvl="0" indent="-203200" algn="l">
              <a:spcBef>
                <a:spcPts val="0"/>
              </a:spcBef>
              <a:buClr>
                <a:srgbClr val="FFFF00"/>
              </a:buClr>
              <a:buSzPct val="100000"/>
            </a:pPr>
            <a:r>
              <a:rPr lang="en-US" sz="4000" b="1" dirty="0">
                <a:solidFill>
                  <a:srgbClr val="FFFF00"/>
                </a:solidFill>
                <a:latin typeface="Segoe UI" panose="020B0502040204020203" pitchFamily="34" charset="0"/>
                <a:ea typeface="Arial"/>
                <a:cs typeface="Segoe UI" panose="020B0502040204020203" pitchFamily="34" charset="0"/>
                <a:sym typeface="Arial"/>
              </a:rPr>
              <a:t>HOME APPLIANCE AUTOMATION USING IOT</a:t>
            </a:r>
            <a:endParaRPr lang="en-PH" sz="4000" b="1" dirty="0">
              <a:solidFill>
                <a:srgbClr val="FFFF00"/>
              </a:solidFill>
              <a:latin typeface="Segoe UI" panose="020B0502040204020203" pitchFamily="34" charset="0"/>
              <a:ea typeface="Arial"/>
              <a:cs typeface="Segoe UI" panose="020B0502040204020203" pitchFamily="34" charset="0"/>
              <a:sym typeface="Arial"/>
            </a:endParaRPr>
          </a:p>
        </p:txBody>
      </p:sp>
      <p:sp>
        <p:nvSpPr>
          <p:cNvPr id="13" name="Shape 13"/>
          <p:cNvSpPr txBox="1">
            <a:spLocks noGrp="1"/>
          </p:cNvSpPr>
          <p:nvPr>
            <p:ph type="subTitle" idx="1"/>
          </p:nvPr>
        </p:nvSpPr>
        <p:spPr>
          <a:xfrm>
            <a:off x="284766" y="1557885"/>
            <a:ext cx="6034670" cy="1095521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noAutofit/>
          </a:bodyPr>
          <a:lstStyle/>
          <a:p>
            <a:pPr lvl="0" indent="-127000" algn="l">
              <a:spcBef>
                <a:spcPts val="0"/>
              </a:spcBef>
              <a:buClr>
                <a:schemeClr val="lt1"/>
              </a:buClr>
              <a:buSzPct val="100000"/>
            </a:pPr>
            <a:r>
              <a:rPr lang="en-GB" sz="3200" b="1" dirty="0">
                <a:solidFill>
                  <a:schemeClr val="lt1"/>
                </a:solidFill>
                <a:latin typeface="Segoe UI" panose="020B0502040204020203" pitchFamily="34" charset="0"/>
                <a:ea typeface="Arial"/>
                <a:cs typeface="Segoe UI" panose="020B0502040204020203" pitchFamily="34" charset="0"/>
                <a:sym typeface="Arial"/>
              </a:rPr>
              <a:t>Experiment 2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BB0E7A66-65F8-4D09-A464-3721AFFC3633}"/>
              </a:ext>
            </a:extLst>
          </p:cNvPr>
          <p:cNvSpPr txBox="1">
            <a:spLocks/>
          </p:cNvSpPr>
          <p:nvPr/>
        </p:nvSpPr>
        <p:spPr>
          <a:xfrm>
            <a:off x="147702" y="5904349"/>
            <a:ext cx="6949070" cy="770513"/>
          </a:xfrm>
          <a:prstGeom prst="rect">
            <a:avLst/>
          </a:prstGeom>
          <a:noFill/>
          <a:ln>
            <a:noFill/>
          </a:ln>
          <a:effectLst>
            <a:reflection blurRad="88900" endPos="0" dist="50800" dir="5400000" sy="-100000" algn="bl" rotWithShape="0"/>
          </a:effectLst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 baseline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10000"/>
              </a:lnSpc>
              <a:spcBef>
                <a:spcPts val="200"/>
              </a:spcBef>
              <a:spcAft>
                <a:spcPts val="200"/>
              </a:spcAft>
            </a:pPr>
            <a:r>
              <a:rPr lang="en-PH" sz="18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Computer Engineering Department</a:t>
            </a:r>
          </a:p>
          <a:p>
            <a:pPr algn="l">
              <a:lnSpc>
                <a:spcPct val="110000"/>
              </a:lnSpc>
              <a:spcBef>
                <a:spcPts val="200"/>
              </a:spcBef>
              <a:spcAft>
                <a:spcPts val="200"/>
              </a:spcAft>
            </a:pPr>
            <a:r>
              <a:rPr lang="en-PH" sz="18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School of Electrical, Electronics, and Computer Engineering</a:t>
            </a:r>
          </a:p>
        </p:txBody>
      </p:sp>
      <p:pic>
        <p:nvPicPr>
          <p:cNvPr id="3" name="Picture 2" descr="A picture containing object, measure, clock, cup&#10;&#10;Description automatically generated">
            <a:extLst>
              <a:ext uri="{FF2B5EF4-FFF2-40B4-BE49-F238E27FC236}">
                <a16:creationId xmlns:a16="http://schemas.microsoft.com/office/drawing/2014/main" id="{93681FFB-7892-473D-BA03-7308FEE223E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17600" y="2834255"/>
            <a:ext cx="1531272" cy="1531272"/>
          </a:xfrm>
          <a:prstGeom prst="rect">
            <a:avLst/>
          </a:prstGeom>
        </p:spPr>
      </p:pic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DE44DF05-07A0-4892-8981-CB6440644483}"/>
              </a:ext>
            </a:extLst>
          </p:cNvPr>
          <p:cNvSpPr txBox="1">
            <a:spLocks/>
          </p:cNvSpPr>
          <p:nvPr/>
        </p:nvSpPr>
        <p:spPr>
          <a:xfrm>
            <a:off x="284766" y="3741893"/>
            <a:ext cx="4191731" cy="1382244"/>
          </a:xfrm>
          <a:prstGeom prst="rect">
            <a:avLst/>
          </a:prstGeom>
          <a:noFill/>
          <a:ln>
            <a:noFill/>
          </a:ln>
          <a:effectLst>
            <a:reflection blurRad="88900" endPos="0" dist="50800" dir="5400000" sy="-100000" algn="bl" rotWithShape="0"/>
          </a:effectLst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 baseline="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10000"/>
              </a:lnSpc>
              <a:spcBef>
                <a:spcPts val="200"/>
              </a:spcBef>
              <a:spcAft>
                <a:spcPts val="200"/>
              </a:spcAft>
            </a:pPr>
            <a:r>
              <a:rPr lang="en-PH" sz="20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Raphael S. Nano</a:t>
            </a:r>
          </a:p>
          <a:p>
            <a:pPr algn="l">
              <a:lnSpc>
                <a:spcPct val="110000"/>
              </a:lnSpc>
              <a:spcBef>
                <a:spcPts val="200"/>
              </a:spcBef>
              <a:spcAft>
                <a:spcPts val="200"/>
              </a:spcAft>
            </a:pPr>
            <a:r>
              <a:rPr lang="en-PH" sz="20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CPE162P / C1</a:t>
            </a:r>
          </a:p>
        </p:txBody>
      </p:sp>
    </p:spTree>
    <p:extLst>
      <p:ext uri="{BB962C8B-B14F-4D97-AF65-F5344CB8AC3E}">
        <p14:creationId xmlns:p14="http://schemas.microsoft.com/office/powerpoint/2010/main" val="18987751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C0BE44-DEA0-C8F1-B220-4F56E5330E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435" y="282298"/>
            <a:ext cx="10213026" cy="512401"/>
          </a:xfrm>
        </p:spPr>
        <p:txBody>
          <a:bodyPr/>
          <a:lstStyle/>
          <a:p>
            <a:r>
              <a:rPr lang="en-US" dirty="0"/>
              <a:t>Introduction: </a:t>
            </a:r>
            <a:r>
              <a:rPr lang="en-US" sz="3200" b="1" dirty="0">
                <a:solidFill>
                  <a:srgbClr val="FFFF00"/>
                </a:solidFill>
                <a:latin typeface="Segoe UI" panose="020B0502040204020203" pitchFamily="34" charset="0"/>
                <a:ea typeface="Arial"/>
                <a:cs typeface="Segoe UI" panose="020B0502040204020203" pitchFamily="34" charset="0"/>
                <a:sym typeface="Arial"/>
              </a:rPr>
              <a:t>Home Appliance Automation Using IoT</a:t>
            </a:r>
            <a:endParaRPr lang="en-P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D19F78-2EA6-6CC1-752D-C8DA5962ED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buFont typeface="Wingdings" panose="05000000000000000000" pitchFamily="2" charset="2"/>
              <a:buChar char="Ø"/>
            </a:pPr>
            <a:r>
              <a:rPr lang="en-US" dirty="0">
                <a:latin typeface="+mj-lt"/>
              </a:rPr>
              <a:t> Appliance controllers provide a wide range of functionality, from timers to complicated IoT devices 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dirty="0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 It became a vital part of modern houses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dirty="0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 Highlight an appliance controller's capabilities and building methods in order to further expand its usefulness</a:t>
            </a:r>
            <a:endParaRPr lang="en-PH" dirty="0">
              <a:latin typeface="+mj-lt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389357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6A6651-8300-9B1E-D82E-D9BDEDD2C7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Objectives</a:t>
            </a:r>
            <a:endParaRPr lang="en-P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4FD49A-96B4-5E3D-262C-6DE9E8C540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8153" y="1156700"/>
            <a:ext cx="11528661" cy="4556765"/>
          </a:xfrm>
        </p:spPr>
        <p:txBody>
          <a:bodyPr>
            <a:normAutofit/>
          </a:bodyPr>
          <a:lstStyle/>
          <a:p>
            <a:pPr marL="342900" indent="-342900" algn="just">
              <a:spcAft>
                <a:spcPts val="1200"/>
              </a:spcAft>
              <a:buAutoNum type="arabicPeriod"/>
            </a:pPr>
            <a:r>
              <a:rPr lang="en-US" sz="2400" dirty="0">
                <a:solidFill>
                  <a:srgbClr val="262626"/>
                </a:solidFill>
                <a:effectLst/>
                <a:latin typeface="+mj-lt"/>
                <a:ea typeface="Times New Roman" panose="02020603050405020304" pitchFamily="18" charset="0"/>
              </a:rPr>
              <a:t>To demonstrate how a home appliance automation using IoT works.</a:t>
            </a:r>
          </a:p>
          <a:p>
            <a:pPr marL="342900" indent="-342900" algn="just">
              <a:spcAft>
                <a:spcPts val="1200"/>
              </a:spcAft>
              <a:buAutoNum type="arabicPeriod"/>
            </a:pPr>
            <a:r>
              <a:rPr lang="en-US" sz="2400" dirty="0">
                <a:solidFill>
                  <a:srgbClr val="262626"/>
                </a:solidFill>
                <a:effectLst/>
                <a:latin typeface="+mj-lt"/>
                <a:ea typeface="Times New Roman" panose="02020603050405020304" pitchFamily="18" charset="0"/>
              </a:rPr>
              <a:t>To be able apply what you have learned in logic circuits and switching theory, microprocessors, CPE160P, and CPE161P.</a:t>
            </a:r>
          </a:p>
          <a:p>
            <a:pPr marL="342900" indent="-342900" algn="just">
              <a:spcAft>
                <a:spcPts val="1200"/>
              </a:spcAft>
              <a:buAutoNum type="arabicPeriod"/>
            </a:pPr>
            <a:r>
              <a:rPr lang="en-US" sz="2400" dirty="0">
                <a:solidFill>
                  <a:srgbClr val="262626"/>
                </a:solidFill>
                <a:latin typeface="+mj-lt"/>
                <a:ea typeface="Times New Roman" panose="02020603050405020304" pitchFamily="18" charset="0"/>
              </a:rPr>
              <a:t>T</a:t>
            </a:r>
            <a:r>
              <a:rPr lang="en-US" sz="2400" dirty="0">
                <a:solidFill>
                  <a:srgbClr val="262626"/>
                </a:solidFill>
                <a:effectLst/>
                <a:latin typeface="+mj-lt"/>
                <a:ea typeface="Times New Roman" panose="02020603050405020304" pitchFamily="18" charset="0"/>
              </a:rPr>
              <a:t>o be able to apply embedded system with IoT using Arduino kit</a:t>
            </a:r>
          </a:p>
          <a:p>
            <a:pPr marL="342900" indent="-342900" algn="just">
              <a:spcAft>
                <a:spcPts val="1200"/>
              </a:spcAft>
              <a:buAutoNum type="arabicPeriod"/>
            </a:pPr>
            <a:r>
              <a:rPr lang="en-US" sz="2400" dirty="0">
                <a:solidFill>
                  <a:srgbClr val="262626"/>
                </a:solidFill>
                <a:effectLst/>
                <a:latin typeface="+mj-lt"/>
                <a:ea typeface="Times New Roman" panose="02020603050405020304" pitchFamily="18" charset="0"/>
              </a:rPr>
              <a:t>To be able to use </a:t>
            </a:r>
            <a:r>
              <a:rPr lang="en-US" sz="2400" dirty="0" err="1">
                <a:solidFill>
                  <a:srgbClr val="262626"/>
                </a:solidFill>
                <a:effectLst/>
                <a:latin typeface="+mj-lt"/>
                <a:ea typeface="Times New Roman" panose="02020603050405020304" pitchFamily="18" charset="0"/>
              </a:rPr>
              <a:t>ThingSpeak</a:t>
            </a:r>
            <a:r>
              <a:rPr lang="en-US" sz="2400" dirty="0">
                <a:solidFill>
                  <a:srgbClr val="262626"/>
                </a:solidFill>
                <a:effectLst/>
                <a:latin typeface="+mj-lt"/>
                <a:ea typeface="Times New Roman" panose="02020603050405020304" pitchFamily="18" charset="0"/>
              </a:rPr>
              <a:t> for the data collection and analysis.</a:t>
            </a:r>
          </a:p>
        </p:txBody>
      </p:sp>
    </p:spTree>
    <p:extLst>
      <p:ext uri="{BB962C8B-B14F-4D97-AF65-F5344CB8AC3E}">
        <p14:creationId xmlns:p14="http://schemas.microsoft.com/office/powerpoint/2010/main" val="33183082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7181D8-5970-A98E-D2DD-7FB6C53A66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Materials</a:t>
            </a:r>
            <a:endParaRPr lang="en-P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EB3153-534E-FE9A-3AE5-29ADD83AF1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PH" sz="2400" dirty="0">
                <a:solidFill>
                  <a:srgbClr val="262626"/>
                </a:solidFill>
                <a:effectLst/>
                <a:latin typeface="+mj-lt"/>
                <a:ea typeface="Times New Roman" panose="02020603050405020304" pitchFamily="18" charset="0"/>
              </a:rPr>
              <a:t>Hardware</a:t>
            </a:r>
          </a:p>
          <a:p>
            <a:pPr marL="0" indent="0">
              <a:buNone/>
            </a:pPr>
            <a:endParaRPr lang="en-PH" sz="2400" dirty="0">
              <a:solidFill>
                <a:srgbClr val="262626"/>
              </a:solidFill>
              <a:effectLst/>
              <a:latin typeface="+mj-lt"/>
              <a:ea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PH" sz="2400" dirty="0">
                <a:solidFill>
                  <a:srgbClr val="262626"/>
                </a:solidFill>
                <a:effectLst/>
                <a:latin typeface="+mj-lt"/>
                <a:ea typeface="Times New Roman" panose="02020603050405020304" pitchFamily="18" charset="0"/>
              </a:rPr>
              <a:t> </a:t>
            </a:r>
            <a:r>
              <a:rPr lang="en-PH" sz="2400" dirty="0">
                <a:solidFill>
                  <a:srgbClr val="262626"/>
                </a:solidFill>
                <a:effectLst/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ESP8266 </a:t>
            </a:r>
            <a:r>
              <a:rPr lang="en-PH" sz="2400" dirty="0" err="1">
                <a:solidFill>
                  <a:srgbClr val="262626"/>
                </a:solidFill>
                <a:effectLst/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WiFi</a:t>
            </a:r>
            <a:r>
              <a:rPr lang="en-PH" sz="2400" dirty="0">
                <a:solidFill>
                  <a:srgbClr val="262626"/>
                </a:solidFill>
                <a:effectLst/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 Module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PH" sz="2400" dirty="0">
                <a:solidFill>
                  <a:srgbClr val="262626"/>
                </a:solidFill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 LEDs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PH" sz="2400" dirty="0">
                <a:solidFill>
                  <a:srgbClr val="262626"/>
                </a:solidFill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 Passive Buzzer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PH" sz="2400" dirty="0">
                <a:solidFill>
                  <a:srgbClr val="262626"/>
                </a:solidFill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 Servo Motor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PH" sz="2400" dirty="0">
                <a:solidFill>
                  <a:srgbClr val="262626"/>
                </a:solidFill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 Infrared Remote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PH" sz="2400" dirty="0">
                <a:solidFill>
                  <a:srgbClr val="262626"/>
                </a:solidFill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 Infrared Receiver</a:t>
            </a:r>
            <a:endParaRPr lang="en-PH" sz="2400" dirty="0">
              <a:latin typeface="+mj-lt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069FF89-F6DC-4C55-DCFE-F7F69C1D0BE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22" r="2722"/>
          <a:stretch/>
        </p:blipFill>
        <p:spPr>
          <a:xfrm>
            <a:off x="4930219" y="1503575"/>
            <a:ext cx="6410227" cy="3850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40088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7181D8-5970-A98E-D2DD-7FB6C53A66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Materials</a:t>
            </a:r>
            <a:endParaRPr lang="en-P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EB3153-534E-FE9A-3AE5-29ADD83AF1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PH" sz="2400" dirty="0">
                <a:solidFill>
                  <a:srgbClr val="262626"/>
                </a:solidFill>
                <a:effectLst/>
                <a:latin typeface="Open Sans" panose="020B0606030504020204" pitchFamily="34" charset="0"/>
                <a:ea typeface="Times New Roman" panose="02020603050405020304" pitchFamily="18" charset="0"/>
              </a:rPr>
              <a:t>Software Libraries</a:t>
            </a:r>
          </a:p>
          <a:p>
            <a:pPr marL="0" indent="0">
              <a:buNone/>
            </a:pPr>
            <a:endParaRPr lang="en-PH" sz="2400" dirty="0">
              <a:solidFill>
                <a:srgbClr val="262626"/>
              </a:solidFill>
              <a:effectLst/>
              <a:latin typeface="Open Sans" panose="020B0606030504020204" pitchFamily="34" charset="0"/>
              <a:ea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PH" sz="2400" dirty="0">
                <a:solidFill>
                  <a:srgbClr val="262626"/>
                </a:solidFill>
                <a:effectLst/>
                <a:latin typeface="Open Sans" panose="020B0606030504020204" pitchFamily="34" charset="0"/>
                <a:ea typeface="Times New Roman" panose="02020603050405020304" pitchFamily="18" charset="0"/>
              </a:rPr>
              <a:t> ESP8266WiFi.h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PH" sz="2400" dirty="0">
                <a:solidFill>
                  <a:srgbClr val="262626"/>
                </a:solidFill>
                <a:latin typeface="Open Sans" panose="020B0606030504020204" pitchFamily="34" charset="0"/>
              </a:rPr>
              <a:t> </a:t>
            </a:r>
            <a:r>
              <a:rPr lang="en-PH" sz="2400" dirty="0" err="1">
                <a:solidFill>
                  <a:srgbClr val="262626"/>
                </a:solidFill>
                <a:latin typeface="Open Sans" panose="020B0606030504020204" pitchFamily="34" charset="0"/>
              </a:rPr>
              <a:t>ThingSpeak.h</a:t>
            </a:r>
            <a:endParaRPr lang="en-PH" sz="2400" dirty="0">
              <a:solidFill>
                <a:srgbClr val="262626"/>
              </a:solidFill>
              <a:latin typeface="Open Sans" panose="020B0606030504020204" pitchFamily="34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PH" sz="2400" dirty="0">
                <a:solidFill>
                  <a:srgbClr val="262626"/>
                </a:solidFill>
                <a:latin typeface="Open Sans" panose="020B0606030504020204" pitchFamily="34" charset="0"/>
              </a:rPr>
              <a:t> IRremoteESP8266.h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PH" sz="2400" dirty="0">
                <a:solidFill>
                  <a:srgbClr val="262626"/>
                </a:solidFill>
                <a:latin typeface="Open Sans" panose="020B0606030504020204" pitchFamily="34" charset="0"/>
              </a:rPr>
              <a:t> </a:t>
            </a:r>
            <a:r>
              <a:rPr lang="en-PH" sz="2400" dirty="0" err="1">
                <a:solidFill>
                  <a:srgbClr val="262626"/>
                </a:solidFill>
                <a:latin typeface="Open Sans" panose="020B0606030504020204" pitchFamily="34" charset="0"/>
              </a:rPr>
              <a:t>Servo.h</a:t>
            </a:r>
            <a:endParaRPr lang="en-PH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0B6C0AC-135B-202E-C196-F158D6B8001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42159" y="1683991"/>
            <a:ext cx="4520177" cy="34900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44346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065873-699C-F40C-2689-5D3AF5211A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Discussion: </a:t>
            </a:r>
            <a:r>
              <a:rPr lang="en-US" sz="3200" b="1" dirty="0">
                <a:solidFill>
                  <a:srgbClr val="FFFF00"/>
                </a:solidFill>
                <a:latin typeface="Segoe UI" panose="020B0502040204020203" pitchFamily="34" charset="0"/>
                <a:ea typeface="Arial"/>
                <a:cs typeface="Segoe UI" panose="020B0502040204020203" pitchFamily="34" charset="0"/>
                <a:sym typeface="Arial"/>
              </a:rPr>
              <a:t>Home Appliance Automation Using IoT</a:t>
            </a:r>
            <a:endParaRPr lang="en-P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063ACE-958C-A417-12FB-E89D27E6F7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8436" y="1186177"/>
            <a:ext cx="6781667" cy="5085227"/>
          </a:xfrm>
        </p:spPr>
        <p:txBody>
          <a:bodyPr>
            <a:normAutofit/>
          </a:bodyPr>
          <a:lstStyle/>
          <a:p>
            <a:pPr algn="just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dirty="0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 Goal is to build an electronic device that can be used to control all the home appliances using Bluetooth technology</a:t>
            </a:r>
          </a:p>
          <a:p>
            <a:pPr algn="just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dirty="0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 The system will be used to switch ON/OFF the devices by giving commands using the IR remote</a:t>
            </a:r>
          </a:p>
          <a:p>
            <a:pPr algn="just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dirty="0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dirty="0" err="1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ThingSpeak</a:t>
            </a:r>
            <a:r>
              <a:rPr lang="en-US" dirty="0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 will be used for the collection of the data and analysis.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4A52D7A-7646-009D-B9B0-32504EB747F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3026"/>
          <a:stretch/>
        </p:blipFill>
        <p:spPr>
          <a:xfrm>
            <a:off x="8348873" y="1084309"/>
            <a:ext cx="2645802" cy="2577831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7930B75-B05F-E264-9EB5-758A51A892A2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974"/>
          <a:stretch/>
        </p:blipFill>
        <p:spPr>
          <a:xfrm>
            <a:off x="7567297" y="3728790"/>
            <a:ext cx="4208954" cy="2405720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42193910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5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25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065873-699C-F40C-2689-5D3AF5211A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Discussion: </a:t>
            </a:r>
            <a:r>
              <a:rPr lang="en-US" sz="3200" b="1" dirty="0">
                <a:solidFill>
                  <a:srgbClr val="FFFF00"/>
                </a:solidFill>
                <a:latin typeface="Segoe UI" panose="020B0502040204020203" pitchFamily="34" charset="0"/>
                <a:ea typeface="Arial"/>
                <a:cs typeface="Segoe UI" panose="020B0502040204020203" pitchFamily="34" charset="0"/>
                <a:sym typeface="Arial"/>
              </a:rPr>
              <a:t>Home Appliance Automation Using IoT</a:t>
            </a:r>
            <a:endParaRPr lang="en-P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063ACE-958C-A417-12FB-E89D27E6F7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8435" y="1065229"/>
            <a:ext cx="5226245" cy="5156462"/>
          </a:xfrm>
        </p:spPr>
        <p:txBody>
          <a:bodyPr>
            <a:normAutofit/>
          </a:bodyPr>
          <a:lstStyle/>
          <a:p>
            <a:pPr algn="just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sz="2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Component to be controlled is decided by the value pressed in the remote </a:t>
            </a:r>
          </a:p>
          <a:p>
            <a:pPr algn="just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sz="2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1: LEDs</a:t>
            </a:r>
          </a:p>
          <a:p>
            <a:pPr algn="just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sz="2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2: Servo Motor</a:t>
            </a:r>
          </a:p>
          <a:p>
            <a:pPr algn="just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sz="2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3: Buzzer</a:t>
            </a:r>
          </a:p>
          <a:p>
            <a:pPr algn="just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sz="24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5: All OFF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98EA436-B44F-4F42-72F9-1B811FEBB98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1357764"/>
            <a:ext cx="2683200" cy="414397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545DF14-7B9D-9DCB-5632-3CFAD6CAD95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48269" y="1357764"/>
            <a:ext cx="2740911" cy="41424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60064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2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2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2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065873-699C-F40C-2689-5D3AF5211A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Discussion: </a:t>
            </a:r>
            <a:r>
              <a:rPr lang="en-US" sz="3200" b="1" dirty="0">
                <a:solidFill>
                  <a:srgbClr val="FFFF00"/>
                </a:solidFill>
                <a:latin typeface="Segoe UI" panose="020B0502040204020203" pitchFamily="34" charset="0"/>
                <a:ea typeface="Arial"/>
                <a:cs typeface="Segoe UI" panose="020B0502040204020203" pitchFamily="34" charset="0"/>
                <a:sym typeface="Arial"/>
              </a:rPr>
              <a:t>Home Appliance Automation Using IoT</a:t>
            </a:r>
            <a:endParaRPr lang="en-P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063ACE-958C-A417-12FB-E89D27E6F7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2957" y="1432875"/>
            <a:ext cx="6131219" cy="4421170"/>
          </a:xfrm>
        </p:spPr>
        <p:txBody>
          <a:bodyPr>
            <a:normAutofit/>
          </a:bodyPr>
          <a:lstStyle/>
          <a:p>
            <a:pPr algn="just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dirty="0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 To connect the ESP8266 to </a:t>
            </a:r>
            <a:r>
              <a:rPr lang="en-US" dirty="0" err="1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Thingspeak</a:t>
            </a:r>
            <a:r>
              <a:rPr lang="en-US" dirty="0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, a </a:t>
            </a:r>
            <a:r>
              <a:rPr lang="en-US" dirty="0" err="1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WiFi</a:t>
            </a:r>
            <a:r>
              <a:rPr lang="en-US" dirty="0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 connection should first be established. </a:t>
            </a:r>
          </a:p>
          <a:p>
            <a:pPr algn="just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dirty="0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 The code tries to get connected to a particular network using Wi-Fi (fh_dbe600) and repeatedly attempts until an adequate connection is made. </a:t>
            </a:r>
          </a:p>
          <a:p>
            <a:pPr algn="just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dirty="0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 It delivers information to the person using it via the Serial Monitor, indicating the status of the connection attempt.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279B2A3-63D1-77B6-C14B-46752D4BE3A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92340" y="2178768"/>
            <a:ext cx="4920586" cy="25004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47620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065873-699C-F40C-2689-5D3AF5211A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Discussion: </a:t>
            </a:r>
            <a:r>
              <a:rPr lang="en-US" sz="3200" b="1" dirty="0">
                <a:solidFill>
                  <a:srgbClr val="FFFF00"/>
                </a:solidFill>
                <a:latin typeface="Segoe UI" panose="020B0502040204020203" pitchFamily="34" charset="0"/>
                <a:ea typeface="Arial"/>
                <a:cs typeface="Segoe UI" panose="020B0502040204020203" pitchFamily="34" charset="0"/>
                <a:sym typeface="Arial"/>
              </a:rPr>
              <a:t>Home Appliance Automation Using IoT</a:t>
            </a:r>
            <a:endParaRPr lang="en-P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063ACE-958C-A417-12FB-E89D27E6F7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8437" y="1244339"/>
            <a:ext cx="5650450" cy="4713401"/>
          </a:xfrm>
        </p:spPr>
        <p:txBody>
          <a:bodyPr>
            <a:normAutofit/>
          </a:bodyPr>
          <a:lstStyle/>
          <a:p>
            <a:pPr algn="just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dirty="0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 The corresponding count for each component will be passed to the corresponding fields</a:t>
            </a:r>
          </a:p>
          <a:p>
            <a:pPr algn="just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dirty="0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 All throughout the span of days, the counts of the usage of components will continue to increase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D4E012A-C529-9FB1-C58C-999CC0FF4B2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2409903"/>
            <a:ext cx="5722458" cy="20381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99330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790CD9-2BB1-D09B-5467-29A9ADDB9A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FB2161-C0AC-DA6B-5C07-E9BDD6449B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Discussion: </a:t>
            </a:r>
            <a:r>
              <a:rPr lang="en-US" sz="3200" b="1" dirty="0">
                <a:solidFill>
                  <a:srgbClr val="FFFF00"/>
                </a:solidFill>
                <a:latin typeface="Segoe UI" panose="020B0502040204020203" pitchFamily="34" charset="0"/>
                <a:ea typeface="Arial"/>
                <a:cs typeface="Segoe UI" panose="020B0502040204020203" pitchFamily="34" charset="0"/>
                <a:sym typeface="Arial"/>
              </a:rPr>
              <a:t>Home Appliance Automation Using IoT</a:t>
            </a:r>
            <a:endParaRPr lang="en-P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43B0F9-AAE9-4145-5310-6A7E39D1DC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8437" y="1244339"/>
            <a:ext cx="5650450" cy="4713401"/>
          </a:xfrm>
        </p:spPr>
        <p:txBody>
          <a:bodyPr>
            <a:normAutofit/>
          </a:bodyPr>
          <a:lstStyle/>
          <a:p>
            <a:pPr algn="just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dirty="0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 The </a:t>
            </a:r>
            <a:r>
              <a:rPr lang="en-US" dirty="0" err="1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WiFi</a:t>
            </a:r>
            <a:r>
              <a:rPr lang="en-US" dirty="0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 connection will first be established, then remote() function is first called</a:t>
            </a:r>
          </a:p>
          <a:p>
            <a:pPr algn="just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dirty="0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 Depending on what was pressed, the component will be activated: LEDs for 1, servo motor for 2, and buzzer for 3.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03E2A8E-C7CC-D895-D27E-DB257F46660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3115" y="1888886"/>
            <a:ext cx="4698911" cy="30802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69664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9274B7-8F02-4611-3613-A0971D32AA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300C11-DD96-AF61-66FE-ECD8B781C8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Results: </a:t>
            </a:r>
            <a:r>
              <a:rPr lang="en-US" sz="3200" b="1" dirty="0">
                <a:solidFill>
                  <a:srgbClr val="FFFF00"/>
                </a:solidFill>
                <a:latin typeface="Segoe UI" panose="020B0502040204020203" pitchFamily="34" charset="0"/>
                <a:ea typeface="Arial"/>
                <a:cs typeface="Segoe UI" panose="020B0502040204020203" pitchFamily="34" charset="0"/>
                <a:sym typeface="Arial"/>
              </a:rPr>
              <a:t>Home Appliance Automation Using IoT</a:t>
            </a:r>
            <a:endParaRPr lang="en-PH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292E615-187B-C500-AAFC-2BB5BB41A6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92435" y="1046375"/>
            <a:ext cx="8007130" cy="47652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43307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620D87-3C2B-E0E7-BF4C-034764EEB9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  <a:endParaRPr lang="en-P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CCB3A3-7EAD-78B9-B327-F3EEF871EA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8154" y="1156700"/>
            <a:ext cx="10320963" cy="5062945"/>
          </a:xfrm>
        </p:spPr>
        <p:txBody>
          <a:bodyPr>
            <a:normAutofit/>
          </a:bodyPr>
          <a:lstStyle/>
          <a:p>
            <a:pPr marL="0" indent="0" algn="just">
              <a:spcAft>
                <a:spcPts val="1200"/>
              </a:spcAft>
              <a:buNone/>
            </a:pPr>
            <a:r>
              <a:rPr lang="en-US" sz="3200" dirty="0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The Home Appliance Automation Using IoT works by:</a:t>
            </a:r>
          </a:p>
          <a:p>
            <a:pPr lvl="1" algn="just">
              <a:spcAft>
                <a:spcPts val="1200"/>
              </a:spcAft>
              <a:buFont typeface="Wingdings" panose="05000000000000000000" pitchFamily="2" charset="2"/>
              <a:buChar char="Ø"/>
            </a:pPr>
            <a:r>
              <a:rPr lang="en-US" sz="2800" dirty="0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 using a switch case for the IR remote</a:t>
            </a:r>
          </a:p>
          <a:p>
            <a:pPr lvl="1" algn="just">
              <a:spcAft>
                <a:spcPts val="1200"/>
              </a:spcAft>
              <a:buFont typeface="Wingdings" panose="05000000000000000000" pitchFamily="2" charset="2"/>
              <a:buChar char="Ø"/>
            </a:pPr>
            <a:r>
              <a:rPr lang="en-US" sz="2800" dirty="0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 the button determines what component will be activated and what value will be passed to </a:t>
            </a:r>
            <a:r>
              <a:rPr lang="en-US" sz="2800" dirty="0" err="1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ThingSpeak</a:t>
            </a:r>
            <a:endParaRPr lang="en-US" sz="2800" dirty="0">
              <a:latin typeface="+mj-lt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lvl="1" algn="just">
              <a:spcAft>
                <a:spcPts val="1200"/>
              </a:spcAft>
              <a:buFont typeface="Wingdings" panose="05000000000000000000" pitchFamily="2" charset="2"/>
              <a:buChar char="Ø"/>
            </a:pPr>
            <a:r>
              <a:rPr lang="en-US" sz="2800" dirty="0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 every press of the button from the IR remote would automatically update the system</a:t>
            </a:r>
            <a:endParaRPr lang="en-PH" sz="2800" dirty="0">
              <a:latin typeface="+mj-lt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645853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2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620D87-3C2B-E0E7-BF4C-034764EEB9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  <a:endParaRPr lang="en-P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CCB3A3-7EAD-78B9-B327-F3EEF871EA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8154" y="1156700"/>
            <a:ext cx="10320963" cy="5062945"/>
          </a:xfrm>
        </p:spPr>
        <p:txBody>
          <a:bodyPr>
            <a:normAutofit/>
          </a:bodyPr>
          <a:lstStyle/>
          <a:p>
            <a:pPr algn="just">
              <a:spcAft>
                <a:spcPts val="1200"/>
              </a:spcAft>
              <a:buFont typeface="Wingdings" panose="05000000000000000000" pitchFamily="2" charset="2"/>
              <a:buChar char="Ø"/>
            </a:pPr>
            <a:r>
              <a:rPr lang="en-US" dirty="0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 The second objective was achieved by: </a:t>
            </a:r>
          </a:p>
          <a:p>
            <a:pPr lvl="1" algn="just">
              <a:spcAft>
                <a:spcPts val="1200"/>
              </a:spcAft>
              <a:buFont typeface="Wingdings" panose="05000000000000000000" pitchFamily="2" charset="2"/>
              <a:buChar char="ü"/>
            </a:pPr>
            <a:r>
              <a:rPr lang="en-US" dirty="0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properly connecting the lighting up of LEDs, the rotation of the servo motor, and the alarming of the buzzer</a:t>
            </a:r>
          </a:p>
          <a:p>
            <a:pPr lvl="1" algn="just">
              <a:spcAft>
                <a:spcPts val="1200"/>
              </a:spcAft>
              <a:buFont typeface="Wingdings" panose="05000000000000000000" pitchFamily="2" charset="2"/>
              <a:buChar char="ü"/>
            </a:pPr>
            <a:r>
              <a:rPr lang="en-US" dirty="0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synchronizing the component value in </a:t>
            </a:r>
            <a:r>
              <a:rPr lang="en-US" dirty="0" err="1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Thingspeak</a:t>
            </a:r>
            <a:endParaRPr lang="en-US" dirty="0">
              <a:latin typeface="+mj-lt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algn="just">
              <a:spcAft>
                <a:spcPts val="1200"/>
              </a:spcAft>
              <a:buFont typeface="Wingdings" panose="05000000000000000000" pitchFamily="2" charset="2"/>
              <a:buChar char="Ø"/>
            </a:pPr>
            <a:r>
              <a:rPr lang="en-US" dirty="0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 The IoT portion was successfully integrated with the use of the communication and data writing between ESP8266 and </a:t>
            </a:r>
            <a:r>
              <a:rPr lang="en-US" dirty="0" err="1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Thingspeak</a:t>
            </a:r>
            <a:endParaRPr lang="en-US" dirty="0">
              <a:latin typeface="+mj-lt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algn="just">
              <a:spcAft>
                <a:spcPts val="1200"/>
              </a:spcAft>
              <a:buFont typeface="Wingdings" panose="05000000000000000000" pitchFamily="2" charset="2"/>
              <a:buChar char="Ø"/>
            </a:pPr>
            <a:r>
              <a:rPr lang="en-US" dirty="0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 The Home Appliance Automation Using IoT was successfully developed with its Wi-Fi connection and the synchronization of outputs of the IR remote and output devices in </a:t>
            </a:r>
            <a:r>
              <a:rPr lang="en-US" dirty="0" err="1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Thingspeak</a:t>
            </a:r>
            <a:r>
              <a:rPr lang="en-US" dirty="0"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.</a:t>
            </a:r>
            <a:endParaRPr lang="en-PH" dirty="0">
              <a:latin typeface="+mj-lt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665525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5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5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25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25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645D28-728C-E7E4-50A4-B6533D83F6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Creation of the Experiment</a:t>
            </a:r>
            <a:endParaRPr lang="en-P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D6CC4D-5133-04E8-442D-D5791B8EC0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8239902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reveal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045B03F0E29F341B8FA8A02C69678F2" ma:contentTypeVersion="16" ma:contentTypeDescription="Create a new document." ma:contentTypeScope="" ma:versionID="573093756d776e3dbf04c8eb240bd85a">
  <xsd:schema xmlns:xsd="http://www.w3.org/2001/XMLSchema" xmlns:xs="http://www.w3.org/2001/XMLSchema" xmlns:p="http://schemas.microsoft.com/office/2006/metadata/properties" xmlns:ns2="1ea434b8-4dc5-44f7-bb31-0866ee440822" xmlns:ns3="d90711d2-37bb-4b26-8b23-51c02972fe26" targetNamespace="http://schemas.microsoft.com/office/2006/metadata/properties" ma:root="true" ma:fieldsID="00a48d9f954b4b23e62df43abd264511" ns2:_="" ns3:_="">
    <xsd:import namespace="1ea434b8-4dc5-44f7-bb31-0866ee440822"/>
    <xsd:import namespace="d90711d2-37bb-4b26-8b23-51c02972fe2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AutoKeyPoints" minOccurs="0"/>
                <xsd:element ref="ns2:MediaServiceKeyPoints" minOccurs="0"/>
                <xsd:element ref="ns2:MediaLengthInSeconds" minOccurs="0"/>
                <xsd:element ref="ns2:MediaServiceLocation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ea434b8-4dc5-44f7-bb31-0866ee44082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17" nillable="true" ma:displayName="Length (seconds)" ma:internalName="MediaLengthInSeconds" ma:readOnly="true">
      <xsd:simpleType>
        <xsd:restriction base="dms:Unknown"/>
      </xsd:simpleType>
    </xsd:element>
    <xsd:element name="MediaServiceLocation" ma:index="18" nillable="true" ma:displayName="Location" ma:internalName="MediaServiceLocation" ma:readOnly="true">
      <xsd:simpleType>
        <xsd:restriction base="dms:Text"/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908379bb-b442-46b3-b8c0-8817e2eba016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90711d2-37bb-4b26-8b23-51c02972fe26" elementFormDefault="qualified">
    <xsd:import namespace="http://schemas.microsoft.com/office/2006/documentManagement/types"/>
    <xsd:import namespace="http://schemas.microsoft.com/office/infopath/2007/PartnerControls"/>
    <xsd:element name="SharedWithUsers" ma:index="19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0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bf5686e5-f3f9-4684-9809-4e223b1b0fd7}" ma:internalName="TaxCatchAll" ma:showField="CatchAllData" ma:web="d90711d2-37bb-4b26-8b23-51c02972fe26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haredWithUsers xmlns="d90711d2-37bb-4b26-8b23-51c02972fe26">
      <UserInfo>
        <DisplayName/>
        <AccountId xsi:nil="true"/>
        <AccountType/>
      </UserInfo>
    </SharedWithUsers>
    <lcf76f155ced4ddcb4097134ff3c332f xmlns="1ea434b8-4dc5-44f7-bb31-0866ee440822">
      <Terms xmlns="http://schemas.microsoft.com/office/infopath/2007/PartnerControls"/>
    </lcf76f155ced4ddcb4097134ff3c332f>
    <TaxCatchAll xmlns="d90711d2-37bb-4b26-8b23-51c02972fe26" xsi:nil="true"/>
  </documentManagement>
</p:properties>
</file>

<file path=customXml/itemProps1.xml><?xml version="1.0" encoding="utf-8"?>
<ds:datastoreItem xmlns:ds="http://schemas.openxmlformats.org/officeDocument/2006/customXml" ds:itemID="{DA769C6F-6ADF-412F-8F70-2DD1A151B0C3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6C7BBEC2-693C-4BAB-A217-B3E9F464271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ea434b8-4dc5-44f7-bb31-0866ee440822"/>
    <ds:schemaRef ds:uri="d90711d2-37bb-4b26-8b23-51c02972fe2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1EFBD36D-DAE8-46CB-B778-7C1B43AD43BF}">
  <ds:schemaRefs>
    <ds:schemaRef ds:uri="http://purl.org/dc/terms/"/>
    <ds:schemaRef ds:uri="http://schemas.microsoft.com/office/2006/documentManagement/types"/>
    <ds:schemaRef ds:uri="92cb724c-d654-454f-915d-237124a8a1a9"/>
    <ds:schemaRef ds:uri="http://purl.org/dc/dcmitype/"/>
    <ds:schemaRef ds:uri="http://purl.org/dc/elements/1.1/"/>
    <ds:schemaRef ds:uri="http://www.w3.org/XML/1998/namespace"/>
    <ds:schemaRef ds:uri="http://schemas.microsoft.com/office/infopath/2007/PartnerControls"/>
    <ds:schemaRef ds:uri="http://schemas.openxmlformats.org/package/2006/metadata/core-properties"/>
    <ds:schemaRef ds:uri="4b30f15d-6c4d-47ed-bde6-797b56236eb0"/>
    <ds:schemaRef ds:uri="http://schemas.microsoft.com/office/2006/metadata/properties"/>
    <ds:schemaRef ds:uri="d90711d2-37bb-4b26-8b23-51c02972fe26"/>
    <ds:schemaRef ds:uri="1ea434b8-4dc5-44f7-bb31-0866ee440822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4389</TotalTime>
  <Words>620</Words>
  <Application>Microsoft Office PowerPoint</Application>
  <PresentationFormat>Widescreen</PresentationFormat>
  <Paragraphs>77</Paragraphs>
  <Slides>14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1" baseType="lpstr">
      <vt:lpstr>Arial</vt:lpstr>
      <vt:lpstr>Calibri</vt:lpstr>
      <vt:lpstr>Calibri Light</vt:lpstr>
      <vt:lpstr>Open Sans</vt:lpstr>
      <vt:lpstr>Segoe UI</vt:lpstr>
      <vt:lpstr>Wingdings</vt:lpstr>
      <vt:lpstr>2_Office Theme</vt:lpstr>
      <vt:lpstr>HOME APPLIANCE AUTOMATION USING IOT</vt:lpstr>
      <vt:lpstr>Introduction: Home Appliance Automation Using IoT</vt:lpstr>
      <vt:lpstr>Objectives</vt:lpstr>
      <vt:lpstr>Materials</vt:lpstr>
      <vt:lpstr>Materials</vt:lpstr>
      <vt:lpstr>Discussion: Home Appliance Automation Using IoT</vt:lpstr>
      <vt:lpstr>Discussion: Home Appliance Automation Using IoT</vt:lpstr>
      <vt:lpstr>Discussion: Home Appliance Automation Using IoT</vt:lpstr>
      <vt:lpstr>Discussion: Home Appliance Automation Using IoT</vt:lpstr>
      <vt:lpstr>Discussion: Home Appliance Automation Using IoT</vt:lpstr>
      <vt:lpstr>Results: Home Appliance Automation Using IoT</vt:lpstr>
      <vt:lpstr>Conclusion</vt:lpstr>
      <vt:lpstr>Conclusion</vt:lpstr>
      <vt:lpstr>Creation of the Experiment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orientation will start in</dc:title>
  <dc:subject/>
  <dc:creator>Jessica Pauline L. Faigones</dc:creator>
  <cp:keywords/>
  <dc:description/>
  <cp:lastModifiedBy>Raphael Nano</cp:lastModifiedBy>
  <cp:revision>335</cp:revision>
  <dcterms:created xsi:type="dcterms:W3CDTF">2020-06-10T07:30:38Z</dcterms:created>
  <dcterms:modified xsi:type="dcterms:W3CDTF">2024-02-29T03:56:40Z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Order">
    <vt:r8>182800</vt:r8>
  </property>
  <property fmtid="{D5CDD505-2E9C-101B-9397-08002B2CF9AE}" pid="3" name="ContentTypeId">
    <vt:lpwstr>0x0101000045B03F0E29F341B8FA8A02C69678F2</vt:lpwstr>
  </property>
  <property fmtid="{D5CDD505-2E9C-101B-9397-08002B2CF9AE}" pid="4" name="ComplianceAssetId">
    <vt:lpwstr/>
  </property>
</Properties>
</file>