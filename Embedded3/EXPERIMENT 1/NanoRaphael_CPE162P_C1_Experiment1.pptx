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7"/>
  </p:notesMasterIdLst>
  <p:handoutMasterIdLst>
    <p:handoutMasterId r:id="rId18"/>
  </p:handoutMasterIdLst>
  <p:sldIdLst>
    <p:sldId id="881" r:id="rId5"/>
    <p:sldId id="943" r:id="rId6"/>
    <p:sldId id="944" r:id="rId7"/>
    <p:sldId id="945" r:id="rId8"/>
    <p:sldId id="956" r:id="rId9"/>
    <p:sldId id="954" r:id="rId10"/>
    <p:sldId id="960" r:id="rId11"/>
    <p:sldId id="963" r:id="rId12"/>
    <p:sldId id="961" r:id="rId13"/>
    <p:sldId id="964" r:id="rId14"/>
    <p:sldId id="949" r:id="rId15"/>
    <p:sldId id="9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nis A. Padilla" initials="DAP" lastIdx="1" clrIdx="0">
    <p:extLst>
      <p:ext uri="{19B8F6BF-5375-455C-9EA6-DF929625EA0E}">
        <p15:presenceInfo xmlns:p15="http://schemas.microsoft.com/office/powerpoint/2012/main" userId="S::dapadilla@mapua.edu.ph::22fd53f7-3725-4d55-add0-dfc6f0ea2c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E1261C"/>
    <a:srgbClr val="F9F9F9"/>
    <a:srgbClr val="CC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0898" autoAdjust="0"/>
  </p:normalViewPr>
  <p:slideViewPr>
    <p:cSldViewPr snapToGrid="0">
      <p:cViewPr varScale="1">
        <p:scale>
          <a:sx n="81" d="100"/>
          <a:sy n="81" d="100"/>
        </p:scale>
        <p:origin x="83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0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AF2D7B-A1C4-422F-8BEC-B2ADA9B38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4CB62-60B8-42ED-B41D-1204D6EC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004C-1C80-46E0-9113-8DACE1C8170C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8C740-DCA6-4653-8D38-299256130F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E7C8-7A32-480E-8E8D-D8E4B9A03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4B00-5376-4F9D-B569-068DF040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E3EBA-9407-2244-8D2E-48917138C0BF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D408-4DFC-BF47-8641-93FB6C180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4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6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23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materials utilized to construct the real-time basketball scoreboard are the Arduino UNO, the 4-digit seven segment display, and 5 switch buttons. 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30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07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07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08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13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53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7EC5-4D7C-1B5F-C542-9EB92718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5B6BB-ED4B-BC2E-498E-B79AE8D0A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F2800-EA72-0206-A0EA-21A084F8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D784-2681-EA64-74E5-AA69D9C2F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12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12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24/02/2024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435" y="282298"/>
            <a:ext cx="9383339" cy="512401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455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24/02/2024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24/02/2024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24/02/2024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24/02/2024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24/02/2024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24/02/2024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24/02/2024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24/02/2024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24/02/2024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24/02/2024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4" r:id="rId7"/>
    <p:sldLayoutId id="2147483835" r:id="rId8"/>
    <p:sldLayoutId id="2147483836" r:id="rId9"/>
    <p:sldLayoutId id="2147483837" r:id="rId10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84766" y="846685"/>
            <a:ext cx="6812006" cy="71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lvl="0" indent="-203200" algn="l">
              <a:spcBef>
                <a:spcPts val="0"/>
              </a:spcBef>
              <a:buClr>
                <a:srgbClr val="FFFF00"/>
              </a:buClr>
              <a:buSzPct val="100000"/>
            </a:pPr>
            <a:r>
              <a:rPr lang="en-US" sz="40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 BASED AUTOMATED STREET LIGHTING SYSTEM</a:t>
            </a:r>
            <a:endParaRPr lang="en-PH" sz="4000" b="1" dirty="0">
              <a:solidFill>
                <a:srgbClr val="FFFF00"/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84766" y="1557885"/>
            <a:ext cx="6034670" cy="10955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indent="-127000" algn="l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GB" sz="3200" b="1" dirty="0">
                <a:solidFill>
                  <a:schemeClr val="lt1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Experiment 1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0E7A66-65F8-4D09-A464-3721AFFC3633}"/>
              </a:ext>
            </a:extLst>
          </p:cNvPr>
          <p:cNvSpPr txBox="1">
            <a:spLocks/>
          </p:cNvSpPr>
          <p:nvPr/>
        </p:nvSpPr>
        <p:spPr>
          <a:xfrm>
            <a:off x="147702" y="5904349"/>
            <a:ext cx="6949070" cy="770513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Computer Engineering Department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School of Electrical, Electronics, and Computer Engineering</a:t>
            </a:r>
          </a:p>
        </p:txBody>
      </p:sp>
      <p:pic>
        <p:nvPicPr>
          <p:cNvPr id="3" name="Picture 2" descr="A picture containing object, measure, clock, cup&#10;&#10;Description automatically generated">
            <a:extLst>
              <a:ext uri="{FF2B5EF4-FFF2-40B4-BE49-F238E27FC236}">
                <a16:creationId xmlns:a16="http://schemas.microsoft.com/office/drawing/2014/main" id="{93681FFB-7892-473D-BA03-7308FEE22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600" y="2834255"/>
            <a:ext cx="1531272" cy="1531272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44DF05-07A0-4892-8981-CB6440644483}"/>
              </a:ext>
            </a:extLst>
          </p:cNvPr>
          <p:cNvSpPr txBox="1">
            <a:spLocks/>
          </p:cNvSpPr>
          <p:nvPr/>
        </p:nvSpPr>
        <p:spPr>
          <a:xfrm>
            <a:off x="284766" y="3741893"/>
            <a:ext cx="4191731" cy="1382244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Raphael S. Nano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CPE162P / C1</a:t>
            </a:r>
          </a:p>
        </p:txBody>
      </p:sp>
    </p:spTree>
    <p:extLst>
      <p:ext uri="{BB962C8B-B14F-4D97-AF65-F5344CB8AC3E}">
        <p14:creationId xmlns:p14="http://schemas.microsoft.com/office/powerpoint/2010/main" val="18987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BE44-DEA0-C8F1-B220-4F56E533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35" y="282298"/>
            <a:ext cx="10123648" cy="512401"/>
          </a:xfrm>
        </p:spPr>
        <p:txBody>
          <a:bodyPr/>
          <a:lstStyle/>
          <a:p>
            <a:r>
              <a:rPr lang="en-US" dirty="0"/>
              <a:t>Introduction: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 Based Automated Street Lighting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9F78-2EA6-6CC1-752D-C8DA5962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In the modern generation of continuously developing technology, urban cities around the world are responding to innovative solutions in order to further the efficiency in the city structures and roads.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Example: IoT-based automatic street lighting systems</a:t>
            </a:r>
            <a:endParaRPr lang="en-PH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9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651-8300-9B1E-D82E-D9BDEDD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D49A-96B4-5E3D-262C-6DE9E8C5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3" y="1156700"/>
            <a:ext cx="11528661" cy="4556765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demonstrate how an IoT based Automated Street Lighting System works.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apply what you have learned in logic circuits and switching theory, microprocessors, CPE160P, and CPE161P.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embedded system with IoT using Arduino kit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use </a:t>
            </a:r>
            <a:r>
              <a:rPr lang="en-US" sz="2400" dirty="0" err="1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ThingSpeak</a:t>
            </a: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for the data collection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33183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Hardware</a:t>
            </a:r>
          </a:p>
          <a:p>
            <a:pPr marL="0" indent="0">
              <a:buNone/>
            </a:pPr>
            <a:endParaRPr lang="en-PH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</a:t>
            </a: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ESP8266 </a:t>
            </a:r>
            <a:r>
              <a:rPr lang="en-PH" sz="2400" dirty="0" err="1">
                <a:solidFill>
                  <a:srgbClr val="2626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Module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LEDs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Photoresistor</a:t>
            </a:r>
            <a:endParaRPr lang="en-PH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9FF89-F6DC-4C55-DCFE-F7F69C1D0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6" r="2736"/>
          <a:stretch/>
        </p:blipFill>
        <p:spPr>
          <a:xfrm>
            <a:off x="4930219" y="1503575"/>
            <a:ext cx="6410227" cy="38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Software Libraries</a:t>
            </a:r>
          </a:p>
          <a:p>
            <a:pPr marL="0" indent="0">
              <a:buNone/>
            </a:pPr>
            <a:endParaRPr lang="en-PH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ESP8266WiFi.h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</a:rPr>
              <a:t> </a:t>
            </a:r>
            <a:r>
              <a:rPr lang="en-PH" sz="2400" dirty="0" err="1">
                <a:solidFill>
                  <a:srgbClr val="262626"/>
                </a:solidFill>
                <a:latin typeface="Open Sans" panose="020B0606030504020204" pitchFamily="34" charset="0"/>
              </a:rPr>
              <a:t>ThingSpeak.h</a:t>
            </a:r>
            <a:endParaRPr lang="en-P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08B0CE-E4C5-494E-1379-CD9ED3455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38160" y="2106798"/>
            <a:ext cx="5028811" cy="151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3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 Based Automated Street Lighting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6" y="1186177"/>
            <a:ext cx="6781667" cy="5085227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Goal is to create a system, wherein it automatically switches the street light ON and OFF based on the amount of sunlight present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will be used for the collection of the data and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52D7A-7646-009D-B9B0-32504EB747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026"/>
          <a:stretch/>
        </p:blipFill>
        <p:spPr>
          <a:xfrm>
            <a:off x="8348873" y="1084309"/>
            <a:ext cx="2645802" cy="257783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930B75-B05F-E264-9EB5-758A51A892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74"/>
          <a:stretch/>
        </p:blipFill>
        <p:spPr>
          <a:xfrm>
            <a:off x="7567297" y="3728790"/>
            <a:ext cx="4208954" cy="240572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93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 Based Automated Street Lighting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065229"/>
            <a:ext cx="5226245" cy="5156462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By simply using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analogRead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digitalWrite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the LEDs are turned ON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</a:t>
            </a:r>
            <a:r>
              <a:rPr lang="en-US" sz="24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Level: 0-700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</a:t>
            </a:r>
            <a:r>
              <a:rPr lang="en-US" sz="24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nd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Level: 650-750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3</a:t>
            </a:r>
            <a:r>
              <a:rPr lang="en-US" sz="24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rd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Level: 750-850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4</a:t>
            </a:r>
            <a:r>
              <a:rPr lang="en-US" sz="24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Level: 850-900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5</a:t>
            </a:r>
            <a:r>
              <a:rPr lang="en-US" sz="24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Level: 900-1000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BC44E4-40C3-D600-899D-AABEFAA9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358" y="1212846"/>
            <a:ext cx="2190750" cy="31832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151D22-433E-DA2B-D741-ED2F89A88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491" y="2257951"/>
            <a:ext cx="2474595" cy="3181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6E1EC3-B419-161C-8CE9-B93CD0BA7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107" y="2788427"/>
            <a:ext cx="2256790" cy="318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0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 Based Automated Street Lighting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57" y="1432875"/>
            <a:ext cx="6131219" cy="4421170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connect the ESP8266 to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connection should first be established.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code tries to get connected to a particular network using Wi-Fi (fh_dbe600) and repeatedly attempts until an adequate connection is made.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It delivers information to the person using it via the Serial Monitor, indicating the status of the connection attempt.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9B2A3-63D1-77B6-C14B-46752D4BE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340" y="2178768"/>
            <a:ext cx="4920586" cy="250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6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 Based Automated Street Lighting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65045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luminosity value will be passed to the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using the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writeField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function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value was checked to see if the channel update is successful or not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26693C-A39B-DAC0-73C5-F73DC9BA0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752" y="2884602"/>
            <a:ext cx="5823811" cy="138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3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74B7-8F02-4611-3613-A0971D32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0C11-DD96-AF61-66FE-ECD8B78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 Based Automated Street Lighting System</a:t>
            </a:r>
            <a:endParaRPr lang="en-P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754DCC-A350-93AA-805B-236266DB1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35" y="1121410"/>
            <a:ext cx="6253767" cy="222000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7CC8D0-03FD-FE8C-88A4-28460A2D9C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75" y="3586899"/>
            <a:ext cx="6253200" cy="219989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858D7C-7728-8BAA-3F1E-83F6154DCA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548" y="2294174"/>
            <a:ext cx="6253200" cy="22696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433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IoT-based Automated Street Lighting System works by: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using a conditional statement 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outputs of the LEDs depend on the intensity of light being received by the photoresistor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More sunlight would mean less LEDs turned ON, and vice versa</a:t>
            </a:r>
            <a:endParaRPr lang="en-PH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second objective was achieved by: 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synchronizing the lighting up of LEDs depending on the light received by the photoresistor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synchronizing the luminosity value in </a:t>
            </a:r>
            <a:r>
              <a:rPr lang="en-US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IoT portion was successfully integrated with the use of the communication and data writing between ESP8266 and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IoT-based Automated Street Lighting System was successfully developed with its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connection and the synchronization of outputs of the photoresistor and LEDs in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PH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5B03F0E29F341B8FA8A02C69678F2" ma:contentTypeVersion="16" ma:contentTypeDescription="Create a new document." ma:contentTypeScope="" ma:versionID="573093756d776e3dbf04c8eb240bd85a">
  <xsd:schema xmlns:xsd="http://www.w3.org/2001/XMLSchema" xmlns:xs="http://www.w3.org/2001/XMLSchema" xmlns:p="http://schemas.microsoft.com/office/2006/metadata/properties" xmlns:ns2="1ea434b8-4dc5-44f7-bb31-0866ee440822" xmlns:ns3="d90711d2-37bb-4b26-8b23-51c02972fe26" targetNamespace="http://schemas.microsoft.com/office/2006/metadata/properties" ma:root="true" ma:fieldsID="00a48d9f954b4b23e62df43abd264511" ns2:_="" ns3:_="">
    <xsd:import namespace="1ea434b8-4dc5-44f7-bb31-0866ee440822"/>
    <xsd:import namespace="d90711d2-37bb-4b26-8b23-51c02972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434b8-4dc5-44f7-bb31-0866ee440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08379bb-b442-46b3-b8c0-8817e2eba0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11d2-37bb-4b26-8b23-51c02972f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5686e5-f3f9-4684-9809-4e223b1b0fd7}" ma:internalName="TaxCatchAll" ma:showField="CatchAllData" ma:web="d90711d2-37bb-4b26-8b23-51c02972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0711d2-37bb-4b26-8b23-51c02972fe26">
      <UserInfo>
        <DisplayName/>
        <AccountId xsi:nil="true"/>
        <AccountType/>
      </UserInfo>
    </SharedWithUsers>
    <lcf76f155ced4ddcb4097134ff3c332f xmlns="1ea434b8-4dc5-44f7-bb31-0866ee440822">
      <Terms xmlns="http://schemas.microsoft.com/office/infopath/2007/PartnerControls"/>
    </lcf76f155ced4ddcb4097134ff3c332f>
    <TaxCatchAll xmlns="d90711d2-37bb-4b26-8b23-51c02972fe26" xsi:nil="true"/>
  </documentManagement>
</p:properties>
</file>

<file path=customXml/itemProps1.xml><?xml version="1.0" encoding="utf-8"?>
<ds:datastoreItem xmlns:ds="http://schemas.openxmlformats.org/officeDocument/2006/customXml" ds:itemID="{DA769C6F-6ADF-412F-8F70-2DD1A151B0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7BBEC2-693C-4BAB-A217-B3E9F4642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434b8-4dc5-44f7-bb31-0866ee440822"/>
    <ds:schemaRef ds:uri="d90711d2-37bb-4b26-8b23-51c02972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FBD36D-DAE8-46CB-B778-7C1B43AD43BF}">
  <ds:schemaRefs>
    <ds:schemaRef ds:uri="http://purl.org/dc/terms/"/>
    <ds:schemaRef ds:uri="http://schemas.microsoft.com/office/2006/documentManagement/types"/>
    <ds:schemaRef ds:uri="92cb724c-d654-454f-915d-237124a8a1a9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b30f15d-6c4d-47ed-bde6-797b56236eb0"/>
    <ds:schemaRef ds:uri="http://schemas.microsoft.com/office/2006/metadata/properties"/>
    <ds:schemaRef ds:uri="d90711d2-37bb-4b26-8b23-51c02972fe26"/>
    <ds:schemaRef ds:uri="1ea434b8-4dc5-44f7-bb31-0866ee44082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4226</TotalTime>
  <Words>523</Words>
  <Application>Microsoft Office PowerPoint</Application>
  <PresentationFormat>Widescreen</PresentationFormat>
  <Paragraphs>68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Open Sans</vt:lpstr>
      <vt:lpstr>Segoe UI</vt:lpstr>
      <vt:lpstr>Wingdings</vt:lpstr>
      <vt:lpstr>2_Office Theme</vt:lpstr>
      <vt:lpstr>IoT BASED AUTOMATED STREET LIGHTING SYSTEM</vt:lpstr>
      <vt:lpstr>Introduction: IoT Based Automated Street Lighting System</vt:lpstr>
      <vt:lpstr>Objectives</vt:lpstr>
      <vt:lpstr>Materials</vt:lpstr>
      <vt:lpstr>Materials</vt:lpstr>
      <vt:lpstr>Discussion: IoT Based Automated Street Lighting System</vt:lpstr>
      <vt:lpstr>Discussion: IoT Based Automated Street Lighting System</vt:lpstr>
      <vt:lpstr>Discussion: IoT Based Automated Street Lighting System</vt:lpstr>
      <vt:lpstr>Discussion: IoT Based Automated Street Lighting System</vt:lpstr>
      <vt:lpstr>Results: IoT Based Automated Street Lighting System</vt:lpstr>
      <vt:lpstr>Conclusion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orientation will start in</dc:title>
  <dc:subject/>
  <dc:creator>Jessica Pauline L. Faigones</dc:creator>
  <cp:keywords/>
  <dc:description/>
  <cp:lastModifiedBy>Raphael Nano</cp:lastModifiedBy>
  <cp:revision>329</cp:revision>
  <dcterms:created xsi:type="dcterms:W3CDTF">2020-06-10T07:30:38Z</dcterms:created>
  <dcterms:modified xsi:type="dcterms:W3CDTF">2024-02-24T11:18:10Z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182800</vt:r8>
  </property>
  <property fmtid="{D5CDD505-2E9C-101B-9397-08002B2CF9AE}" pid="3" name="ContentTypeId">
    <vt:lpwstr>0x0101000045B03F0E29F341B8FA8A02C69678F2</vt:lpwstr>
  </property>
  <property fmtid="{D5CDD505-2E9C-101B-9397-08002B2CF9AE}" pid="4" name="ComplianceAssetId">
    <vt:lpwstr/>
  </property>
</Properties>
</file>